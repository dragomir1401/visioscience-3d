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59" r:id="rId5"/>
    <p:sldId id="263" r:id="rId6"/>
    <p:sldId id="267" r:id="rId7"/>
    <p:sldId id="268" r:id="rId8"/>
    <p:sldId id="269" r:id="rId9"/>
    <p:sldId id="270" r:id="rId10"/>
    <p:sldId id="271" r:id="rId11"/>
    <p:sldId id="272" r:id="rId12"/>
    <p:sldId id="265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3274" y="0"/>
            <a:ext cx="8430895" cy="5143500"/>
          </a:xfrm>
          <a:custGeom>
            <a:avLst/>
            <a:gdLst/>
            <a:ahLst/>
            <a:cxnLst/>
            <a:rect l="l" t="t" r="r" b="b"/>
            <a:pathLst>
              <a:path w="8430895" h="5143500">
                <a:moveTo>
                  <a:pt x="0" y="5143499"/>
                </a:moveTo>
                <a:lnTo>
                  <a:pt x="8430724" y="5143499"/>
                </a:lnTo>
                <a:lnTo>
                  <a:pt x="8430724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F3EE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713740" cy="5143500"/>
          </a:xfrm>
          <a:custGeom>
            <a:avLst/>
            <a:gdLst/>
            <a:ahLst/>
            <a:cxnLst/>
            <a:rect l="l" t="t" r="r" b="b"/>
            <a:pathLst>
              <a:path w="713740" h="5143500">
                <a:moveTo>
                  <a:pt x="713274" y="0"/>
                </a:moveTo>
                <a:lnTo>
                  <a:pt x="713274" y="5143499"/>
                </a:lnTo>
                <a:lnTo>
                  <a:pt x="0" y="5143499"/>
                </a:lnTo>
                <a:lnTo>
                  <a:pt x="0" y="0"/>
                </a:lnTo>
                <a:lnTo>
                  <a:pt x="713274" y="0"/>
                </a:lnTo>
                <a:close/>
              </a:path>
            </a:pathLst>
          </a:custGeom>
          <a:solidFill>
            <a:srgbClr val="EA5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38594"/>
                </a:moveTo>
                <a:lnTo>
                  <a:pt x="717981" y="538594"/>
                </a:lnTo>
                <a:lnTo>
                  <a:pt x="717981" y="0"/>
                </a:lnTo>
                <a:lnTo>
                  <a:pt x="708456" y="0"/>
                </a:lnTo>
                <a:lnTo>
                  <a:pt x="708456" y="538594"/>
                </a:lnTo>
                <a:lnTo>
                  <a:pt x="0" y="538594"/>
                </a:lnTo>
                <a:lnTo>
                  <a:pt x="0" y="548119"/>
                </a:lnTo>
                <a:lnTo>
                  <a:pt x="708456" y="548119"/>
                </a:lnTo>
                <a:lnTo>
                  <a:pt x="708456" y="4599241"/>
                </a:lnTo>
                <a:lnTo>
                  <a:pt x="0" y="4599241"/>
                </a:lnTo>
                <a:lnTo>
                  <a:pt x="0" y="4608766"/>
                </a:lnTo>
                <a:lnTo>
                  <a:pt x="708456" y="4608766"/>
                </a:lnTo>
                <a:lnTo>
                  <a:pt x="708456" y="5143500"/>
                </a:lnTo>
                <a:lnTo>
                  <a:pt x="717981" y="5143500"/>
                </a:lnTo>
                <a:lnTo>
                  <a:pt x="717981" y="4608766"/>
                </a:lnTo>
                <a:lnTo>
                  <a:pt x="9144000" y="4608766"/>
                </a:lnTo>
                <a:lnTo>
                  <a:pt x="9144000" y="4599241"/>
                </a:lnTo>
                <a:lnTo>
                  <a:pt x="717981" y="4599241"/>
                </a:lnTo>
                <a:lnTo>
                  <a:pt x="717981" y="548119"/>
                </a:lnTo>
                <a:lnTo>
                  <a:pt x="9144000" y="548119"/>
                </a:lnTo>
                <a:lnTo>
                  <a:pt x="9144000" y="538594"/>
                </a:lnTo>
                <a:close/>
              </a:path>
            </a:pathLst>
          </a:custGeom>
          <a:solidFill>
            <a:srgbClr val="0606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47224" y="141312"/>
            <a:ext cx="494665" cy="242570"/>
          </a:xfrm>
          <a:custGeom>
            <a:avLst/>
            <a:gdLst/>
            <a:ahLst/>
            <a:cxnLst/>
            <a:rect l="l" t="t" r="r" b="b"/>
            <a:pathLst>
              <a:path w="494665" h="242570">
                <a:moveTo>
                  <a:pt x="0" y="0"/>
                </a:moveTo>
                <a:lnTo>
                  <a:pt x="494399" y="0"/>
                </a:lnTo>
              </a:path>
              <a:path w="494665" h="242570">
                <a:moveTo>
                  <a:pt x="0" y="78624"/>
                </a:moveTo>
                <a:lnTo>
                  <a:pt x="494399" y="78624"/>
                </a:lnTo>
              </a:path>
              <a:path w="494665" h="242570">
                <a:moveTo>
                  <a:pt x="0" y="159624"/>
                </a:moveTo>
                <a:lnTo>
                  <a:pt x="494399" y="159624"/>
                </a:lnTo>
              </a:path>
              <a:path w="494665" h="242570">
                <a:moveTo>
                  <a:pt x="0" y="242299"/>
                </a:moveTo>
                <a:lnTo>
                  <a:pt x="494399" y="242299"/>
                </a:lnTo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91734" y="114428"/>
            <a:ext cx="310515" cy="296545"/>
          </a:xfrm>
          <a:custGeom>
            <a:avLst/>
            <a:gdLst/>
            <a:ahLst/>
            <a:cxnLst/>
            <a:rect l="l" t="t" r="r" b="b"/>
            <a:pathLst>
              <a:path w="310515" h="296545">
                <a:moveTo>
                  <a:pt x="230712" y="296075"/>
                </a:moveTo>
                <a:lnTo>
                  <a:pt x="155074" y="191091"/>
                </a:lnTo>
                <a:lnTo>
                  <a:pt x="78438" y="296009"/>
                </a:lnTo>
                <a:lnTo>
                  <a:pt x="46288" y="272331"/>
                </a:lnTo>
                <a:lnTo>
                  <a:pt x="122858" y="167347"/>
                </a:lnTo>
                <a:lnTo>
                  <a:pt x="0" y="127660"/>
                </a:lnTo>
                <a:lnTo>
                  <a:pt x="12339" y="89843"/>
                </a:lnTo>
                <a:lnTo>
                  <a:pt x="135197" y="129526"/>
                </a:lnTo>
                <a:lnTo>
                  <a:pt x="135197" y="0"/>
                </a:lnTo>
                <a:lnTo>
                  <a:pt x="174884" y="0"/>
                </a:lnTo>
                <a:lnTo>
                  <a:pt x="174884" y="129593"/>
                </a:lnTo>
                <a:lnTo>
                  <a:pt x="297809" y="89909"/>
                </a:lnTo>
                <a:lnTo>
                  <a:pt x="310148" y="127727"/>
                </a:lnTo>
                <a:lnTo>
                  <a:pt x="187223" y="167413"/>
                </a:lnTo>
                <a:lnTo>
                  <a:pt x="262858" y="272397"/>
                </a:lnTo>
                <a:lnTo>
                  <a:pt x="230712" y="296075"/>
                </a:lnTo>
                <a:close/>
              </a:path>
            </a:pathLst>
          </a:custGeom>
          <a:solidFill>
            <a:srgbClr val="0606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21763" y="2109216"/>
            <a:ext cx="2503804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606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0800" y="3280762"/>
            <a:ext cx="4507230" cy="577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 u="sng">
                <a:solidFill>
                  <a:srgbClr val="06060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606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 u="sng">
                <a:solidFill>
                  <a:srgbClr val="06060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606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6325" y="1211172"/>
            <a:ext cx="3640454" cy="350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606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1975" y="1334997"/>
            <a:ext cx="3590290" cy="308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606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EE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606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EE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38587"/>
            <a:ext cx="9144000" cy="9525"/>
          </a:xfrm>
          <a:custGeom>
            <a:avLst/>
            <a:gdLst/>
            <a:ahLst/>
            <a:cxnLst/>
            <a:rect l="l" t="t" r="r" b="b"/>
            <a:pathLst>
              <a:path w="9144000" h="9525">
                <a:moveTo>
                  <a:pt x="0" y="952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0606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49398" y="0"/>
            <a:ext cx="694690" cy="544830"/>
          </a:xfrm>
          <a:custGeom>
            <a:avLst/>
            <a:gdLst/>
            <a:ahLst/>
            <a:cxnLst/>
            <a:rect l="l" t="t" r="r" b="b"/>
            <a:pathLst>
              <a:path w="694690" h="544830">
                <a:moveTo>
                  <a:pt x="694601" y="544224"/>
                </a:moveTo>
                <a:lnTo>
                  <a:pt x="0" y="544224"/>
                </a:lnTo>
                <a:lnTo>
                  <a:pt x="0" y="0"/>
                </a:lnTo>
                <a:lnTo>
                  <a:pt x="694601" y="0"/>
                </a:lnTo>
                <a:lnTo>
                  <a:pt x="694601" y="544224"/>
                </a:lnTo>
                <a:close/>
              </a:path>
            </a:pathLst>
          </a:custGeom>
          <a:solidFill>
            <a:srgbClr val="EA5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449398" y="0"/>
            <a:ext cx="694690" cy="544830"/>
          </a:xfrm>
          <a:custGeom>
            <a:avLst/>
            <a:gdLst/>
            <a:ahLst/>
            <a:cxnLst/>
            <a:rect l="l" t="t" r="r" b="b"/>
            <a:pathLst>
              <a:path w="694690" h="544830">
                <a:moveTo>
                  <a:pt x="694601" y="544224"/>
                </a:moveTo>
                <a:lnTo>
                  <a:pt x="0" y="544224"/>
                </a:lnTo>
                <a:lnTo>
                  <a:pt x="0" y="0"/>
                </a:lnTo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970" y="566580"/>
            <a:ext cx="4520058" cy="538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606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20505" y="1258076"/>
            <a:ext cx="5336540" cy="288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 u="sng">
                <a:solidFill>
                  <a:srgbClr val="06060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vatamate.com/" TargetMode="External"/><Relationship Id="rId7" Type="http://schemas.openxmlformats.org/officeDocument/2006/relationships/image" Target="../media/image7.jpeg"/><Relationship Id="rId2" Type="http://schemas.openxmlformats.org/officeDocument/2006/relationships/hyperlink" Target="https://phet.colorado.edu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209800" y="1859618"/>
            <a:ext cx="47244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300" spc="-185" dirty="0" err="1">
                <a:latin typeface="Arial Black" panose="020B0A04020102020204" pitchFamily="34" charset="0"/>
              </a:rPr>
              <a:t>VisioScience</a:t>
            </a:r>
            <a:r>
              <a:rPr lang="en-US" sz="2300" spc="-185" dirty="0">
                <a:latin typeface="Arial Black" panose="020B0A04020102020204" pitchFamily="34" charset="0"/>
              </a:rPr>
              <a:t> 3D - </a:t>
            </a:r>
            <a:r>
              <a:rPr lang="en-US" sz="2300" spc="-185" dirty="0" err="1">
                <a:latin typeface="Arial Black" panose="020B0A04020102020204" pitchFamily="34" charset="0"/>
              </a:rPr>
              <a:t>Platformă</a:t>
            </a:r>
            <a:r>
              <a:rPr lang="en-US" sz="2300" spc="-185" dirty="0">
                <a:latin typeface="Arial Black" panose="020B0A04020102020204" pitchFamily="34" charset="0"/>
              </a:rPr>
              <a:t> Web </a:t>
            </a:r>
            <a:r>
              <a:rPr lang="en-US" sz="2300" spc="-185" dirty="0" err="1">
                <a:latin typeface="Arial Black" panose="020B0A04020102020204" pitchFamily="34" charset="0"/>
              </a:rPr>
              <a:t>pentru</a:t>
            </a:r>
            <a:r>
              <a:rPr lang="en-US" sz="2300" spc="-185" dirty="0">
                <a:latin typeface="Arial Black" panose="020B0A04020102020204" pitchFamily="34" charset="0"/>
              </a:rPr>
              <a:t> </a:t>
            </a:r>
            <a:r>
              <a:rPr lang="en-US" sz="2300" spc="-185" dirty="0" err="1">
                <a:latin typeface="Arial Black" panose="020B0A04020102020204" pitchFamily="34" charset="0"/>
              </a:rPr>
              <a:t>Învățare</a:t>
            </a:r>
            <a:r>
              <a:rPr lang="en-US" sz="2300" spc="-185" dirty="0">
                <a:latin typeface="Arial Black" panose="020B0A04020102020204" pitchFamily="34" charset="0"/>
              </a:rPr>
              <a:t> </a:t>
            </a:r>
            <a:r>
              <a:rPr lang="en-US" sz="2300" spc="-185" dirty="0" err="1">
                <a:latin typeface="Arial Black" panose="020B0A04020102020204" pitchFamily="34" charset="0"/>
              </a:rPr>
              <a:t>prin</a:t>
            </a:r>
            <a:r>
              <a:rPr lang="en-US" sz="2300" spc="-185" dirty="0">
                <a:latin typeface="Arial Black" panose="020B0A04020102020204" pitchFamily="34" charset="0"/>
              </a:rPr>
              <a:t> </a:t>
            </a:r>
            <a:r>
              <a:rPr lang="en-US" sz="2300" spc="-185" dirty="0" err="1">
                <a:latin typeface="Arial Black" panose="020B0A04020102020204" pitchFamily="34" charset="0"/>
              </a:rPr>
              <a:t>Vizualizări</a:t>
            </a:r>
            <a:r>
              <a:rPr lang="en-US" sz="2300" spc="-185" dirty="0">
                <a:latin typeface="Arial Black" panose="020B0A04020102020204" pitchFamily="34" charset="0"/>
              </a:rPr>
              <a:t> 3D</a:t>
            </a:r>
            <a:br>
              <a:rPr lang="en-US" sz="2300" spc="-185" dirty="0">
                <a:latin typeface="Arial Black" panose="020B0A04020102020204" pitchFamily="34" charset="0"/>
              </a:rPr>
            </a:br>
            <a:endParaRPr sz="2000" dirty="0">
              <a:latin typeface="Arial Black" panose="020B0A04020102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290800" y="3280762"/>
            <a:ext cx="4507230" cy="492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400" b="1" u="none" dirty="0">
                <a:latin typeface="Arial" panose="020B0604020202020204" pitchFamily="34" charset="0"/>
                <a:cs typeface="Arial" panose="020B0604020202020204" pitchFamily="34" charset="0"/>
              </a:rPr>
              <a:t>Student:</a:t>
            </a:r>
            <a:r>
              <a:rPr sz="1400" b="1" u="none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u="none" dirty="0"/>
              <a:t>Dragomir Andrei-Mihai</a:t>
            </a:r>
          </a:p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lang="ro-RO" sz="1400" b="1" u="none" dirty="0">
                <a:latin typeface="Arial" panose="020B0604020202020204" pitchFamily="34" charset="0"/>
                <a:cs typeface="Arial" panose="020B0604020202020204" pitchFamily="34" charset="0"/>
              </a:rPr>
              <a:t>Coordonator</a:t>
            </a:r>
            <a:r>
              <a:rPr sz="1400" b="1" u="none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1400" b="1" u="none" spc="105" dirty="0">
                <a:latin typeface="Arial" panose="020B0604020202020204" pitchFamily="34" charset="0"/>
                <a:cs typeface="Arial" panose="020B0604020202020204" pitchFamily="34" charset="0"/>
              </a:rPr>
              <a:t>științific</a:t>
            </a:r>
            <a:r>
              <a:rPr sz="1400" b="1" u="none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400" b="1" u="none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u="none" spc="-1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Prof.  </a:t>
            </a:r>
            <a:r>
              <a:rPr lang="en-US" sz="1200" u="none" spc="-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Dr.</a:t>
            </a:r>
            <a:r>
              <a:rPr lang="en-US" sz="1200" u="none" spc="1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u="none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Ing Anca</a:t>
            </a:r>
            <a:r>
              <a:rPr lang="ro-RO" sz="1200" u="none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-Andreea</a:t>
            </a:r>
            <a:r>
              <a:rPr lang="en-US" sz="1200" u="none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Morar</a:t>
            </a:r>
            <a:endParaRPr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09913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36978" y="4754382"/>
            <a:ext cx="130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 dirty="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8030" y="630643"/>
            <a:ext cx="2174349" cy="964750"/>
          </a:xfrm>
          <a:prstGeom prst="rect">
            <a:avLst/>
          </a:prstGeom>
        </p:spPr>
      </p:pic>
      <p:pic>
        <p:nvPicPr>
          <p:cNvPr id="12" name="Picture 11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15085DD7-3D0C-1FB5-A75A-DF34C762A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556509"/>
            <a:ext cx="1107701" cy="11130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941F-D64C-10B0-7BFF-4A4057D4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087F4B-EBFA-3A17-B49B-E82555D711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0" y="514350"/>
            <a:ext cx="4520058" cy="456464"/>
          </a:xfrm>
          <a:prstGeom prst="rect">
            <a:avLst/>
          </a:prstGeom>
        </p:spPr>
        <p:txBody>
          <a:bodyPr vert="horz" wrap="square" lIns="0" tIns="71049" rIns="0" bIns="0" rtlCol="0">
            <a:spAutoFit/>
          </a:bodyPr>
          <a:lstStyle/>
          <a:p>
            <a:pPr marL="1288415">
              <a:lnSpc>
                <a:spcPct val="100000"/>
              </a:lnSpc>
              <a:spcBef>
                <a:spcPts val="100"/>
              </a:spcBef>
            </a:pPr>
            <a:r>
              <a:rPr lang="en-US" spc="-130" dirty="0"/>
              <a:t>Purpose</a:t>
            </a:r>
            <a:endParaRPr spc="-13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F052E7-B481-8651-C7FC-9BC639AE503A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ACCC59E-984B-A43B-9E13-60B8B38804CF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4ABAC2-A7F1-6C11-CA8B-BE48E3E888D6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EADDD00-BC5F-3FC6-873E-901DCCD5827F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A2032B-5587-837F-3897-4870C674F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87" y="1581150"/>
            <a:ext cx="1574483" cy="220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A1C5CA-37BA-6D58-2BF5-A7B4BD44A9F3}"/>
              </a:ext>
            </a:extLst>
          </p:cNvPr>
          <p:cNvSpPr txBox="1"/>
          <p:nvPr/>
        </p:nvSpPr>
        <p:spPr>
          <a:xfrm>
            <a:off x="3048000" y="1809750"/>
            <a:ext cx="510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Motivația</a:t>
            </a:r>
            <a:r>
              <a:rPr lang="en-US" sz="1200" dirty="0"/>
              <a:t> </a:t>
            </a:r>
            <a:r>
              <a:rPr lang="en-US" sz="1200" dirty="0" err="1"/>
              <a:t>proiectului</a:t>
            </a:r>
            <a:r>
              <a:rPr lang="en-US" sz="1200" dirty="0"/>
              <a:t> VisioScience3D </a:t>
            </a:r>
            <a:r>
              <a:rPr lang="en-US" sz="1200" dirty="0" err="1"/>
              <a:t>constă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nevoia</a:t>
            </a:r>
            <a:r>
              <a:rPr lang="en-US" sz="1200" dirty="0"/>
              <a:t> de a </a:t>
            </a:r>
            <a:r>
              <a:rPr lang="en-US" sz="1200" dirty="0" err="1"/>
              <a:t>transforma</a:t>
            </a:r>
            <a:r>
              <a:rPr lang="en-US" sz="1200" dirty="0"/>
              <a:t> </a:t>
            </a:r>
            <a:r>
              <a:rPr lang="en-US" sz="1200" dirty="0" err="1"/>
              <a:t>predarea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învățarea</a:t>
            </a:r>
            <a:r>
              <a:rPr lang="en-US" sz="1200" dirty="0"/>
              <a:t> </a:t>
            </a:r>
            <a:r>
              <a:rPr lang="en-US" sz="1200" dirty="0" err="1"/>
              <a:t>științelor</a:t>
            </a:r>
            <a:r>
              <a:rPr lang="en-US" sz="1200" dirty="0"/>
              <a:t> </a:t>
            </a:r>
            <a:r>
              <a:rPr lang="en-US" sz="1200" dirty="0" err="1"/>
              <a:t>exacte</a:t>
            </a:r>
            <a:r>
              <a:rPr lang="en-US" sz="1200" dirty="0"/>
              <a:t> </a:t>
            </a:r>
            <a:r>
              <a:rPr lang="en-US" sz="1200" dirty="0" err="1"/>
              <a:t>într</a:t>
            </a:r>
            <a:r>
              <a:rPr lang="en-US" sz="1200" dirty="0"/>
              <a:t>-o </a:t>
            </a:r>
            <a:r>
              <a:rPr lang="en-US" sz="1200" dirty="0" err="1"/>
              <a:t>experiență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captivantă</a:t>
            </a:r>
            <a:r>
              <a:rPr lang="en-US" sz="1200" dirty="0"/>
              <a:t>, </a:t>
            </a:r>
            <a:r>
              <a:rPr lang="en-US" sz="1200" dirty="0" err="1"/>
              <a:t>interactivă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accesibilă</a:t>
            </a:r>
            <a:r>
              <a:rPr lang="en-US" sz="1200" dirty="0"/>
              <a:t>.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locul</a:t>
            </a:r>
            <a:r>
              <a:rPr lang="en-US" sz="1200" dirty="0"/>
              <a:t> </a:t>
            </a:r>
            <a:r>
              <a:rPr lang="en-US" sz="1200" dirty="0" err="1"/>
              <a:t>materialelor</a:t>
            </a:r>
            <a:r>
              <a:rPr lang="en-US" sz="1200" dirty="0"/>
              <a:t> statice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abstracte</a:t>
            </a:r>
            <a:r>
              <a:rPr lang="en-US" sz="1200" dirty="0"/>
              <a:t>, </a:t>
            </a:r>
            <a:r>
              <a:rPr lang="en-US" sz="1200" dirty="0" err="1"/>
              <a:t>platforma</a:t>
            </a:r>
            <a:r>
              <a:rPr lang="en-US" sz="1200" dirty="0"/>
              <a:t> </a:t>
            </a:r>
            <a:r>
              <a:rPr lang="en-US" sz="1200" dirty="0" err="1"/>
              <a:t>oferă</a:t>
            </a:r>
            <a:r>
              <a:rPr lang="en-US" sz="1200" dirty="0"/>
              <a:t> </a:t>
            </a:r>
            <a:r>
              <a:rPr lang="en-US" sz="1200" dirty="0" err="1"/>
              <a:t>simulări</a:t>
            </a:r>
            <a:r>
              <a:rPr lang="en-US" sz="1200" dirty="0"/>
              <a:t> </a:t>
            </a:r>
            <a:r>
              <a:rPr lang="en-US" sz="1200" dirty="0" err="1"/>
              <a:t>dinamice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vizualizări</a:t>
            </a:r>
            <a:r>
              <a:rPr lang="en-US" sz="1200" dirty="0"/>
              <a:t> 3D care </a:t>
            </a:r>
            <a:r>
              <a:rPr lang="en-US" sz="1200" dirty="0" err="1"/>
              <a:t>facilitează</a:t>
            </a:r>
            <a:r>
              <a:rPr lang="en-US" sz="1200" dirty="0"/>
              <a:t> </a:t>
            </a:r>
            <a:r>
              <a:rPr lang="en-US" sz="1200" dirty="0" err="1"/>
              <a:t>înțelegerea</a:t>
            </a:r>
            <a:r>
              <a:rPr lang="en-US" sz="1200" dirty="0"/>
              <a:t> </a:t>
            </a:r>
            <a:r>
              <a:rPr lang="en-US" sz="1200" dirty="0" err="1"/>
              <a:t>conceptelor</a:t>
            </a:r>
            <a:r>
              <a:rPr lang="en-US" sz="1200" dirty="0"/>
              <a:t> </a:t>
            </a:r>
            <a:r>
              <a:rPr lang="en-US" sz="1200" dirty="0" err="1"/>
              <a:t>complexe</a:t>
            </a:r>
            <a:r>
              <a:rPr lang="en-US" sz="1200" dirty="0"/>
              <a:t> de </a:t>
            </a:r>
            <a:r>
              <a:rPr lang="en-US" sz="1200" dirty="0" err="1"/>
              <a:t>geometrie</a:t>
            </a:r>
            <a:r>
              <a:rPr lang="en-US" sz="1200" dirty="0"/>
              <a:t>, </a:t>
            </a:r>
            <a:r>
              <a:rPr lang="en-US" sz="1200" dirty="0" err="1"/>
              <a:t>fizică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chimie</a:t>
            </a:r>
            <a:r>
              <a:rPr lang="en-US" sz="1200" dirty="0"/>
              <a:t>. </a:t>
            </a:r>
            <a:r>
              <a:rPr lang="en-US" sz="1200" dirty="0" err="1"/>
              <a:t>Printr</a:t>
            </a:r>
            <a:r>
              <a:rPr lang="en-US" sz="1200" dirty="0"/>
              <a:t>-un </a:t>
            </a:r>
            <a:r>
              <a:rPr lang="en-US" sz="1200" dirty="0" err="1"/>
              <a:t>mediu</a:t>
            </a:r>
            <a:r>
              <a:rPr lang="en-US" sz="1200" dirty="0"/>
              <a:t> web </a:t>
            </a:r>
            <a:r>
              <a:rPr lang="en-US" sz="1200" dirty="0" err="1"/>
              <a:t>ușor</a:t>
            </a:r>
            <a:r>
              <a:rPr lang="en-US" sz="1200" dirty="0"/>
              <a:t> de </a:t>
            </a:r>
            <a:r>
              <a:rPr lang="en-US" sz="1200" dirty="0" err="1"/>
              <a:t>utilizat</a:t>
            </a:r>
            <a:r>
              <a:rPr lang="en-US" sz="1200" dirty="0"/>
              <a:t>, </a:t>
            </a:r>
            <a:r>
              <a:rPr lang="en-US" sz="1200" dirty="0" err="1"/>
              <a:t>compatibil</a:t>
            </a:r>
            <a:r>
              <a:rPr lang="en-US" sz="1200" dirty="0"/>
              <a:t> cu </a:t>
            </a:r>
            <a:r>
              <a:rPr lang="en-US" sz="1200" dirty="0" err="1"/>
              <a:t>orice</a:t>
            </a:r>
            <a:r>
              <a:rPr lang="en-US" sz="1200" dirty="0"/>
              <a:t> browser modern, </a:t>
            </a:r>
            <a:r>
              <a:rPr lang="en-US" sz="1200" dirty="0" err="1"/>
              <a:t>elevii</a:t>
            </a:r>
            <a:r>
              <a:rPr lang="en-US" sz="1200" dirty="0"/>
              <a:t> pot </a:t>
            </a:r>
            <a:r>
              <a:rPr lang="en-US" sz="1200" dirty="0" err="1"/>
              <a:t>explora</a:t>
            </a:r>
            <a:r>
              <a:rPr lang="en-US" sz="1200" dirty="0"/>
              <a:t> liber </a:t>
            </a:r>
            <a:r>
              <a:rPr lang="en-US" sz="1200" dirty="0" err="1"/>
              <a:t>conceptele</a:t>
            </a:r>
            <a:r>
              <a:rPr lang="en-US" sz="1200" dirty="0"/>
              <a:t> </a:t>
            </a:r>
            <a:r>
              <a:rPr lang="en-US" sz="1200" dirty="0" err="1"/>
              <a:t>științifice</a:t>
            </a:r>
            <a:r>
              <a:rPr lang="en-US" sz="1200" dirty="0"/>
              <a:t>, </a:t>
            </a:r>
            <a:r>
              <a:rPr lang="en-US" sz="1200" dirty="0" err="1"/>
              <a:t>iar</a:t>
            </a:r>
            <a:r>
              <a:rPr lang="en-US" sz="1200" dirty="0"/>
              <a:t> </a:t>
            </a:r>
            <a:r>
              <a:rPr lang="en-US" sz="1200" dirty="0" err="1"/>
              <a:t>profesorii</a:t>
            </a:r>
            <a:r>
              <a:rPr lang="en-US" sz="1200" dirty="0"/>
              <a:t> </a:t>
            </a:r>
            <a:r>
              <a:rPr lang="en-US" sz="1200" dirty="0" err="1"/>
              <a:t>beneficiază</a:t>
            </a:r>
            <a:r>
              <a:rPr lang="en-US" sz="1200" dirty="0"/>
              <a:t> de </a:t>
            </a:r>
            <a:r>
              <a:rPr lang="en-US" sz="1200" dirty="0" err="1"/>
              <a:t>instrumente</a:t>
            </a:r>
            <a:r>
              <a:rPr lang="en-US" sz="1200" dirty="0"/>
              <a:t> </a:t>
            </a:r>
            <a:r>
              <a:rPr lang="en-US" sz="1200" dirty="0" err="1"/>
              <a:t>rapide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</a:t>
            </a:r>
            <a:r>
              <a:rPr lang="en-US" sz="1200" dirty="0" err="1"/>
              <a:t>creare</a:t>
            </a:r>
            <a:r>
              <a:rPr lang="en-US" sz="1200" dirty="0"/>
              <a:t> de quiz-</a:t>
            </a:r>
            <a:r>
              <a:rPr lang="en-US" sz="1200" dirty="0" err="1"/>
              <a:t>uri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monitorizarea</a:t>
            </a:r>
            <a:r>
              <a:rPr lang="en-US" sz="1200" dirty="0"/>
              <a:t> </a:t>
            </a:r>
            <a:r>
              <a:rPr lang="en-US" sz="1200" dirty="0" err="1"/>
              <a:t>progresului</a:t>
            </a:r>
            <a:r>
              <a:rPr lang="en-US" sz="1200" dirty="0"/>
              <a:t>. </a:t>
            </a:r>
            <a:r>
              <a:rPr lang="en-US" sz="1200" dirty="0" err="1"/>
              <a:t>Astfel</a:t>
            </a:r>
            <a:r>
              <a:rPr lang="en-US" sz="1200" dirty="0"/>
              <a:t>, VisioScience3D </a:t>
            </a:r>
            <a:r>
              <a:rPr lang="en-US" sz="1200" dirty="0" err="1"/>
              <a:t>sprijină</a:t>
            </a:r>
            <a:r>
              <a:rPr lang="en-US" sz="1200" dirty="0"/>
              <a:t> un </a:t>
            </a:r>
            <a:r>
              <a:rPr lang="en-US" sz="1200" dirty="0" err="1"/>
              <a:t>proces</a:t>
            </a:r>
            <a:r>
              <a:rPr lang="en-US" sz="1200" dirty="0"/>
              <a:t> </a:t>
            </a:r>
            <a:r>
              <a:rPr lang="en-US" sz="1200" dirty="0" err="1"/>
              <a:t>educațional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eficient</a:t>
            </a:r>
            <a:r>
              <a:rPr lang="en-US" sz="1200" dirty="0"/>
              <a:t>, </a:t>
            </a:r>
            <a:r>
              <a:rPr lang="en-US" sz="1200" dirty="0" err="1"/>
              <a:t>adaptat</a:t>
            </a:r>
            <a:r>
              <a:rPr lang="en-US" sz="1200" dirty="0"/>
              <a:t> </a:t>
            </a:r>
            <a:r>
              <a:rPr lang="en-US" sz="1200" dirty="0" err="1"/>
              <a:t>nevoilor</a:t>
            </a:r>
            <a:r>
              <a:rPr lang="en-US" sz="1200" dirty="0"/>
              <a:t> </a:t>
            </a:r>
            <a:r>
              <a:rPr lang="en-US" sz="1200" dirty="0" err="1"/>
              <a:t>generației</a:t>
            </a:r>
            <a:r>
              <a:rPr lang="en-US" sz="1200" dirty="0"/>
              <a:t> </a:t>
            </a:r>
            <a:r>
              <a:rPr lang="en-US" sz="1200" dirty="0" err="1"/>
              <a:t>digitale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11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8574" y="566580"/>
            <a:ext cx="6041826" cy="456464"/>
          </a:xfrm>
          <a:prstGeom prst="rect">
            <a:avLst/>
          </a:prstGeom>
        </p:spPr>
        <p:txBody>
          <a:bodyPr vert="horz" wrap="square" lIns="0" tIns="71049" rIns="0" bIns="0" rtlCol="0">
            <a:spAutoFit/>
          </a:bodyPr>
          <a:lstStyle/>
          <a:p>
            <a:pPr marL="1008380" algn="ctr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Market</a:t>
            </a:r>
            <a:r>
              <a:rPr spc="-300" dirty="0"/>
              <a:t> </a:t>
            </a:r>
            <a:r>
              <a:rPr spc="-165" dirty="0"/>
              <a:t>research</a:t>
            </a:r>
            <a:r>
              <a:rPr lang="en-US" spc="-165" dirty="0"/>
              <a:t> and </a:t>
            </a:r>
            <a:r>
              <a:rPr lang="en-US" spc="-165" dirty="0" err="1"/>
              <a:t>SoA</a:t>
            </a:r>
            <a:endParaRPr spc="-165" dirty="0"/>
          </a:p>
        </p:txBody>
      </p:sp>
      <p:sp>
        <p:nvSpPr>
          <p:cNvPr id="3" name="object 3"/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8574" y="1545714"/>
            <a:ext cx="3755826" cy="2808461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060609"/>
                </a:solidFill>
                <a:latin typeface="Arial"/>
                <a:cs typeface="Arial"/>
                <a:hlinkClick r:id="rId2"/>
              </a:rPr>
              <a:t>phet.colorado.edu</a:t>
            </a:r>
            <a:endParaRPr lang="en-US" sz="1400" b="1" dirty="0">
              <a:solidFill>
                <a:srgbClr val="060609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ro-RO" sz="1200" spc="-10" dirty="0">
                <a:solidFill>
                  <a:srgbClr val="060609"/>
                </a:solidFill>
                <a:latin typeface="Microsoft Sans Serif"/>
                <a:cs typeface="Microsoft Sans Serif"/>
              </a:rPr>
              <a:t>Limitări</a:t>
            </a:r>
            <a:r>
              <a:rPr sz="1200" spc="-10" dirty="0">
                <a:solidFill>
                  <a:srgbClr val="060609"/>
                </a:solidFill>
                <a:latin typeface="Microsoft Sans Serif"/>
                <a:cs typeface="Microsoft Sans Serif"/>
              </a:rPr>
              <a:t>:</a:t>
            </a:r>
            <a:endParaRPr sz="1200" dirty="0">
              <a:latin typeface="Microsoft Sans Serif"/>
              <a:cs typeface="Microsoft Sans Serif"/>
            </a:endParaRPr>
          </a:p>
          <a:p>
            <a:pPr marL="469265" indent="-320040">
              <a:lnSpc>
                <a:spcPct val="100000"/>
              </a:lnSpc>
              <a:spcBef>
                <a:spcPts val="219"/>
              </a:spcBef>
              <a:buChar char="●"/>
              <a:tabLst>
                <a:tab pos="469265" algn="l"/>
              </a:tabLst>
            </a:pP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Nu are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suport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pentru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evaluare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ro-RO" sz="1200" dirty="0">
              <a:solidFill>
                <a:srgbClr val="060609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69265" indent="-320040">
              <a:lnSpc>
                <a:spcPct val="100000"/>
              </a:lnSpc>
              <a:spcBef>
                <a:spcPts val="219"/>
              </a:spcBef>
              <a:buChar char="●"/>
              <a:tabLst>
                <a:tab pos="469265" algn="l"/>
              </a:tabLst>
            </a:pP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Oferă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elemente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vizuale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limitate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ro-RO" sz="1200" dirty="0">
              <a:solidFill>
                <a:srgbClr val="060609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69265" indent="-320040">
              <a:lnSpc>
                <a:spcPct val="100000"/>
              </a:lnSpc>
              <a:spcBef>
                <a:spcPts val="219"/>
              </a:spcBef>
              <a:buChar char="●"/>
              <a:tabLst>
                <a:tab pos="469265" algn="l"/>
              </a:tabLst>
            </a:pPr>
            <a:r>
              <a:rPr lang="ro-RO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Doar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modele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bază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și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nu are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suport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pentru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informatică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sau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astronomie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sz="1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060609"/>
              </a:buClr>
              <a:buFont typeface="Microsoft Sans Serif"/>
              <a:buChar char="●"/>
            </a:pPr>
            <a:endParaRPr sz="12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lang="en-US" sz="1400" b="1" spc="-10" dirty="0">
                <a:solidFill>
                  <a:srgbClr val="060609"/>
                </a:solidFill>
                <a:latin typeface="Arial"/>
                <a:cs typeface="Arial"/>
                <a:hlinkClick r:id="rId3"/>
              </a:rPr>
              <a:t>invatamate.com</a:t>
            </a:r>
            <a:endParaRPr lang="en-US" sz="1400" b="1" spc="-10" dirty="0">
              <a:solidFill>
                <a:srgbClr val="060609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ro-RO" sz="1200" spc="-10" dirty="0">
                <a:solidFill>
                  <a:srgbClr val="060609"/>
                </a:solidFill>
                <a:latin typeface="Microsoft Sans Serif"/>
                <a:cs typeface="Microsoft Sans Serif"/>
              </a:rPr>
              <a:t>Limitări </a:t>
            </a:r>
            <a:r>
              <a:rPr sz="1200" spc="-10" dirty="0">
                <a:solidFill>
                  <a:srgbClr val="060609"/>
                </a:solidFill>
                <a:latin typeface="Microsoft Sans Serif"/>
                <a:cs typeface="Microsoft Sans Serif"/>
              </a:rPr>
              <a:t>:</a:t>
            </a:r>
            <a:endParaRPr sz="1200" dirty="0">
              <a:latin typeface="Microsoft Sans Serif"/>
              <a:cs typeface="Microsoft Sans Serif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Char char="●"/>
              <a:tabLst>
                <a:tab pos="469265" algn="l"/>
              </a:tabLst>
            </a:pP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Experiență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suboptimă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ro-RO" sz="1200" dirty="0">
              <a:solidFill>
                <a:srgbClr val="060609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Char char="●"/>
              <a:tabLst>
                <a:tab pos="469265" algn="l"/>
              </a:tabLst>
            </a:pPr>
            <a:r>
              <a:rPr lang="it-IT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Elemente vizuale limitate și concentrare pe materiale și chestionare externe integrate în Kahoot.</a:t>
            </a:r>
            <a:endParaRPr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9874" y="1545714"/>
            <a:ext cx="3694125" cy="30676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1400" b="1" u="sng" spc="-10" dirty="0">
                <a:solidFill>
                  <a:srgbClr val="060609"/>
                </a:solidFill>
                <a:latin typeface="Arial"/>
                <a:cs typeface="Arial"/>
              </a:rPr>
              <a:t>mozaweb.com 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spc="-10" dirty="0">
                <a:solidFill>
                  <a:srgbClr val="060609"/>
                </a:solidFill>
                <a:latin typeface="Microsoft Sans Serif"/>
                <a:cs typeface="Microsoft Sans Serif"/>
              </a:rPr>
              <a:t>Limitations:</a:t>
            </a:r>
            <a:endParaRPr sz="1200" dirty="0">
              <a:latin typeface="Microsoft Sans Serif"/>
              <a:cs typeface="Microsoft Sans Serif"/>
            </a:endParaRPr>
          </a:p>
          <a:p>
            <a:pPr marL="469900" marR="5080" indent="-320675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bună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selecție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elemente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vizuale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dar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necesită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un plugin extern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pentru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acestea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ro-RO" sz="1200" dirty="0">
              <a:solidFill>
                <a:srgbClr val="060609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69900" marR="5080" indent="-320675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lang="it-IT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Accentul se pune pe </a:t>
            </a:r>
            <a:r>
              <a:rPr lang="ro-RO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profit</a:t>
            </a:r>
            <a:r>
              <a:rPr lang="it-IT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mai degrabă decât pe educația deschisă.</a:t>
            </a:r>
            <a:endParaRPr lang="ro-RO" sz="1200" dirty="0">
              <a:solidFill>
                <a:srgbClr val="060609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60609"/>
              </a:buClr>
              <a:buFont typeface="Microsoft Sans Serif"/>
              <a:buChar char="●"/>
            </a:pPr>
            <a:endParaRPr sz="1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060609"/>
              </a:buClr>
              <a:buFont typeface="Microsoft Sans Serif"/>
              <a:buChar char="●"/>
            </a:pPr>
            <a:endParaRPr sz="12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lang="en-US" sz="1400" b="1" u="sng" dirty="0">
                <a:solidFill>
                  <a:srgbClr val="060609"/>
                </a:solidFill>
                <a:latin typeface="Arial"/>
                <a:cs typeface="Arial"/>
              </a:rPr>
              <a:t>iqboard.ro</a:t>
            </a: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060609"/>
                </a:solidFill>
                <a:latin typeface="Microsoft Sans Serif"/>
                <a:cs typeface="Microsoft Sans Serif"/>
              </a:rPr>
              <a:t>Limitations:</a:t>
            </a:r>
            <a:endParaRPr sz="1200" dirty="0">
              <a:latin typeface="Microsoft Sans Serif"/>
              <a:cs typeface="Microsoft Sans Serif"/>
            </a:endParaRPr>
          </a:p>
          <a:p>
            <a:pPr marL="469900" marR="118110" lvl="1" indent="-320675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bună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selecție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elemente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vizuale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2D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și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3D pe diverse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teme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dar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produse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separate cu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prețuri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foarte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mari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versiunea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bază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284€,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cea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200" dirty="0" err="1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pentru</a:t>
            </a:r>
            <a:r>
              <a:rPr lang="en-US" sz="1200" dirty="0">
                <a:solidFill>
                  <a:srgbClr val="06060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expert 321€).</a:t>
            </a:r>
            <a:endParaRPr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0" name="Picture 9" descr="A yellow and blue logo&#10;&#10;AI-generated content may be incorrect.">
            <a:extLst>
              <a:ext uri="{FF2B5EF4-FFF2-40B4-BE49-F238E27FC236}">
                <a16:creationId xmlns:a16="http://schemas.microsoft.com/office/drawing/2014/main" id="{DAE8CE68-55F7-294C-60A3-4A3A4DD883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8" y="1554373"/>
            <a:ext cx="547238" cy="258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A3B345-610F-93CC-3803-A84CFE5B7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43" y="3489981"/>
            <a:ext cx="242463" cy="2424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B8CC04-C431-0D8E-E7E8-28C0A1C96A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2" y="1545714"/>
            <a:ext cx="280554" cy="2805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5E1B70-2E8A-0665-B4F7-54281366BB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631" y="3279504"/>
            <a:ext cx="323416" cy="323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970" y="566580"/>
            <a:ext cx="4520058" cy="456464"/>
          </a:xfrm>
          <a:prstGeom prst="rect">
            <a:avLst/>
          </a:prstGeom>
        </p:spPr>
        <p:txBody>
          <a:bodyPr vert="horz" wrap="square" lIns="0" tIns="71049" rIns="0" bIns="0" rtlCol="0">
            <a:spAutoFit/>
          </a:bodyPr>
          <a:lstStyle/>
          <a:p>
            <a:pPr marL="367030">
              <a:lnSpc>
                <a:spcPct val="100000"/>
              </a:lnSpc>
              <a:spcBef>
                <a:spcPts val="100"/>
              </a:spcBef>
            </a:pPr>
            <a:r>
              <a:rPr lang="ro-RO" spc="-180" dirty="0"/>
              <a:t>Cerințele platformei</a:t>
            </a:r>
            <a:endParaRPr spc="-135" dirty="0"/>
          </a:p>
        </p:txBody>
      </p:sp>
      <p:sp>
        <p:nvSpPr>
          <p:cNvPr id="3" name="object 3"/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8200" y="1075811"/>
            <a:ext cx="7010400" cy="3929281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200" b="1" dirty="0"/>
              <a:t>Funcționale – </a:t>
            </a:r>
            <a:r>
              <a:rPr lang="en-US" sz="1200" b="1" dirty="0" err="1"/>
              <a:t>Elevi</a:t>
            </a:r>
            <a:endParaRPr lang="ro-RO" sz="1200" b="1" dirty="0"/>
          </a:p>
          <a:p>
            <a:pPr marL="228600" indent="-228600">
              <a:buAutoNum type="arabicPeriod"/>
            </a:pPr>
            <a:endParaRPr lang="en-US" sz="1200" b="1" dirty="0"/>
          </a:p>
          <a:p>
            <a:r>
              <a:rPr lang="en-US" sz="1000" b="1" dirty="0" err="1"/>
              <a:t>Autentificare／Înregistrare</a:t>
            </a:r>
            <a:r>
              <a:rPr lang="en-US" sz="1000" dirty="0"/>
              <a:t>: </a:t>
            </a:r>
            <a:r>
              <a:rPr lang="en-US" sz="1000" dirty="0" err="1"/>
              <a:t>cont</a:t>
            </a:r>
            <a:r>
              <a:rPr lang="en-US" sz="1000" dirty="0"/>
              <a:t> </a:t>
            </a:r>
            <a:r>
              <a:rPr lang="en-US" sz="1000" dirty="0" err="1"/>
              <a:t>securizat</a:t>
            </a:r>
            <a:r>
              <a:rPr lang="en-US" sz="1000" dirty="0"/>
              <a:t>, date </a:t>
            </a:r>
            <a:r>
              <a:rPr lang="en-US" sz="1000" dirty="0" err="1"/>
              <a:t>criptate</a:t>
            </a:r>
            <a:endParaRPr lang="en-US" sz="1000" dirty="0"/>
          </a:p>
          <a:p>
            <a:r>
              <a:rPr lang="en-US" sz="1000" b="1" dirty="0" err="1"/>
              <a:t>Meniu</a:t>
            </a:r>
            <a:r>
              <a:rPr lang="en-US" sz="1000" b="1" dirty="0"/>
              <a:t> 3D </a:t>
            </a:r>
            <a:r>
              <a:rPr lang="en-US" sz="1000" b="1" dirty="0" err="1"/>
              <a:t>interactiv</a:t>
            </a:r>
            <a:r>
              <a:rPr lang="en-US" sz="1000" dirty="0"/>
              <a:t>: </a:t>
            </a:r>
            <a:r>
              <a:rPr lang="en-US" sz="1000" dirty="0" err="1"/>
              <a:t>explorare</a:t>
            </a:r>
            <a:r>
              <a:rPr lang="en-US" sz="1000" dirty="0"/>
              <a:t> </a:t>
            </a:r>
            <a:r>
              <a:rPr lang="en-US" sz="1000" dirty="0" err="1"/>
              <a:t>materii</a:t>
            </a:r>
            <a:r>
              <a:rPr lang="en-US" sz="1000" dirty="0"/>
              <a:t>, </a:t>
            </a:r>
            <a:r>
              <a:rPr lang="en-US" sz="1000" dirty="0" err="1"/>
              <a:t>navigare</a:t>
            </a:r>
            <a:r>
              <a:rPr lang="en-US" sz="1000" dirty="0"/>
              <a:t> </a:t>
            </a:r>
            <a:r>
              <a:rPr lang="en-US" sz="1000" dirty="0" err="1"/>
              <a:t>gamificată</a:t>
            </a:r>
            <a:endParaRPr lang="en-US" sz="1000" dirty="0"/>
          </a:p>
          <a:p>
            <a:r>
              <a:rPr lang="en-US" sz="1000" b="1" dirty="0"/>
              <a:t>Module 3D</a:t>
            </a:r>
            <a:r>
              <a:rPr lang="en-US" sz="1000" dirty="0"/>
              <a:t>: </a:t>
            </a:r>
            <a:r>
              <a:rPr lang="en-US" sz="1000" dirty="0" err="1"/>
              <a:t>vizualizări</a:t>
            </a:r>
            <a:r>
              <a:rPr lang="en-US" sz="1000" dirty="0"/>
              <a:t>, </a:t>
            </a:r>
            <a:r>
              <a:rPr lang="en-US" sz="1000" dirty="0" err="1"/>
              <a:t>texte</a:t>
            </a:r>
            <a:r>
              <a:rPr lang="en-US" sz="1000" dirty="0"/>
              <a:t>, </a:t>
            </a:r>
            <a:r>
              <a:rPr lang="en-US" sz="1000" dirty="0" err="1"/>
              <a:t>imagini</a:t>
            </a:r>
            <a:r>
              <a:rPr lang="en-US" sz="1000" dirty="0"/>
              <a:t>, </a:t>
            </a:r>
            <a:r>
              <a:rPr lang="en-US" sz="1000" dirty="0" err="1"/>
              <a:t>animații</a:t>
            </a:r>
            <a:endParaRPr lang="en-US" sz="1000" dirty="0"/>
          </a:p>
          <a:p>
            <a:r>
              <a:rPr lang="en-US" sz="1000" b="1" dirty="0" err="1"/>
              <a:t>Manipulare</a:t>
            </a:r>
            <a:r>
              <a:rPr lang="en-US" sz="1000" b="1" dirty="0"/>
              <a:t> scene</a:t>
            </a:r>
            <a:r>
              <a:rPr lang="en-US" sz="1000" dirty="0"/>
              <a:t>: </a:t>
            </a:r>
            <a:r>
              <a:rPr lang="en-US" sz="1000" dirty="0" err="1"/>
              <a:t>rotire</a:t>
            </a:r>
            <a:r>
              <a:rPr lang="en-US" sz="1000" dirty="0"/>
              <a:t>, zoom, </a:t>
            </a:r>
            <a:r>
              <a:rPr lang="en-US" sz="1000" dirty="0" err="1"/>
              <a:t>interacțiuni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timp</a:t>
            </a:r>
            <a:r>
              <a:rPr lang="en-US" sz="1000" dirty="0"/>
              <a:t> real</a:t>
            </a:r>
          </a:p>
          <a:p>
            <a:r>
              <a:rPr lang="en-US" sz="1000" b="1" dirty="0"/>
              <a:t>Teste &amp; </a:t>
            </a:r>
            <a:r>
              <a:rPr lang="en-US" sz="1000" b="1" dirty="0" err="1"/>
              <a:t>rezultate</a:t>
            </a:r>
            <a:r>
              <a:rPr lang="en-US" sz="1000" dirty="0"/>
              <a:t>: </a:t>
            </a:r>
            <a:r>
              <a:rPr lang="en-US" sz="1000" dirty="0" err="1"/>
              <a:t>acces</a:t>
            </a:r>
            <a:r>
              <a:rPr lang="en-US" sz="1000" dirty="0"/>
              <a:t>, </a:t>
            </a:r>
            <a:r>
              <a:rPr lang="en-US" sz="1000" dirty="0" err="1"/>
              <a:t>rezolvare</a:t>
            </a:r>
            <a:r>
              <a:rPr lang="en-US" sz="1000" dirty="0"/>
              <a:t>, </a:t>
            </a:r>
            <a:r>
              <a:rPr lang="en-US" sz="1000" dirty="0" err="1"/>
              <a:t>retestare</a:t>
            </a:r>
            <a:r>
              <a:rPr lang="en-US" sz="1000" dirty="0"/>
              <a:t>, </a:t>
            </a:r>
            <a:r>
              <a:rPr lang="en-US" sz="1000" dirty="0" err="1"/>
              <a:t>panou</a:t>
            </a:r>
            <a:r>
              <a:rPr lang="en-US" sz="1000" dirty="0"/>
              <a:t> </a:t>
            </a:r>
            <a:r>
              <a:rPr lang="en-US" sz="1000" dirty="0" err="1"/>
              <a:t>scoruri</a:t>
            </a:r>
            <a:endParaRPr lang="en-US" sz="1000" dirty="0"/>
          </a:p>
          <a:p>
            <a:r>
              <a:rPr lang="en-US" sz="1000" b="1" dirty="0"/>
              <a:t>Clase &amp; </a:t>
            </a:r>
            <a:r>
              <a:rPr lang="en-US" sz="1000" b="1" dirty="0" err="1"/>
              <a:t>invitații</a:t>
            </a:r>
            <a:r>
              <a:rPr lang="en-US" sz="1000" dirty="0"/>
              <a:t>: </a:t>
            </a:r>
            <a:r>
              <a:rPr lang="en-US" sz="1000" dirty="0" err="1"/>
              <a:t>aderare</a:t>
            </a:r>
            <a:r>
              <a:rPr lang="en-US" sz="1000" dirty="0"/>
              <a:t>, </a:t>
            </a:r>
            <a:r>
              <a:rPr lang="en-US" sz="1000" dirty="0" err="1"/>
              <a:t>notificări</a:t>
            </a:r>
            <a:r>
              <a:rPr lang="en-US" sz="1000" dirty="0"/>
              <a:t>, accept/</a:t>
            </a:r>
            <a:r>
              <a:rPr lang="en-US" sz="1000" dirty="0" err="1"/>
              <a:t>respinge</a:t>
            </a:r>
            <a:endParaRPr lang="ro-RO" sz="1000" dirty="0"/>
          </a:p>
          <a:p>
            <a:endParaRPr lang="en-US" sz="1000" dirty="0"/>
          </a:p>
          <a:p>
            <a:r>
              <a:rPr lang="en-US" sz="1200" b="1" dirty="0"/>
              <a:t>2. Funcționale – </a:t>
            </a:r>
            <a:r>
              <a:rPr lang="en-US" sz="1200" b="1" dirty="0" err="1"/>
              <a:t>Profesori</a:t>
            </a:r>
            <a:endParaRPr lang="ro-RO" sz="1200" b="1" dirty="0"/>
          </a:p>
          <a:p>
            <a:endParaRPr lang="en-US" sz="1200" b="1" dirty="0"/>
          </a:p>
          <a:p>
            <a:r>
              <a:rPr lang="en-US" sz="1000" b="1" dirty="0" err="1"/>
              <a:t>Autentificare／Profil</a:t>
            </a:r>
            <a:r>
              <a:rPr lang="en-US" sz="1000" dirty="0"/>
              <a:t>: </a:t>
            </a:r>
            <a:r>
              <a:rPr lang="en-US" sz="1000" dirty="0" err="1"/>
              <a:t>rol</a:t>
            </a:r>
            <a:r>
              <a:rPr lang="en-US" sz="1000" dirty="0"/>
              <a:t> </a:t>
            </a:r>
            <a:r>
              <a:rPr lang="en-US" sz="1000" dirty="0" err="1"/>
              <a:t>profesor</a:t>
            </a:r>
            <a:r>
              <a:rPr lang="en-US" sz="1000" dirty="0"/>
              <a:t>, </a:t>
            </a:r>
            <a:r>
              <a:rPr lang="en-US" sz="1000" dirty="0" err="1"/>
              <a:t>gestionare</a:t>
            </a:r>
            <a:r>
              <a:rPr lang="en-US" sz="1000" dirty="0"/>
              <a:t> date</a:t>
            </a:r>
          </a:p>
          <a:p>
            <a:r>
              <a:rPr lang="en-US" sz="1000" b="1" dirty="0" err="1"/>
              <a:t>Administrare</a:t>
            </a:r>
            <a:r>
              <a:rPr lang="en-US" sz="1000" b="1" dirty="0"/>
              <a:t> </a:t>
            </a:r>
            <a:r>
              <a:rPr lang="en-US" sz="1000" b="1" dirty="0" err="1"/>
              <a:t>clase</a:t>
            </a:r>
            <a:r>
              <a:rPr lang="en-US" sz="1000" dirty="0"/>
              <a:t>: </a:t>
            </a:r>
            <a:r>
              <a:rPr lang="en-US" sz="1000" dirty="0" err="1"/>
              <a:t>creare</a:t>
            </a:r>
            <a:r>
              <a:rPr lang="en-US" sz="1000" dirty="0"/>
              <a:t>/</a:t>
            </a:r>
            <a:r>
              <a:rPr lang="en-US" sz="1000" dirty="0" err="1"/>
              <a:t>grupare</a:t>
            </a:r>
            <a:r>
              <a:rPr lang="en-US" sz="1000" dirty="0"/>
              <a:t> </a:t>
            </a:r>
            <a:r>
              <a:rPr lang="en-US" sz="1000" dirty="0" err="1"/>
              <a:t>elevi</a:t>
            </a:r>
            <a:r>
              <a:rPr lang="en-US" sz="1000" dirty="0"/>
              <a:t>, </a:t>
            </a:r>
            <a:r>
              <a:rPr lang="en-US" sz="1000" dirty="0" err="1"/>
              <a:t>invitații</a:t>
            </a:r>
            <a:endParaRPr lang="en-US" sz="1000" dirty="0"/>
          </a:p>
          <a:p>
            <a:r>
              <a:rPr lang="en-US" sz="1000" b="1" dirty="0" err="1"/>
              <a:t>Creare</a:t>
            </a:r>
            <a:r>
              <a:rPr lang="en-US" sz="1000" b="1" dirty="0"/>
              <a:t> teste</a:t>
            </a:r>
            <a:r>
              <a:rPr lang="en-US" sz="1000" dirty="0"/>
              <a:t>: </a:t>
            </a:r>
            <a:r>
              <a:rPr lang="en-US" sz="1000" dirty="0" err="1"/>
              <a:t>structuri</a:t>
            </a:r>
            <a:r>
              <a:rPr lang="en-US" sz="1000" dirty="0"/>
              <a:t>, </a:t>
            </a:r>
            <a:r>
              <a:rPr lang="en-US" sz="1000" dirty="0" err="1"/>
              <a:t>parametri</a:t>
            </a:r>
            <a:r>
              <a:rPr lang="en-US" sz="1000" dirty="0"/>
              <a:t> </a:t>
            </a:r>
            <a:r>
              <a:rPr lang="en-US" sz="1000" dirty="0" err="1"/>
              <a:t>evaluare</a:t>
            </a:r>
            <a:r>
              <a:rPr lang="en-US" sz="1000" dirty="0"/>
              <a:t>, </a:t>
            </a:r>
            <a:r>
              <a:rPr lang="en-US" sz="1000" dirty="0" err="1"/>
              <a:t>deschidere</a:t>
            </a:r>
            <a:r>
              <a:rPr lang="en-US" sz="1000" dirty="0"/>
              <a:t>/</a:t>
            </a:r>
            <a:r>
              <a:rPr lang="en-US" sz="1000" dirty="0" err="1"/>
              <a:t>blocare</a:t>
            </a:r>
            <a:endParaRPr lang="en-US" sz="1000" dirty="0"/>
          </a:p>
          <a:p>
            <a:r>
              <a:rPr lang="en-US" sz="1000" b="1" dirty="0" err="1"/>
              <a:t>Monitorizare</a:t>
            </a:r>
            <a:r>
              <a:rPr lang="en-US" sz="1000" b="1" dirty="0"/>
              <a:t> &amp; </a:t>
            </a:r>
            <a:r>
              <a:rPr lang="en-US" sz="1000" b="1" dirty="0" err="1"/>
              <a:t>analiză</a:t>
            </a:r>
            <a:r>
              <a:rPr lang="en-US" sz="1000" dirty="0"/>
              <a:t>: </a:t>
            </a:r>
            <a:r>
              <a:rPr lang="en-US" sz="1000" dirty="0" err="1"/>
              <a:t>scoruri</a:t>
            </a:r>
            <a:r>
              <a:rPr lang="en-US" sz="1000" dirty="0"/>
              <a:t>, </a:t>
            </a:r>
            <a:r>
              <a:rPr lang="en-US" sz="1000" dirty="0" err="1"/>
              <a:t>statistici</a:t>
            </a:r>
            <a:r>
              <a:rPr lang="en-US" sz="1000" dirty="0"/>
              <a:t>, </a:t>
            </a:r>
            <a:r>
              <a:rPr lang="en-US" sz="1000" dirty="0" err="1"/>
              <a:t>filtrare</a:t>
            </a:r>
            <a:endParaRPr lang="en-US" sz="1000" dirty="0"/>
          </a:p>
          <a:p>
            <a:r>
              <a:rPr lang="en-US" sz="1000" b="1" dirty="0" err="1"/>
              <a:t>Resurse</a:t>
            </a:r>
            <a:r>
              <a:rPr lang="en-US" sz="1000" b="1" dirty="0"/>
              <a:t> </a:t>
            </a:r>
            <a:r>
              <a:rPr lang="en-US" sz="1000" b="1" dirty="0" err="1"/>
              <a:t>educaționale</a:t>
            </a:r>
            <a:r>
              <a:rPr lang="en-US" sz="1000" dirty="0"/>
              <a:t>: </a:t>
            </a:r>
            <a:r>
              <a:rPr lang="en-US" sz="1000" dirty="0" err="1"/>
              <a:t>acces</a:t>
            </a:r>
            <a:r>
              <a:rPr lang="en-US" sz="1000" dirty="0"/>
              <a:t> </a:t>
            </a:r>
            <a:r>
              <a:rPr lang="en-US" sz="1000" dirty="0" err="1"/>
              <a:t>complet</a:t>
            </a:r>
            <a:r>
              <a:rPr lang="en-US" sz="1000" dirty="0"/>
              <a:t> la </a:t>
            </a:r>
            <a:r>
              <a:rPr lang="en-US" sz="1000" dirty="0" err="1"/>
              <a:t>materiale</a:t>
            </a:r>
            <a:endParaRPr lang="ro-RO" sz="1000" dirty="0"/>
          </a:p>
          <a:p>
            <a:endParaRPr lang="en-US" sz="1000" dirty="0"/>
          </a:p>
          <a:p>
            <a:r>
              <a:rPr lang="en-US" sz="1200" b="1" dirty="0"/>
              <a:t>3. Non-</a:t>
            </a:r>
            <a:r>
              <a:rPr lang="en-US" sz="1200" b="1" dirty="0" err="1"/>
              <a:t>funcționale</a:t>
            </a:r>
            <a:endParaRPr lang="ro-RO" sz="1200" b="1" dirty="0"/>
          </a:p>
          <a:p>
            <a:endParaRPr lang="en-US" sz="1200" b="1" dirty="0"/>
          </a:p>
          <a:p>
            <a:r>
              <a:rPr lang="en-US" sz="1000" b="1" dirty="0" err="1"/>
              <a:t>Platformă</a:t>
            </a:r>
            <a:r>
              <a:rPr lang="en-US" sz="1000" b="1" dirty="0"/>
              <a:t> web</a:t>
            </a:r>
            <a:r>
              <a:rPr lang="en-US" sz="1000" dirty="0"/>
              <a:t>: </a:t>
            </a:r>
            <a:r>
              <a:rPr lang="en-US" sz="1000" dirty="0" err="1"/>
              <a:t>fără</a:t>
            </a:r>
            <a:r>
              <a:rPr lang="en-US" sz="1000" dirty="0"/>
              <a:t> </a:t>
            </a:r>
            <a:r>
              <a:rPr lang="en-US" sz="1000" dirty="0" err="1"/>
              <a:t>instalare</a:t>
            </a:r>
            <a:r>
              <a:rPr lang="en-US" sz="1000" dirty="0"/>
              <a:t>, </a:t>
            </a:r>
            <a:r>
              <a:rPr lang="en-US" sz="1000" dirty="0" err="1"/>
              <a:t>portabilitate</a:t>
            </a:r>
            <a:r>
              <a:rPr lang="en-US" sz="1000" dirty="0"/>
              <a:t> </a:t>
            </a:r>
            <a:r>
              <a:rPr lang="en-US" sz="1000" dirty="0" err="1"/>
              <a:t>ridicată</a:t>
            </a:r>
            <a:endParaRPr lang="en-US" sz="1000" dirty="0"/>
          </a:p>
          <a:p>
            <a:r>
              <a:rPr lang="en-US" sz="1000" b="1" dirty="0" err="1"/>
              <a:t>Performanță</a:t>
            </a:r>
            <a:r>
              <a:rPr lang="en-US" sz="1000" b="1" dirty="0"/>
              <a:t> 3D</a:t>
            </a:r>
            <a:r>
              <a:rPr lang="en-US" sz="1000" dirty="0"/>
              <a:t>: WebGL 1.0+ (ideal 2.0), ≥30 fps desktop (24 fps </a:t>
            </a:r>
            <a:r>
              <a:rPr lang="en-US" sz="1000" dirty="0" err="1"/>
              <a:t>mobil</a:t>
            </a:r>
            <a:r>
              <a:rPr lang="en-US" sz="1000" dirty="0"/>
              <a:t>)</a:t>
            </a:r>
          </a:p>
          <a:p>
            <a:r>
              <a:rPr lang="en-US" sz="1000" b="1" dirty="0"/>
              <a:t>Hardware minim</a:t>
            </a:r>
            <a:r>
              <a:rPr lang="en-US" sz="1000" dirty="0"/>
              <a:t>: CPU dual-core ≥1,5 GHz, RAM ≥2 GB (≥256 MB </a:t>
            </a:r>
            <a:r>
              <a:rPr lang="en-US" sz="1000" dirty="0" err="1"/>
              <a:t>liberi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WebGL), GPU </a:t>
            </a:r>
            <a:r>
              <a:rPr lang="en-US" sz="1000" dirty="0" err="1"/>
              <a:t>integrat</a:t>
            </a:r>
            <a:r>
              <a:rPr lang="en-US" sz="1000" dirty="0"/>
              <a:t> ≥128 MB VRAM</a:t>
            </a:r>
          </a:p>
          <a:p>
            <a:r>
              <a:rPr lang="en-US" sz="1000" b="1" dirty="0" err="1"/>
              <a:t>Rețea</a:t>
            </a:r>
            <a:r>
              <a:rPr lang="en-US" sz="1000" dirty="0"/>
              <a:t>: bandwidth ≥1 Mbps, RTT &lt;100 </a:t>
            </a:r>
            <a:r>
              <a:rPr lang="en-US" sz="1000" dirty="0" err="1"/>
              <a:t>ms</a:t>
            </a:r>
            <a:endParaRPr lang="en-US" sz="1000" dirty="0"/>
          </a:p>
          <a:p>
            <a:r>
              <a:rPr lang="en-US" sz="1000" b="1" dirty="0"/>
              <a:t>UX</a:t>
            </a:r>
            <a:r>
              <a:rPr lang="en-US" sz="1000" dirty="0"/>
              <a:t>: </a:t>
            </a:r>
            <a:r>
              <a:rPr lang="en-US" sz="1000" dirty="0" err="1"/>
              <a:t>încărcare</a:t>
            </a:r>
            <a:r>
              <a:rPr lang="en-US" sz="1000" dirty="0"/>
              <a:t> ↓2 s, </a:t>
            </a:r>
            <a:r>
              <a:rPr lang="en-US" sz="1000" dirty="0" err="1"/>
              <a:t>interacțiuni</a:t>
            </a:r>
            <a:r>
              <a:rPr lang="en-US" sz="1000" dirty="0"/>
              <a:t> </a:t>
            </a:r>
            <a:r>
              <a:rPr lang="en-US" sz="1000" dirty="0" err="1"/>
              <a:t>instantanee</a:t>
            </a:r>
            <a:r>
              <a:rPr lang="en-US" sz="1000" dirty="0"/>
              <a:t>, feedback </a:t>
            </a:r>
            <a:r>
              <a:rPr lang="en-US" sz="1000" dirty="0" err="1"/>
              <a:t>vizual</a:t>
            </a:r>
            <a:r>
              <a:rPr lang="en-US" sz="1000" dirty="0"/>
              <a:t> </a:t>
            </a:r>
            <a:r>
              <a:rPr lang="en-US" sz="1000" dirty="0" err="1"/>
              <a:t>ghidat</a:t>
            </a:r>
            <a:endParaRPr lang="en-US" sz="1000" dirty="0"/>
          </a:p>
        </p:txBody>
      </p:sp>
      <p:sp>
        <p:nvSpPr>
          <p:cNvPr id="9" name="object 9"/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/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000" y="56658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100"/>
              </a:spcBef>
            </a:pPr>
            <a:r>
              <a:rPr lang="ro-RO" sz="3000" spc="-185" dirty="0"/>
              <a:t>Arhitectura backend</a:t>
            </a:r>
            <a:endParaRPr sz="3000" dirty="0"/>
          </a:p>
        </p:txBody>
      </p:sp>
      <p:sp>
        <p:nvSpPr>
          <p:cNvPr id="7" name="object 7"/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Picture 11" descr="A diagram of a company&#10;&#10;AI-generated content may be incorrect.">
            <a:extLst>
              <a:ext uri="{FF2B5EF4-FFF2-40B4-BE49-F238E27FC236}">
                <a16:creationId xmlns:a16="http://schemas.microsoft.com/office/drawing/2014/main" id="{E2A06A30-9990-E0D5-A96C-DC306308F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659" y="1160604"/>
            <a:ext cx="4801397" cy="3695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065AC-046D-984B-BA64-02A10819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E8AF48D-A3BC-2867-053C-56991DB90036}"/>
              </a:ext>
            </a:extLst>
          </p:cNvPr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93AAE6E-2982-F7BF-65FD-4CC6B284D1E8}"/>
                </a:ext>
              </a:extLst>
            </p:cNvPr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D18B429-C45E-E38C-4806-E7504884CBDA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6B8F29-883C-913D-7EE7-C1F9DAD04F3E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2EBD964-1EF4-B904-A678-B01D950F7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56658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100"/>
              </a:spcBef>
            </a:pPr>
            <a:r>
              <a:rPr lang="en-US" sz="3000" spc="-185" dirty="0"/>
              <a:t>Frontend </a:t>
            </a:r>
            <a:r>
              <a:rPr sz="3000" spc="-185" dirty="0"/>
              <a:t>Architecture</a:t>
            </a:r>
            <a:endParaRPr sz="30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DCFAEB7-D7F7-11C2-D876-3D0772CF056D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083FB7F-2983-2E0C-64BC-E40C142616EF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57D7088-03A4-F9E8-3212-CA0882B731EA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9146EF2-1D61-EA92-DB26-7CDDA1012129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3" name="Picture 12" descr="A diagram of a flowchart&#10;&#10;AI-generated content may be incorrect.">
            <a:extLst>
              <a:ext uri="{FF2B5EF4-FFF2-40B4-BE49-F238E27FC236}">
                <a16:creationId xmlns:a16="http://schemas.microsoft.com/office/drawing/2014/main" id="{4BB2E5DB-F3B5-6113-7CD8-BB77F56BF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750"/>
            <a:ext cx="9144000" cy="24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6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944B-6980-9340-2DCB-5E779DFF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12615F3-0FD9-9973-FBC7-4201FC0837A8}"/>
              </a:ext>
            </a:extLst>
          </p:cNvPr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D2FD2B5-9059-D8FE-6E4A-6434AE94A39F}"/>
                </a:ext>
              </a:extLst>
            </p:cNvPr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D6C4AB8-BC8E-83A5-66E5-87D4CA935774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5BD673-D0D3-66E9-AA29-1C144F31C856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61A8851-9834-C365-8D8B-D550AEB5C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5877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3D Scenes</a:t>
            </a:r>
            <a:endParaRPr sz="30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CD0DE01-344A-BA1D-0720-5F216563315A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D41213F-7710-A3A1-ECC1-0BB38FB9A6AC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8AC0F99-F91A-8E9B-89DF-97C45836759B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 dirty="0">
              <a:latin typeface="Microsoft Sans Serif"/>
              <a:cs typeface="Microsoft Sans Serif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A61CD2A-4F91-540B-22E7-01658F12A555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1F32C8-4FF2-7BDC-DA30-5BF201650862}"/>
              </a:ext>
            </a:extLst>
          </p:cNvPr>
          <p:cNvSpPr txBox="1"/>
          <p:nvPr/>
        </p:nvSpPr>
        <p:spPr>
          <a:xfrm>
            <a:off x="609600" y="1428750"/>
            <a:ext cx="46482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Canvas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wrap every 3D scene in a Canvas from @react-three/fiber, configuring camera, lighting, and performance.</a:t>
            </a:r>
          </a:p>
          <a:p>
            <a:pPr lvl="5"/>
            <a:endParaRPr lang="en-US"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5"/>
            <a:endParaRPr lang="en-US"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5"/>
            <a:r>
              <a:rPr lang="en-US" sz="1400" b="1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GLTF conversion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GLB files are converted to React-ready hooks via gltf.pmnd.rs, giving us </a:t>
            </a:r>
            <a:r>
              <a:rPr lang="en-US" sz="12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useGLTF</a:t>
            </a: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() components.</a:t>
            </a:r>
          </a:p>
          <a:p>
            <a:pPr lvl="4"/>
            <a:endParaRPr lang="en-US" sz="1200" b="1" dirty="0"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  <a:p>
            <a:pPr lvl="4"/>
            <a:endParaRPr lang="en-US" sz="1200" b="1" dirty="0"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en-US" sz="1400" b="1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Animations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use react-spring/three for continuous animations.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sz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5"/>
            <a:r>
              <a:rPr lang="en-US" sz="1400" b="1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Physics &amp; Controls 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 physics-like behavior (drag inertia, damping) we compute deltas manually in </a:t>
            </a:r>
            <a:r>
              <a:rPr lang="en-US" sz="12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useFrame</a:t>
            </a: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</p:txBody>
      </p:sp>
      <p:pic>
        <p:nvPicPr>
          <p:cNvPr id="23" name="Picture 22" descr="A screenshot of a video game">
            <a:extLst>
              <a:ext uri="{FF2B5EF4-FFF2-40B4-BE49-F238E27FC236}">
                <a16:creationId xmlns:a16="http://schemas.microsoft.com/office/drawing/2014/main" id="{08F91543-88C5-94A1-9ED3-E316C8FB5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206" y="1709313"/>
            <a:ext cx="4300081" cy="245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0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9463-9383-BB3E-35FC-C9382712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8A59429-FD58-95A3-2E0C-E2FB4F1136E6}"/>
              </a:ext>
            </a:extLst>
          </p:cNvPr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814A390-04EE-291D-0350-BB58C3E5A7BF}"/>
                </a:ext>
              </a:extLst>
            </p:cNvPr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82BCA21-0159-9507-A6D3-CCB8B1EE56E9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DF472-D27E-B7C3-0935-C3C984AAB5C1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072166-2E05-B3A2-E317-863BDD8E6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5877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Evaluation</a:t>
            </a:r>
            <a:endParaRPr sz="30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33C6B3-6EA9-FE7A-A8F8-E37434A2CA18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FC30674-7B85-DE9B-574D-EF59EF80505C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56E441E-53BF-D7CE-014A-570E1F2CE75B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54569F4-EFF8-1737-D90C-0524BC9267C5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B2EA86-1C32-B4D4-12CC-CBECEE8EBEB2}"/>
              </a:ext>
            </a:extLst>
          </p:cNvPr>
          <p:cNvSpPr txBox="1"/>
          <p:nvPr/>
        </p:nvSpPr>
        <p:spPr>
          <a:xfrm>
            <a:off x="532284" y="1428750"/>
            <a:ext cx="807943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Manual QA &amp; Testing</a:t>
            </a:r>
            <a:endParaRPr lang="en-US" sz="1400" b="1" dirty="0"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Manual testing for bugs and problems in developer defined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Loaded GLB assets (planets, geometry, molecules, data structures) in isolation and via the menu to confirm they appeared correctly (no missing meshes, textures or materials).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Tested orbit/zoom/move via mouse, touch to ensured smooth experience.</a:t>
            </a:r>
            <a:b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endPara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CI/CD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Every PR runs linters (</a:t>
            </a:r>
            <a:r>
              <a:rPr lang="en-US" sz="1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gofmt</a:t>
            </a: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), set-up, build tests, and unit tests will be added.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Performance Benchmarks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Target for final version: Latency: API &lt; 100 </a:t>
            </a:r>
            <a:r>
              <a:rPr lang="en-US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ms</a:t>
            </a: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model‐load FPS ≥ 30.</a:t>
            </a:r>
          </a:p>
        </p:txBody>
      </p:sp>
    </p:spTree>
    <p:extLst>
      <p:ext uri="{BB962C8B-B14F-4D97-AF65-F5344CB8AC3E}">
        <p14:creationId xmlns:p14="http://schemas.microsoft.com/office/powerpoint/2010/main" val="237330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4319-F4F0-4F0D-A132-9ED43D04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CB87EAA-6784-3852-F482-CF5F42C32B70}"/>
              </a:ext>
            </a:extLst>
          </p:cNvPr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47D7087-3F3E-092F-F1E3-35235D5F86D3}"/>
                </a:ext>
              </a:extLst>
            </p:cNvPr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B9F7145-53FE-1BDC-853A-AFF50C3C2A54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26C2C8B-D2D6-000A-C092-82D9631C2C98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815CDF7-5507-4D93-0CB9-1EBD614A5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5877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Problems</a:t>
            </a:r>
            <a:endParaRPr sz="30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03599F3-6996-AB25-66E5-9E69E5D6DC33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6FEB18C-A473-0B61-CA1A-B5859320BCFA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E70F13-F23C-9501-6D89-1B4C7DB8CDE8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C9AEDAE-AD66-F0EF-A6DA-F7FAE6B24CE7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FBAA4-0048-DE7D-CB6B-CA5D5B169750}"/>
              </a:ext>
            </a:extLst>
          </p:cNvPr>
          <p:cNvSpPr txBox="1"/>
          <p:nvPr/>
        </p:nvSpPr>
        <p:spPr>
          <a:xfrm>
            <a:off x="532852" y="1628493"/>
            <a:ext cx="8002117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Backend &amp; Kubernetes Ingress: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Kong’s Ingress Controller isn’t accessible locally by default, so we ran a port-forward to expose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Exposing microservices via Kong meant aligning </a:t>
            </a:r>
            <a:r>
              <a:rPr lang="en-US" sz="1100" dirty="0" err="1"/>
              <a:t>containerPort</a:t>
            </a:r>
            <a:r>
              <a:rPr lang="en-US" sz="1100" dirty="0"/>
              <a:t> / </a:t>
            </a:r>
            <a:r>
              <a:rPr lang="en-US" sz="1100" dirty="0" err="1"/>
              <a:t>targetPort</a:t>
            </a:r>
            <a:r>
              <a:rPr lang="en-US" sz="1100" dirty="0"/>
              <a:t>, </a:t>
            </a:r>
            <a:r>
              <a:rPr lang="en-US" sz="1100" dirty="0" err="1"/>
              <a:t>ClusterIP</a:t>
            </a:r>
            <a:r>
              <a:rPr lang="en-US" sz="1100" dirty="0"/>
              <a:t> services, and Ingress annotations.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CI/CD Build &amp; Rollout Workflow for each change: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We rebuild and push the container each time, then trigger a rollout and watch until the new pods are up and running before the old ones go away—so updates happen without downtime but build and deploy takes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400" b="1" dirty="0"/>
              <a:t>GPU memory exhaustion from massive textures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Our initial Earth model and background maps were in the 16 K×8 K range, which routinely blew out WebGL’s memory (context lost, shader errors, down-resizing warnings).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We solved it by swapping in 4 K–8 K variants, lazy-loading, and using compressed formats where possible.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775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F4FA-A21E-2E64-5F6E-803566D0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5249B2-0E05-206A-049A-A45A3134DE5F}"/>
              </a:ext>
            </a:extLst>
          </p:cNvPr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19AC741-8BEE-39D7-BAD5-F18E1406D958}"/>
                </a:ext>
              </a:extLst>
            </p:cNvPr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3DE600F-8AD4-92B7-226C-FE5A311AE4B0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C12146-343F-A66A-8F59-D0801191B539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8F93460-17FD-E1C1-EE87-7B0490CF8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5877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Next steps</a:t>
            </a:r>
            <a:endParaRPr sz="30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E387B5-D105-E893-32BC-548B91D1381E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3A73F98-60E4-36BC-C46E-801A195CF836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7E4C353-9E0A-68E6-656A-E58D9D91F0A8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EC5D259-AA5B-AB1A-43DD-94DA60868348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125575-F970-39DD-8969-5C12A85D6D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87" y="1581150"/>
            <a:ext cx="1574483" cy="2209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30EEFD-EFCE-FE88-A4F1-348B31EB8FEA}"/>
              </a:ext>
            </a:extLst>
          </p:cNvPr>
          <p:cNvSpPr txBox="1"/>
          <p:nvPr/>
        </p:nvSpPr>
        <p:spPr>
          <a:xfrm>
            <a:off x="2438400" y="1428750"/>
            <a:ext cx="61722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User retention and experience: </a:t>
            </a: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 badge/leaderboard support in the quiz engine.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Observability &amp; Health: </a:t>
            </a: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Instrument frontend and backend with Prometheus metrics, hook up Grafana dashboards for real-time health and usage tracking.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Professor utils best effort: </a:t>
            </a:r>
            <a:r>
              <a:rPr lang="en-US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 exporting functionality in leaderboards, email notifications for upcoming quizzes, due dates, or performance reviews, export session logs and 3D module usage, LLM integration for educational support, analytics filters.</a:t>
            </a:r>
          </a:p>
        </p:txBody>
      </p:sp>
    </p:spTree>
    <p:extLst>
      <p:ext uri="{BB962C8B-B14F-4D97-AF65-F5344CB8AC3E}">
        <p14:creationId xmlns:p14="http://schemas.microsoft.com/office/powerpoint/2010/main" val="4185766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B6EA-9DCA-3A6A-7EE3-7EE19562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55DE4D-EF81-0677-195F-AEF5ECA31A40}"/>
              </a:ext>
            </a:extLst>
          </p:cNvPr>
          <p:cNvGrpSpPr/>
          <p:nvPr/>
        </p:nvGrpSpPr>
        <p:grpSpPr>
          <a:xfrm>
            <a:off x="0" y="-4762"/>
            <a:ext cx="9149080" cy="554355"/>
            <a:chOff x="0" y="-4762"/>
            <a:chExt cx="9149080" cy="5543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ED67705-9EE8-783A-75FC-23CA74FA0514}"/>
                </a:ext>
              </a:extLst>
            </p:cNvPr>
            <p:cNvSpPr/>
            <p:nvPr/>
          </p:nvSpPr>
          <p:spPr>
            <a:xfrm>
              <a:off x="0" y="538587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524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9524"/>
                  </a:lnTo>
                  <a:lnTo>
                    <a:pt x="0" y="9524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D054AAC-05A3-EE73-AA7F-13483C9FD6A9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  <a:lnTo>
                    <a:pt x="694601" y="0"/>
                  </a:lnTo>
                  <a:lnTo>
                    <a:pt x="694601" y="544224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DD766FC-A9A6-2D9E-4BD4-756248E060D8}"/>
                </a:ext>
              </a:extLst>
            </p:cNvPr>
            <p:cNvSpPr/>
            <p:nvPr/>
          </p:nvSpPr>
          <p:spPr>
            <a:xfrm>
              <a:off x="8449398" y="0"/>
              <a:ext cx="694690" cy="544830"/>
            </a:xfrm>
            <a:custGeom>
              <a:avLst/>
              <a:gdLst/>
              <a:ahLst/>
              <a:cxnLst/>
              <a:rect l="l" t="t" r="r" b="b"/>
              <a:pathLst>
                <a:path w="694690" h="544830">
                  <a:moveTo>
                    <a:pt x="694601" y="544224"/>
                  </a:moveTo>
                  <a:lnTo>
                    <a:pt x="0" y="544224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CD0CC95-E389-5553-0F93-AB5A39991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419350"/>
            <a:ext cx="5791200" cy="530843"/>
          </a:xfrm>
          <a:prstGeom prst="rect">
            <a:avLst/>
          </a:prstGeom>
        </p:spPr>
        <p:txBody>
          <a:bodyPr vert="horz" wrap="square" lIns="0" tIns="68509" rIns="0" bIns="0" rtlCol="0">
            <a:spAutoFit/>
          </a:bodyPr>
          <a:lstStyle/>
          <a:p>
            <a:pPr marL="1083945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Demo</a:t>
            </a:r>
            <a:endParaRPr sz="30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160B6-EFA1-77F7-A076-E7D913EF3D23}"/>
              </a:ext>
            </a:extLst>
          </p:cNvPr>
          <p:cNvSpPr/>
          <p:nvPr/>
        </p:nvSpPr>
        <p:spPr>
          <a:xfrm>
            <a:off x="163282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0" y="184499"/>
                </a:moveTo>
                <a:lnTo>
                  <a:pt x="6590" y="135452"/>
                </a:lnTo>
                <a:lnTo>
                  <a:pt x="25189" y="91379"/>
                </a:lnTo>
                <a:lnTo>
                  <a:pt x="54038" y="54038"/>
                </a:lnTo>
                <a:lnTo>
                  <a:pt x="91379" y="25189"/>
                </a:lnTo>
                <a:lnTo>
                  <a:pt x="135452" y="6590"/>
                </a:lnTo>
                <a:lnTo>
                  <a:pt x="184500" y="0"/>
                </a:lnTo>
                <a:lnTo>
                  <a:pt x="255105" y="14044"/>
                </a:lnTo>
                <a:lnTo>
                  <a:pt x="314961" y="54038"/>
                </a:lnTo>
                <a:lnTo>
                  <a:pt x="354955" y="113894"/>
                </a:lnTo>
                <a:lnTo>
                  <a:pt x="369000" y="184499"/>
                </a:lnTo>
                <a:lnTo>
                  <a:pt x="362409" y="233547"/>
                </a:lnTo>
                <a:lnTo>
                  <a:pt x="343810" y="277620"/>
                </a:lnTo>
                <a:lnTo>
                  <a:pt x="314961" y="314961"/>
                </a:lnTo>
                <a:lnTo>
                  <a:pt x="277620" y="343810"/>
                </a:lnTo>
                <a:lnTo>
                  <a:pt x="233547" y="362409"/>
                </a:lnTo>
                <a:lnTo>
                  <a:pt x="184500" y="368999"/>
                </a:lnTo>
                <a:lnTo>
                  <a:pt x="135452" y="362409"/>
                </a:lnTo>
                <a:lnTo>
                  <a:pt x="91379" y="343810"/>
                </a:lnTo>
                <a:lnTo>
                  <a:pt x="54038" y="314961"/>
                </a:lnTo>
                <a:lnTo>
                  <a:pt x="25189" y="277620"/>
                </a:lnTo>
                <a:lnTo>
                  <a:pt x="6590" y="233547"/>
                </a:lnTo>
                <a:lnTo>
                  <a:pt x="0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2852FD0-1824-822E-98DC-978EA9C575F9}"/>
              </a:ext>
            </a:extLst>
          </p:cNvPr>
          <p:cNvSpPr/>
          <p:nvPr/>
        </p:nvSpPr>
        <p:spPr>
          <a:xfrm>
            <a:off x="8611717" y="4704502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368999" y="184499"/>
                </a:moveTo>
                <a:lnTo>
                  <a:pt x="362409" y="135452"/>
                </a:lnTo>
                <a:lnTo>
                  <a:pt x="343810" y="91379"/>
                </a:lnTo>
                <a:lnTo>
                  <a:pt x="314961" y="54038"/>
                </a:lnTo>
                <a:lnTo>
                  <a:pt x="277620" y="25189"/>
                </a:lnTo>
                <a:lnTo>
                  <a:pt x="233547" y="6590"/>
                </a:lnTo>
                <a:lnTo>
                  <a:pt x="184499" y="0"/>
                </a:lnTo>
                <a:lnTo>
                  <a:pt x="113894" y="14044"/>
                </a:lnTo>
                <a:lnTo>
                  <a:pt x="54038" y="54038"/>
                </a:lnTo>
                <a:lnTo>
                  <a:pt x="14044" y="113894"/>
                </a:lnTo>
                <a:lnTo>
                  <a:pt x="0" y="184499"/>
                </a:lnTo>
                <a:lnTo>
                  <a:pt x="6590" y="233547"/>
                </a:lnTo>
                <a:lnTo>
                  <a:pt x="25189" y="277620"/>
                </a:lnTo>
                <a:lnTo>
                  <a:pt x="54038" y="314961"/>
                </a:lnTo>
                <a:lnTo>
                  <a:pt x="91379" y="343810"/>
                </a:lnTo>
                <a:lnTo>
                  <a:pt x="135452" y="362409"/>
                </a:lnTo>
                <a:lnTo>
                  <a:pt x="184499" y="368999"/>
                </a:lnTo>
                <a:lnTo>
                  <a:pt x="233547" y="362409"/>
                </a:lnTo>
                <a:lnTo>
                  <a:pt x="277620" y="343810"/>
                </a:lnTo>
                <a:lnTo>
                  <a:pt x="314961" y="314961"/>
                </a:lnTo>
                <a:lnTo>
                  <a:pt x="343810" y="277620"/>
                </a:lnTo>
                <a:lnTo>
                  <a:pt x="362409" y="233547"/>
                </a:lnTo>
                <a:lnTo>
                  <a:pt x="368999" y="184499"/>
                </a:lnTo>
                <a:close/>
              </a:path>
            </a:pathLst>
          </a:custGeom>
          <a:ln w="9524">
            <a:solidFill>
              <a:srgbClr val="0606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404D289-9057-B896-F020-15C063D76801}"/>
              </a:ext>
            </a:extLst>
          </p:cNvPr>
          <p:cNvSpPr txBox="1"/>
          <p:nvPr/>
        </p:nvSpPr>
        <p:spPr>
          <a:xfrm>
            <a:off x="8738781" y="4755906"/>
            <a:ext cx="130175" cy="273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00" spc="-50" dirty="0">
                <a:solidFill>
                  <a:srgbClr val="060609"/>
                </a:solidFill>
                <a:latin typeface="Microsoft Sans Serif"/>
                <a:cs typeface="Microsoft Sans Serif"/>
              </a:rPr>
              <a:t>&gt;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315AC45-815B-9EFB-6BE0-A5D9E16FFE79}"/>
              </a:ext>
            </a:extLst>
          </p:cNvPr>
          <p:cNvSpPr txBox="1"/>
          <p:nvPr/>
        </p:nvSpPr>
        <p:spPr>
          <a:xfrm>
            <a:off x="290962" y="4780938"/>
            <a:ext cx="113664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990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249" cy="5143500"/>
            <a:chOff x="0" y="0"/>
            <a:chExt cx="9144249" cy="5143500"/>
          </a:xfrm>
        </p:grpSpPr>
        <p:sp>
          <p:nvSpPr>
            <p:cNvPr id="3" name="object 3"/>
            <p:cNvSpPr/>
            <p:nvPr/>
          </p:nvSpPr>
          <p:spPr>
            <a:xfrm>
              <a:off x="6940799" y="0"/>
              <a:ext cx="2203450" cy="5143500"/>
            </a:xfrm>
            <a:custGeom>
              <a:avLst/>
              <a:gdLst/>
              <a:ahLst/>
              <a:cxnLst/>
              <a:rect l="l" t="t" r="r" b="b"/>
              <a:pathLst>
                <a:path w="2203450" h="5143500">
                  <a:moveTo>
                    <a:pt x="22031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2203199" y="0"/>
                  </a:lnTo>
                  <a:lnTo>
                    <a:pt x="2203199" y="5143499"/>
                  </a:lnTo>
                  <a:close/>
                </a:path>
              </a:pathLst>
            </a:custGeom>
            <a:solidFill>
              <a:srgbClr val="EA513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38594"/>
              <a:ext cx="9144000" cy="4070350"/>
            </a:xfrm>
            <a:custGeom>
              <a:avLst/>
              <a:gdLst/>
              <a:ahLst/>
              <a:cxnLst/>
              <a:rect l="l" t="t" r="r" b="b"/>
              <a:pathLst>
                <a:path w="9144000" h="4070350">
                  <a:moveTo>
                    <a:pt x="9144000" y="4060647"/>
                  </a:moveTo>
                  <a:lnTo>
                    <a:pt x="0" y="4060647"/>
                  </a:lnTo>
                  <a:lnTo>
                    <a:pt x="0" y="4070172"/>
                  </a:lnTo>
                  <a:lnTo>
                    <a:pt x="9144000" y="4070172"/>
                  </a:lnTo>
                  <a:lnTo>
                    <a:pt x="9144000" y="4060647"/>
                  </a:lnTo>
                  <a:close/>
                </a:path>
                <a:path w="9144000" h="4070350">
                  <a:moveTo>
                    <a:pt x="9144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6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3224" y="5699"/>
              <a:ext cx="8281670" cy="5132705"/>
            </a:xfrm>
            <a:custGeom>
              <a:avLst/>
              <a:gdLst/>
              <a:ahLst/>
              <a:cxnLst/>
              <a:rect l="l" t="t" r="r" b="b"/>
              <a:pathLst>
                <a:path w="8281670" h="5132705">
                  <a:moveTo>
                    <a:pt x="8281231" y="135612"/>
                  </a:moveTo>
                  <a:lnTo>
                    <a:pt x="7786831" y="135612"/>
                  </a:lnTo>
                </a:path>
                <a:path w="8281670" h="5132705">
                  <a:moveTo>
                    <a:pt x="8281231" y="214237"/>
                  </a:moveTo>
                  <a:lnTo>
                    <a:pt x="7786831" y="214237"/>
                  </a:lnTo>
                </a:path>
                <a:path w="8281670" h="5132705">
                  <a:moveTo>
                    <a:pt x="8281231" y="295237"/>
                  </a:moveTo>
                  <a:lnTo>
                    <a:pt x="7786831" y="295237"/>
                  </a:lnTo>
                </a:path>
                <a:path w="8281670" h="5132705">
                  <a:moveTo>
                    <a:pt x="8281231" y="377912"/>
                  </a:moveTo>
                  <a:lnTo>
                    <a:pt x="7786831" y="377912"/>
                  </a:lnTo>
                </a:path>
                <a:path w="8281670" h="5132705">
                  <a:moveTo>
                    <a:pt x="0" y="0"/>
                  </a:moveTo>
                  <a:lnTo>
                    <a:pt x="0" y="5132099"/>
                  </a:lnTo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61479" y="4704502"/>
              <a:ext cx="369570" cy="369570"/>
            </a:xfrm>
            <a:custGeom>
              <a:avLst/>
              <a:gdLst/>
              <a:ahLst/>
              <a:cxnLst/>
              <a:rect l="l" t="t" r="r" b="b"/>
              <a:pathLst>
                <a:path w="369570" h="369570">
                  <a:moveTo>
                    <a:pt x="0" y="184499"/>
                  </a:moveTo>
                  <a:lnTo>
                    <a:pt x="6590" y="135452"/>
                  </a:lnTo>
                  <a:lnTo>
                    <a:pt x="25189" y="91379"/>
                  </a:lnTo>
                  <a:lnTo>
                    <a:pt x="54038" y="54038"/>
                  </a:lnTo>
                  <a:lnTo>
                    <a:pt x="91379" y="25189"/>
                  </a:lnTo>
                  <a:lnTo>
                    <a:pt x="135452" y="6590"/>
                  </a:lnTo>
                  <a:lnTo>
                    <a:pt x="184499" y="0"/>
                  </a:lnTo>
                  <a:lnTo>
                    <a:pt x="255105" y="14044"/>
                  </a:lnTo>
                  <a:lnTo>
                    <a:pt x="314961" y="54038"/>
                  </a:lnTo>
                  <a:lnTo>
                    <a:pt x="354955" y="113894"/>
                  </a:lnTo>
                  <a:lnTo>
                    <a:pt x="368999" y="184499"/>
                  </a:lnTo>
                  <a:lnTo>
                    <a:pt x="362409" y="233547"/>
                  </a:lnTo>
                  <a:lnTo>
                    <a:pt x="343810" y="277620"/>
                  </a:lnTo>
                  <a:lnTo>
                    <a:pt x="314961" y="314961"/>
                  </a:lnTo>
                  <a:lnTo>
                    <a:pt x="277620" y="343810"/>
                  </a:lnTo>
                  <a:lnTo>
                    <a:pt x="233547" y="362409"/>
                  </a:lnTo>
                  <a:lnTo>
                    <a:pt x="184499" y="368999"/>
                  </a:lnTo>
                  <a:lnTo>
                    <a:pt x="135452" y="362409"/>
                  </a:lnTo>
                  <a:lnTo>
                    <a:pt x="91379" y="343810"/>
                  </a:lnTo>
                  <a:lnTo>
                    <a:pt x="54038" y="314961"/>
                  </a:lnTo>
                  <a:lnTo>
                    <a:pt x="25189" y="277620"/>
                  </a:lnTo>
                  <a:lnTo>
                    <a:pt x="6590" y="233547"/>
                  </a:lnTo>
                  <a:lnTo>
                    <a:pt x="0" y="184499"/>
                  </a:lnTo>
                  <a:close/>
                </a:path>
              </a:pathLst>
            </a:custGeom>
            <a:ln w="9524">
              <a:solidFill>
                <a:srgbClr val="0606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1460" y="2070655"/>
            <a:ext cx="415174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769">
              <a:lnSpc>
                <a:spcPct val="100000"/>
              </a:lnSpc>
              <a:spcBef>
                <a:spcPts val="100"/>
              </a:spcBef>
            </a:pPr>
            <a:r>
              <a:rPr lang="en-US" sz="4000" spc="-355" dirty="0"/>
              <a:t>Thank</a:t>
            </a:r>
            <a:r>
              <a:rPr lang="en-US" sz="4000" spc="-520" dirty="0"/>
              <a:t> </a:t>
            </a:r>
            <a:r>
              <a:rPr lang="en-US" sz="4000" spc="-20" dirty="0"/>
              <a:t>you! </a:t>
            </a:r>
            <a:br>
              <a:rPr lang="en-US" sz="4000" spc="-20" dirty="0"/>
            </a:br>
            <a:r>
              <a:rPr lang="en-US" sz="4000" spc="-20" dirty="0"/>
              <a:t>Any </a:t>
            </a:r>
            <a:r>
              <a:rPr lang="en-US" sz="4000" spc="-225" dirty="0"/>
              <a:t>q</a:t>
            </a:r>
            <a:r>
              <a:rPr sz="4000" spc="-225" dirty="0"/>
              <a:t>uestions?</a:t>
            </a:r>
            <a:endParaRPr sz="4000" dirty="0"/>
          </a:p>
        </p:txBody>
      </p:sp>
      <p:sp>
        <p:nvSpPr>
          <p:cNvPr id="9" name="object 9"/>
          <p:cNvSpPr txBox="1"/>
          <p:nvPr/>
        </p:nvSpPr>
        <p:spPr>
          <a:xfrm>
            <a:off x="289159" y="4779718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60609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6060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907</Words>
  <Application>Microsoft Office PowerPoint</Application>
  <PresentationFormat>On-screen Show (16:9)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Microsoft Sans Serif</vt:lpstr>
      <vt:lpstr>Office Theme</vt:lpstr>
      <vt:lpstr>VisioScience 3D - Platformă Web pentru Învățare prin Vizualizări 3D </vt:lpstr>
      <vt:lpstr>Purpose</vt:lpstr>
      <vt:lpstr>Market research and SoA</vt:lpstr>
      <vt:lpstr>Cerințele platformei</vt:lpstr>
      <vt:lpstr>Arhitectura backend</vt:lpstr>
      <vt:lpstr>Frontend Architecture</vt:lpstr>
      <vt:lpstr>3D Scenes</vt:lpstr>
      <vt:lpstr>Evaluation</vt:lpstr>
      <vt:lpstr>Problems</vt:lpstr>
      <vt:lpstr>Next steps</vt:lpstr>
      <vt:lpstr>Demo</vt:lpstr>
      <vt:lpstr>Thank you!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SCSS</dc:title>
  <cp:lastModifiedBy>Dragomir Andrei</cp:lastModifiedBy>
  <cp:revision>9</cp:revision>
  <dcterms:created xsi:type="dcterms:W3CDTF">2025-05-10T19:42:31Z</dcterms:created>
  <dcterms:modified xsi:type="dcterms:W3CDTF">2025-06-23T21:25:15Z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2025-05-10T00:00:00Z</vt:filetime>
  </property>
</Properties>
</file>