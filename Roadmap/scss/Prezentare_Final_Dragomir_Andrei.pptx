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66" r:id="rId3"/>
    <p:sldId id="258" r:id="rId4"/>
    <p:sldId id="259" r:id="rId5"/>
    <p:sldId id="263" r:id="rId6"/>
    <p:sldId id="267" r:id="rId7"/>
    <p:sldId id="284" r:id="rId8"/>
    <p:sldId id="279" r:id="rId9"/>
    <p:sldId id="282" r:id="rId10"/>
    <p:sldId id="281" r:id="rId11"/>
    <p:sldId id="268" r:id="rId12"/>
    <p:sldId id="283" r:id="rId13"/>
    <p:sldId id="269" r:id="rId14"/>
    <p:sldId id="277" r:id="rId15"/>
    <p:sldId id="270" r:id="rId16"/>
    <p:sldId id="271" r:id="rId17"/>
    <p:sldId id="265" r:id="rId18"/>
  </p:sldIdLst>
  <p:sldSz cx="9144000" cy="5143500" type="screen16x9"/>
  <p:notesSz cx="9144000" cy="5143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>
      <p:cViewPr varScale="1">
        <p:scale>
          <a:sx n="80" d="100"/>
          <a:sy n="80" d="100"/>
        </p:scale>
        <p:origin x="96" y="105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713274" y="0"/>
            <a:ext cx="8430895" cy="5143500"/>
          </a:xfrm>
          <a:custGeom>
            <a:avLst/>
            <a:gdLst/>
            <a:ahLst/>
            <a:cxnLst/>
            <a:rect l="l" t="t" r="r" b="b"/>
            <a:pathLst>
              <a:path w="8430895" h="5143500">
                <a:moveTo>
                  <a:pt x="0" y="5143499"/>
                </a:moveTo>
                <a:lnTo>
                  <a:pt x="8430724" y="5143499"/>
                </a:lnTo>
                <a:lnTo>
                  <a:pt x="8430724" y="0"/>
                </a:lnTo>
                <a:lnTo>
                  <a:pt x="0" y="0"/>
                </a:lnTo>
                <a:lnTo>
                  <a:pt x="0" y="5143499"/>
                </a:lnTo>
                <a:close/>
              </a:path>
            </a:pathLst>
          </a:custGeom>
          <a:solidFill>
            <a:srgbClr val="F3EEE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0"/>
            <a:ext cx="713740" cy="5143500"/>
          </a:xfrm>
          <a:custGeom>
            <a:avLst/>
            <a:gdLst/>
            <a:ahLst/>
            <a:cxnLst/>
            <a:rect l="l" t="t" r="r" b="b"/>
            <a:pathLst>
              <a:path w="713740" h="5143500">
                <a:moveTo>
                  <a:pt x="713274" y="0"/>
                </a:moveTo>
                <a:lnTo>
                  <a:pt x="713274" y="5143499"/>
                </a:lnTo>
                <a:lnTo>
                  <a:pt x="0" y="5143499"/>
                </a:lnTo>
                <a:lnTo>
                  <a:pt x="0" y="0"/>
                </a:lnTo>
                <a:lnTo>
                  <a:pt x="713274" y="0"/>
                </a:lnTo>
                <a:close/>
              </a:path>
            </a:pathLst>
          </a:custGeom>
          <a:solidFill>
            <a:srgbClr val="EA513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9144000" h="5143500">
                <a:moveTo>
                  <a:pt x="9144000" y="538594"/>
                </a:moveTo>
                <a:lnTo>
                  <a:pt x="717981" y="538594"/>
                </a:lnTo>
                <a:lnTo>
                  <a:pt x="717981" y="0"/>
                </a:lnTo>
                <a:lnTo>
                  <a:pt x="708456" y="0"/>
                </a:lnTo>
                <a:lnTo>
                  <a:pt x="708456" y="538594"/>
                </a:lnTo>
                <a:lnTo>
                  <a:pt x="0" y="538594"/>
                </a:lnTo>
                <a:lnTo>
                  <a:pt x="0" y="548119"/>
                </a:lnTo>
                <a:lnTo>
                  <a:pt x="708456" y="548119"/>
                </a:lnTo>
                <a:lnTo>
                  <a:pt x="708456" y="4599241"/>
                </a:lnTo>
                <a:lnTo>
                  <a:pt x="0" y="4599241"/>
                </a:lnTo>
                <a:lnTo>
                  <a:pt x="0" y="4608766"/>
                </a:lnTo>
                <a:lnTo>
                  <a:pt x="708456" y="4608766"/>
                </a:lnTo>
                <a:lnTo>
                  <a:pt x="708456" y="5143500"/>
                </a:lnTo>
                <a:lnTo>
                  <a:pt x="717981" y="5143500"/>
                </a:lnTo>
                <a:lnTo>
                  <a:pt x="717981" y="4608766"/>
                </a:lnTo>
                <a:lnTo>
                  <a:pt x="9144000" y="4608766"/>
                </a:lnTo>
                <a:lnTo>
                  <a:pt x="9144000" y="4599241"/>
                </a:lnTo>
                <a:lnTo>
                  <a:pt x="717981" y="4599241"/>
                </a:lnTo>
                <a:lnTo>
                  <a:pt x="717981" y="548119"/>
                </a:lnTo>
                <a:lnTo>
                  <a:pt x="9144000" y="548119"/>
                </a:lnTo>
                <a:lnTo>
                  <a:pt x="9144000" y="538594"/>
                </a:lnTo>
                <a:close/>
              </a:path>
            </a:pathLst>
          </a:custGeom>
          <a:solidFill>
            <a:srgbClr val="06060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8547224" y="141312"/>
            <a:ext cx="494665" cy="242570"/>
          </a:xfrm>
          <a:custGeom>
            <a:avLst/>
            <a:gdLst/>
            <a:ahLst/>
            <a:cxnLst/>
            <a:rect l="l" t="t" r="r" b="b"/>
            <a:pathLst>
              <a:path w="494665" h="242570">
                <a:moveTo>
                  <a:pt x="0" y="0"/>
                </a:moveTo>
                <a:lnTo>
                  <a:pt x="494399" y="0"/>
                </a:lnTo>
              </a:path>
              <a:path w="494665" h="242570">
                <a:moveTo>
                  <a:pt x="0" y="78624"/>
                </a:moveTo>
                <a:lnTo>
                  <a:pt x="494399" y="78624"/>
                </a:lnTo>
              </a:path>
              <a:path w="494665" h="242570">
                <a:moveTo>
                  <a:pt x="0" y="159624"/>
                </a:moveTo>
                <a:lnTo>
                  <a:pt x="494399" y="159624"/>
                </a:lnTo>
              </a:path>
              <a:path w="494665" h="242570">
                <a:moveTo>
                  <a:pt x="0" y="242299"/>
                </a:moveTo>
                <a:lnTo>
                  <a:pt x="494399" y="242299"/>
                </a:lnTo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191734" y="114428"/>
            <a:ext cx="310515" cy="296545"/>
          </a:xfrm>
          <a:custGeom>
            <a:avLst/>
            <a:gdLst/>
            <a:ahLst/>
            <a:cxnLst/>
            <a:rect l="l" t="t" r="r" b="b"/>
            <a:pathLst>
              <a:path w="310515" h="296545">
                <a:moveTo>
                  <a:pt x="230712" y="296075"/>
                </a:moveTo>
                <a:lnTo>
                  <a:pt x="155074" y="191091"/>
                </a:lnTo>
                <a:lnTo>
                  <a:pt x="78438" y="296009"/>
                </a:lnTo>
                <a:lnTo>
                  <a:pt x="46288" y="272331"/>
                </a:lnTo>
                <a:lnTo>
                  <a:pt x="122858" y="167347"/>
                </a:lnTo>
                <a:lnTo>
                  <a:pt x="0" y="127660"/>
                </a:lnTo>
                <a:lnTo>
                  <a:pt x="12339" y="89843"/>
                </a:lnTo>
                <a:lnTo>
                  <a:pt x="135197" y="129526"/>
                </a:lnTo>
                <a:lnTo>
                  <a:pt x="135197" y="0"/>
                </a:lnTo>
                <a:lnTo>
                  <a:pt x="174884" y="0"/>
                </a:lnTo>
                <a:lnTo>
                  <a:pt x="174884" y="129593"/>
                </a:lnTo>
                <a:lnTo>
                  <a:pt x="297809" y="89909"/>
                </a:lnTo>
                <a:lnTo>
                  <a:pt x="310148" y="127727"/>
                </a:lnTo>
                <a:lnTo>
                  <a:pt x="187223" y="167413"/>
                </a:lnTo>
                <a:lnTo>
                  <a:pt x="262858" y="272397"/>
                </a:lnTo>
                <a:lnTo>
                  <a:pt x="230712" y="296075"/>
                </a:lnTo>
                <a:close/>
              </a:path>
            </a:pathLst>
          </a:custGeom>
          <a:solidFill>
            <a:srgbClr val="06060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621763" y="2109216"/>
            <a:ext cx="2503804" cy="3759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0" i="0">
                <a:solidFill>
                  <a:srgbClr val="060609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290800" y="3280762"/>
            <a:ext cx="4507230" cy="5778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 u="sng">
                <a:solidFill>
                  <a:srgbClr val="060609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6/30/2025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0" i="0">
                <a:solidFill>
                  <a:srgbClr val="060609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100" b="0" i="0" u="sng">
                <a:solidFill>
                  <a:srgbClr val="060609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6/30/2025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0" i="0">
                <a:solidFill>
                  <a:srgbClr val="060609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876325" y="1211172"/>
            <a:ext cx="3640454" cy="35083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1" i="0">
                <a:solidFill>
                  <a:srgbClr val="06060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021975" y="1334997"/>
            <a:ext cx="3590290" cy="30892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1" i="0">
                <a:solidFill>
                  <a:srgbClr val="06060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6/30/2025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9144000" h="5143500">
                <a:moveTo>
                  <a:pt x="9143999" y="5143499"/>
                </a:moveTo>
                <a:lnTo>
                  <a:pt x="0" y="5143499"/>
                </a:lnTo>
                <a:lnTo>
                  <a:pt x="0" y="0"/>
                </a:lnTo>
                <a:lnTo>
                  <a:pt x="9143999" y="0"/>
                </a:lnTo>
                <a:lnTo>
                  <a:pt x="9143999" y="5143499"/>
                </a:lnTo>
                <a:close/>
              </a:path>
            </a:pathLst>
          </a:custGeom>
          <a:solidFill>
            <a:srgbClr val="F3EEE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0" i="0">
                <a:solidFill>
                  <a:srgbClr val="060609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6/30/2025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6/30/2025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9144000" h="5143500">
                <a:moveTo>
                  <a:pt x="9143999" y="5143499"/>
                </a:moveTo>
                <a:lnTo>
                  <a:pt x="0" y="5143499"/>
                </a:lnTo>
                <a:lnTo>
                  <a:pt x="0" y="0"/>
                </a:lnTo>
                <a:lnTo>
                  <a:pt x="9143999" y="0"/>
                </a:lnTo>
                <a:lnTo>
                  <a:pt x="9143999" y="5143499"/>
                </a:lnTo>
                <a:close/>
              </a:path>
            </a:pathLst>
          </a:custGeom>
          <a:solidFill>
            <a:srgbClr val="F3EEE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538587"/>
            <a:ext cx="9144000" cy="9525"/>
          </a:xfrm>
          <a:custGeom>
            <a:avLst/>
            <a:gdLst/>
            <a:ahLst/>
            <a:cxnLst/>
            <a:rect l="l" t="t" r="r" b="b"/>
            <a:pathLst>
              <a:path w="9144000" h="9525">
                <a:moveTo>
                  <a:pt x="0" y="9524"/>
                </a:moveTo>
                <a:lnTo>
                  <a:pt x="0" y="0"/>
                </a:lnTo>
                <a:lnTo>
                  <a:pt x="9143999" y="0"/>
                </a:lnTo>
                <a:lnTo>
                  <a:pt x="9143999" y="9524"/>
                </a:lnTo>
                <a:lnTo>
                  <a:pt x="0" y="9524"/>
                </a:lnTo>
                <a:close/>
              </a:path>
            </a:pathLst>
          </a:custGeom>
          <a:solidFill>
            <a:srgbClr val="06060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8449398" y="0"/>
            <a:ext cx="694690" cy="544830"/>
          </a:xfrm>
          <a:custGeom>
            <a:avLst/>
            <a:gdLst/>
            <a:ahLst/>
            <a:cxnLst/>
            <a:rect l="l" t="t" r="r" b="b"/>
            <a:pathLst>
              <a:path w="694690" h="544830">
                <a:moveTo>
                  <a:pt x="694601" y="544224"/>
                </a:moveTo>
                <a:lnTo>
                  <a:pt x="0" y="544224"/>
                </a:lnTo>
                <a:lnTo>
                  <a:pt x="0" y="0"/>
                </a:lnTo>
                <a:lnTo>
                  <a:pt x="694601" y="0"/>
                </a:lnTo>
                <a:lnTo>
                  <a:pt x="694601" y="544224"/>
                </a:lnTo>
                <a:close/>
              </a:path>
            </a:pathLst>
          </a:custGeom>
          <a:solidFill>
            <a:srgbClr val="EA513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8449398" y="0"/>
            <a:ext cx="694690" cy="544830"/>
          </a:xfrm>
          <a:custGeom>
            <a:avLst/>
            <a:gdLst/>
            <a:ahLst/>
            <a:cxnLst/>
            <a:rect l="l" t="t" r="r" b="b"/>
            <a:pathLst>
              <a:path w="694690" h="544830">
                <a:moveTo>
                  <a:pt x="694601" y="544224"/>
                </a:moveTo>
                <a:lnTo>
                  <a:pt x="0" y="544224"/>
                </a:lnTo>
                <a:lnTo>
                  <a:pt x="0" y="0"/>
                </a:lnTo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311970" y="566580"/>
            <a:ext cx="4520058" cy="53840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0" i="0">
                <a:solidFill>
                  <a:srgbClr val="060609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120505" y="1258076"/>
            <a:ext cx="5336540" cy="288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 u="sng">
                <a:solidFill>
                  <a:srgbClr val="060609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6/30/2025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xfrm>
            <a:off x="2209800" y="1859618"/>
            <a:ext cx="4800600" cy="13978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z="3000" b="1" spc="-185" dirty="0" err="1">
                <a:latin typeface="+mj-lt"/>
              </a:rPr>
              <a:t>VisioScience</a:t>
            </a:r>
            <a:r>
              <a:rPr lang="en-US" sz="3000" b="1" spc="-185" dirty="0">
                <a:latin typeface="+mj-lt"/>
              </a:rPr>
              <a:t> 3D </a:t>
            </a:r>
            <a:r>
              <a:rPr lang="en-US" sz="3000" spc="-185" dirty="0">
                <a:latin typeface="+mj-lt"/>
              </a:rPr>
              <a:t>- </a:t>
            </a:r>
            <a:r>
              <a:rPr lang="en-US" sz="3000" spc="-185" dirty="0" err="1">
                <a:latin typeface="+mj-lt"/>
              </a:rPr>
              <a:t>Platformă</a:t>
            </a:r>
            <a:r>
              <a:rPr lang="en-US" sz="3000" spc="-185" dirty="0">
                <a:latin typeface="+mj-lt"/>
              </a:rPr>
              <a:t> Web </a:t>
            </a:r>
            <a:r>
              <a:rPr lang="en-US" sz="3000" spc="-185" dirty="0" err="1">
                <a:latin typeface="+mj-lt"/>
              </a:rPr>
              <a:t>pentru</a:t>
            </a:r>
            <a:r>
              <a:rPr lang="en-US" sz="3000" spc="-185" dirty="0">
                <a:latin typeface="+mj-lt"/>
              </a:rPr>
              <a:t> </a:t>
            </a:r>
            <a:r>
              <a:rPr lang="en-US" sz="3000" spc="-185" dirty="0" err="1">
                <a:latin typeface="+mj-lt"/>
              </a:rPr>
              <a:t>Învățare</a:t>
            </a:r>
            <a:r>
              <a:rPr lang="en-US" sz="3000" spc="-185" dirty="0">
                <a:latin typeface="+mj-lt"/>
              </a:rPr>
              <a:t> </a:t>
            </a:r>
            <a:r>
              <a:rPr lang="en-US" sz="3000" spc="-185" dirty="0" err="1">
                <a:latin typeface="+mj-lt"/>
              </a:rPr>
              <a:t>prin</a:t>
            </a:r>
            <a:r>
              <a:rPr lang="en-US" sz="3000" spc="-185" dirty="0">
                <a:latin typeface="+mj-lt"/>
              </a:rPr>
              <a:t> </a:t>
            </a:r>
            <a:r>
              <a:rPr lang="en-US" sz="3000" spc="-185" dirty="0" err="1">
                <a:latin typeface="+mj-lt"/>
              </a:rPr>
              <a:t>Vizualizări</a:t>
            </a:r>
            <a:r>
              <a:rPr lang="en-US" sz="3000" spc="-185" dirty="0">
                <a:latin typeface="+mj-lt"/>
              </a:rPr>
              <a:t> 3D</a:t>
            </a:r>
            <a:br>
              <a:rPr lang="en-US" sz="3000" spc="-185" dirty="0">
                <a:latin typeface="+mj-lt"/>
              </a:rPr>
            </a:br>
            <a:endParaRPr sz="3000" dirty="0">
              <a:latin typeface="+mj-l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subTitle" idx="4"/>
          </p:nvPr>
        </p:nvSpPr>
        <p:spPr>
          <a:xfrm>
            <a:off x="1290800" y="3280762"/>
            <a:ext cx="5033800" cy="60054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3300"/>
              </a:lnSpc>
              <a:spcBef>
                <a:spcPts val="100"/>
              </a:spcBef>
            </a:pPr>
            <a:r>
              <a:rPr sz="1700" b="1" u="none" dirty="0">
                <a:latin typeface="+mj-lt"/>
                <a:cs typeface="Times New Roman" panose="02020603050405020304" pitchFamily="18" charset="0"/>
              </a:rPr>
              <a:t>Student:</a:t>
            </a:r>
            <a:r>
              <a:rPr sz="1700" b="1" u="none" spc="85" dirty="0">
                <a:latin typeface="+mj-lt"/>
                <a:cs typeface="Times New Roman" panose="02020603050405020304" pitchFamily="18" charset="0"/>
              </a:rPr>
              <a:t> </a:t>
            </a:r>
            <a:r>
              <a:rPr lang="en-US" sz="1700" u="none" dirty="0">
                <a:latin typeface="+mj-lt"/>
                <a:cs typeface="Times New Roman" panose="02020603050405020304" pitchFamily="18" charset="0"/>
              </a:rPr>
              <a:t>Dragomir Andrei-Mihai</a:t>
            </a:r>
          </a:p>
          <a:p>
            <a:pPr marL="12700" marR="5080">
              <a:lnSpc>
                <a:spcPct val="113300"/>
              </a:lnSpc>
              <a:spcBef>
                <a:spcPts val="100"/>
              </a:spcBef>
            </a:pPr>
            <a:r>
              <a:rPr lang="ro-RO" sz="1700" b="1" u="none" dirty="0">
                <a:latin typeface="+mj-lt"/>
                <a:cs typeface="Times New Roman" panose="02020603050405020304" pitchFamily="18" charset="0"/>
              </a:rPr>
              <a:t>Coordonator</a:t>
            </a:r>
            <a:r>
              <a:rPr sz="1700" b="1" u="none" spc="105" dirty="0">
                <a:latin typeface="+mj-lt"/>
                <a:cs typeface="Times New Roman" panose="02020603050405020304" pitchFamily="18" charset="0"/>
              </a:rPr>
              <a:t> </a:t>
            </a:r>
            <a:r>
              <a:rPr lang="ro-RO" sz="1700" b="1" u="none" spc="105" dirty="0">
                <a:latin typeface="+mj-lt"/>
                <a:cs typeface="Times New Roman" panose="02020603050405020304" pitchFamily="18" charset="0"/>
              </a:rPr>
              <a:t>științific</a:t>
            </a:r>
            <a:r>
              <a:rPr sz="1700" b="1" u="none" dirty="0">
                <a:latin typeface="+mj-lt"/>
                <a:cs typeface="Times New Roman" panose="02020603050405020304" pitchFamily="18" charset="0"/>
              </a:rPr>
              <a:t>:</a:t>
            </a:r>
            <a:r>
              <a:rPr sz="1700" b="1" u="none" spc="110" dirty="0">
                <a:latin typeface="+mj-lt"/>
                <a:cs typeface="Times New Roman" panose="02020603050405020304" pitchFamily="18" charset="0"/>
              </a:rPr>
              <a:t> </a:t>
            </a:r>
            <a:r>
              <a:rPr lang="en-US" sz="1700" u="none" spc="-145" dirty="0">
                <a:latin typeface="+mj-lt"/>
                <a:ea typeface="Microsoft Sans Serif" panose="020B0604020202020204" pitchFamily="34" charset="0"/>
                <a:cs typeface="Times New Roman" panose="02020603050405020304" pitchFamily="18" charset="0"/>
              </a:rPr>
              <a:t>Prof.  </a:t>
            </a:r>
            <a:r>
              <a:rPr lang="en-US" sz="1700" u="none" spc="-50" dirty="0">
                <a:latin typeface="+mj-lt"/>
                <a:ea typeface="Microsoft Sans Serif" panose="020B0604020202020204" pitchFamily="34" charset="0"/>
                <a:cs typeface="Times New Roman" panose="02020603050405020304" pitchFamily="18" charset="0"/>
              </a:rPr>
              <a:t>Dr.</a:t>
            </a:r>
            <a:r>
              <a:rPr lang="en-US" sz="1700" u="none" spc="110" dirty="0">
                <a:latin typeface="+mj-lt"/>
                <a:ea typeface="Microsoft Sans Serif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700" u="none" spc="-30" dirty="0">
                <a:latin typeface="+mj-lt"/>
                <a:ea typeface="Microsoft Sans Serif" panose="020B0604020202020204" pitchFamily="34" charset="0"/>
                <a:cs typeface="Times New Roman" panose="02020603050405020304" pitchFamily="18" charset="0"/>
              </a:rPr>
              <a:t>Ing Anca</a:t>
            </a:r>
            <a:r>
              <a:rPr lang="ro-RO" sz="1700" u="none" spc="-30" dirty="0">
                <a:latin typeface="+mj-lt"/>
                <a:ea typeface="Microsoft Sans Serif" panose="020B0604020202020204" pitchFamily="34" charset="0"/>
                <a:cs typeface="Times New Roman" panose="02020603050405020304" pitchFamily="18" charset="0"/>
              </a:rPr>
              <a:t>-Andreea</a:t>
            </a:r>
            <a:r>
              <a:rPr lang="en-US" sz="1700" u="none" spc="-30" dirty="0">
                <a:latin typeface="+mj-lt"/>
                <a:ea typeface="Microsoft Sans Serif" panose="020B0604020202020204" pitchFamily="34" charset="0"/>
                <a:cs typeface="Times New Roman" panose="02020603050405020304" pitchFamily="18" charset="0"/>
              </a:rPr>
              <a:t> Morar</a:t>
            </a:r>
            <a:endParaRPr sz="1700" dirty="0">
              <a:latin typeface="+mj-lt"/>
              <a:ea typeface="Microsoft Sans Serif" panose="020B06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8609913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8736978" y="4754382"/>
            <a:ext cx="13017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 dirty="0">
              <a:latin typeface="Microsoft Sans Serif"/>
              <a:cs typeface="Microsoft Sans Serif"/>
            </a:endParaRPr>
          </a:p>
        </p:txBody>
      </p: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419600" y="625448"/>
            <a:ext cx="2174349" cy="964750"/>
          </a:xfrm>
          <a:prstGeom prst="rect">
            <a:avLst/>
          </a:prstGeom>
        </p:spPr>
      </p:pic>
      <p:pic>
        <p:nvPicPr>
          <p:cNvPr id="12" name="Picture 11" descr="A logo with a building and text&#10;&#10;AI-generated content may be incorrect.">
            <a:extLst>
              <a:ext uri="{FF2B5EF4-FFF2-40B4-BE49-F238E27FC236}">
                <a16:creationId xmlns:a16="http://schemas.microsoft.com/office/drawing/2014/main" id="{15085DD7-3D0C-1FB5-A75A-DF34C762AA8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83300" y="551314"/>
            <a:ext cx="1107701" cy="111301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A2941F-D64C-10B0-7BFF-4A4057D41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72087F4B-EBFA-3A17-B49B-E82555D711D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14600" y="0"/>
            <a:ext cx="4520058" cy="533408"/>
          </a:xfrm>
          <a:prstGeom prst="rect">
            <a:avLst/>
          </a:prstGeom>
        </p:spPr>
        <p:txBody>
          <a:bodyPr vert="horz" wrap="square" lIns="0" tIns="71049" rIns="0" bIns="0" rtlCol="0">
            <a:spAutoFit/>
          </a:bodyPr>
          <a:lstStyle/>
          <a:p>
            <a:pPr marL="1288415">
              <a:lnSpc>
                <a:spcPct val="100000"/>
              </a:lnSpc>
              <a:spcBef>
                <a:spcPts val="100"/>
              </a:spcBef>
            </a:pPr>
            <a:r>
              <a:rPr lang="en-US" sz="3000" b="1" spc="-130" dirty="0">
                <a:latin typeface="+mj-lt"/>
              </a:rPr>
              <a:t>Motiva</a:t>
            </a:r>
            <a:r>
              <a:rPr lang="ro-RO" sz="3000" b="1" spc="-130" dirty="0">
                <a:latin typeface="+mj-lt"/>
              </a:rPr>
              <a:t>ție</a:t>
            </a:r>
            <a:endParaRPr sz="3000" b="1" spc="-130" dirty="0">
              <a:latin typeface="+mj-lt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63F052E7-B481-8651-C7FC-9BC639AE503A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DACCC59E-984B-A43B-9E13-60B8B38804CF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BC4ABAC2-A7F1-6C11-CA8B-BE48E3E888D6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7EADDD00-BC5F-3FC6-873E-901DCCD5827F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7A2032B-5587-837F-3897-4870C674F5F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487" y="1581150"/>
            <a:ext cx="1574483" cy="22098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ABB960D-F300-BA45-6E8C-342C40C999BD}"/>
              </a:ext>
            </a:extLst>
          </p:cNvPr>
          <p:cNvSpPr txBox="1"/>
          <p:nvPr/>
        </p:nvSpPr>
        <p:spPr>
          <a:xfrm>
            <a:off x="2311970" y="1276350"/>
            <a:ext cx="594360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+mj-lt"/>
              </a:rPr>
              <a:t>Transformarea</a:t>
            </a:r>
            <a:r>
              <a:rPr lang="en-US" dirty="0">
                <a:latin typeface="+mj-lt"/>
              </a:rPr>
              <a:t> </a:t>
            </a:r>
            <a:r>
              <a:rPr lang="en-US" dirty="0" err="1">
                <a:latin typeface="+mj-lt"/>
              </a:rPr>
              <a:t>predării</a:t>
            </a:r>
            <a:r>
              <a:rPr lang="en-US" dirty="0">
                <a:latin typeface="+mj-lt"/>
              </a:rPr>
              <a:t> </a:t>
            </a:r>
            <a:r>
              <a:rPr lang="en-US" dirty="0" err="1">
                <a:latin typeface="+mj-lt"/>
              </a:rPr>
              <a:t>științelor</a:t>
            </a:r>
            <a:r>
              <a:rPr lang="en-US" dirty="0">
                <a:latin typeface="+mj-lt"/>
              </a:rPr>
              <a:t> </a:t>
            </a:r>
            <a:r>
              <a:rPr lang="en-US" dirty="0" err="1">
                <a:latin typeface="+mj-lt"/>
              </a:rPr>
              <a:t>exacte</a:t>
            </a:r>
            <a:r>
              <a:rPr lang="en-US" dirty="0">
                <a:latin typeface="+mj-lt"/>
              </a:rPr>
              <a:t> </a:t>
            </a:r>
            <a:r>
              <a:rPr lang="en-US" dirty="0" err="1">
                <a:latin typeface="+mj-lt"/>
              </a:rPr>
              <a:t>într</a:t>
            </a:r>
            <a:r>
              <a:rPr lang="en-US" dirty="0">
                <a:latin typeface="+mj-lt"/>
              </a:rPr>
              <a:t>-o </a:t>
            </a:r>
            <a:r>
              <a:rPr lang="en-US" dirty="0" err="1">
                <a:latin typeface="+mj-lt"/>
              </a:rPr>
              <a:t>experiență</a:t>
            </a:r>
            <a:r>
              <a:rPr lang="en-US" dirty="0">
                <a:latin typeface="+mj-lt"/>
              </a:rPr>
              <a:t> </a:t>
            </a:r>
            <a:r>
              <a:rPr lang="en-US" dirty="0" err="1">
                <a:latin typeface="+mj-lt"/>
              </a:rPr>
              <a:t>captivantă</a:t>
            </a:r>
            <a:r>
              <a:rPr lang="en-US" dirty="0">
                <a:latin typeface="+mj-lt"/>
              </a:rPr>
              <a:t> </a:t>
            </a:r>
            <a:r>
              <a:rPr lang="en-US" dirty="0" err="1">
                <a:latin typeface="+mj-lt"/>
              </a:rPr>
              <a:t>și</a:t>
            </a:r>
            <a:r>
              <a:rPr lang="en-US" dirty="0">
                <a:latin typeface="+mj-lt"/>
              </a:rPr>
              <a:t> </a:t>
            </a:r>
            <a:r>
              <a:rPr lang="en-US" dirty="0" err="1">
                <a:latin typeface="+mj-lt"/>
              </a:rPr>
              <a:t>interactivă</a:t>
            </a:r>
            <a:r>
              <a:rPr lang="en-US" dirty="0">
                <a:latin typeface="+mj-lt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+mj-lt"/>
              </a:rPr>
              <a:t>Înlocuirea</a:t>
            </a:r>
            <a:r>
              <a:rPr lang="en-US" dirty="0">
                <a:latin typeface="+mj-lt"/>
              </a:rPr>
              <a:t> </a:t>
            </a:r>
            <a:r>
              <a:rPr lang="en-US" dirty="0" err="1">
                <a:latin typeface="+mj-lt"/>
              </a:rPr>
              <a:t>materialelor</a:t>
            </a:r>
            <a:r>
              <a:rPr lang="en-US" dirty="0">
                <a:latin typeface="+mj-lt"/>
              </a:rPr>
              <a:t> statice cu </a:t>
            </a:r>
            <a:r>
              <a:rPr lang="en-US" dirty="0" err="1">
                <a:latin typeface="+mj-lt"/>
              </a:rPr>
              <a:t>simulări</a:t>
            </a:r>
            <a:r>
              <a:rPr lang="en-US" dirty="0">
                <a:latin typeface="+mj-lt"/>
              </a:rPr>
              <a:t> </a:t>
            </a:r>
            <a:r>
              <a:rPr lang="en-US" dirty="0" err="1">
                <a:latin typeface="+mj-lt"/>
              </a:rPr>
              <a:t>dinamice</a:t>
            </a:r>
            <a:r>
              <a:rPr lang="en-US" dirty="0">
                <a:latin typeface="+mj-lt"/>
              </a:rPr>
              <a:t> </a:t>
            </a:r>
            <a:r>
              <a:rPr lang="en-US" dirty="0" err="1">
                <a:latin typeface="+mj-lt"/>
              </a:rPr>
              <a:t>și</a:t>
            </a:r>
            <a:r>
              <a:rPr lang="en-US" dirty="0">
                <a:latin typeface="+mj-lt"/>
              </a:rPr>
              <a:t> </a:t>
            </a:r>
            <a:r>
              <a:rPr lang="en-US" dirty="0" err="1">
                <a:latin typeface="+mj-lt"/>
              </a:rPr>
              <a:t>vizualizări</a:t>
            </a:r>
            <a:r>
              <a:rPr lang="en-US" dirty="0">
                <a:latin typeface="+mj-lt"/>
              </a:rPr>
              <a:t> 3D.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+mj-lt"/>
              </a:rPr>
              <a:t>Facilitarea</a:t>
            </a:r>
            <a:r>
              <a:rPr lang="en-US" dirty="0">
                <a:latin typeface="+mj-lt"/>
              </a:rPr>
              <a:t> </a:t>
            </a:r>
            <a:r>
              <a:rPr lang="en-US" dirty="0" err="1">
                <a:latin typeface="+mj-lt"/>
              </a:rPr>
              <a:t>înțelegerii</a:t>
            </a:r>
            <a:r>
              <a:rPr lang="en-US" dirty="0">
                <a:latin typeface="+mj-lt"/>
              </a:rPr>
              <a:t> </a:t>
            </a:r>
            <a:r>
              <a:rPr lang="en-US" dirty="0" err="1">
                <a:latin typeface="+mj-lt"/>
              </a:rPr>
              <a:t>conceptelor</a:t>
            </a:r>
            <a:r>
              <a:rPr lang="en-US" dirty="0">
                <a:latin typeface="+mj-lt"/>
              </a:rPr>
              <a:t> </a:t>
            </a:r>
            <a:r>
              <a:rPr lang="en-US" dirty="0" err="1">
                <a:latin typeface="+mj-lt"/>
              </a:rPr>
              <a:t>complexe</a:t>
            </a:r>
            <a:r>
              <a:rPr lang="en-US" dirty="0">
                <a:latin typeface="+mj-lt"/>
              </a:rPr>
              <a:t> (</a:t>
            </a:r>
            <a:r>
              <a:rPr lang="en-US" dirty="0" err="1">
                <a:latin typeface="+mj-lt"/>
              </a:rPr>
              <a:t>geometrie</a:t>
            </a:r>
            <a:r>
              <a:rPr lang="en-US" dirty="0">
                <a:latin typeface="+mj-lt"/>
              </a:rPr>
              <a:t>, </a:t>
            </a:r>
            <a:r>
              <a:rPr lang="en-US" dirty="0" err="1">
                <a:latin typeface="+mj-lt"/>
              </a:rPr>
              <a:t>fizică</a:t>
            </a:r>
            <a:r>
              <a:rPr lang="en-US" dirty="0">
                <a:latin typeface="+mj-lt"/>
              </a:rPr>
              <a:t>, </a:t>
            </a:r>
            <a:r>
              <a:rPr lang="en-US" dirty="0" err="1">
                <a:latin typeface="+mj-lt"/>
              </a:rPr>
              <a:t>chimie</a:t>
            </a:r>
            <a:r>
              <a:rPr lang="en-US" dirty="0">
                <a:latin typeface="+mj-lt"/>
              </a:rPr>
              <a:t>, </a:t>
            </a:r>
            <a:r>
              <a:rPr lang="en-US" dirty="0" err="1">
                <a:latin typeface="+mj-lt"/>
              </a:rPr>
              <a:t>informatică</a:t>
            </a:r>
            <a:r>
              <a:rPr lang="en-US" dirty="0">
                <a:latin typeface="+mj-lt"/>
              </a:rPr>
              <a:t>, </a:t>
            </a:r>
            <a:r>
              <a:rPr lang="en-US" dirty="0" err="1">
                <a:latin typeface="+mj-lt"/>
              </a:rPr>
              <a:t>astronomie</a:t>
            </a:r>
            <a:r>
              <a:rPr lang="en-US" dirty="0">
                <a:latin typeface="+mj-lt"/>
              </a:rPr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+mj-lt"/>
              </a:rPr>
              <a:t>Instrumente</a:t>
            </a:r>
            <a:r>
              <a:rPr lang="en-US" dirty="0">
                <a:latin typeface="+mj-lt"/>
              </a:rPr>
              <a:t> </a:t>
            </a:r>
            <a:r>
              <a:rPr lang="en-US" dirty="0" err="1">
                <a:latin typeface="+mj-lt"/>
              </a:rPr>
              <a:t>rapide</a:t>
            </a:r>
            <a:r>
              <a:rPr lang="en-US" dirty="0">
                <a:latin typeface="+mj-lt"/>
              </a:rPr>
              <a:t> </a:t>
            </a:r>
            <a:r>
              <a:rPr lang="en-US" dirty="0" err="1">
                <a:latin typeface="+mj-lt"/>
              </a:rPr>
              <a:t>pentru</a:t>
            </a:r>
            <a:r>
              <a:rPr lang="en-US" dirty="0">
                <a:latin typeface="+mj-lt"/>
              </a:rPr>
              <a:t> </a:t>
            </a:r>
            <a:r>
              <a:rPr lang="en-US" dirty="0" err="1">
                <a:latin typeface="+mj-lt"/>
              </a:rPr>
              <a:t>profesori</a:t>
            </a:r>
            <a:r>
              <a:rPr lang="en-US" dirty="0">
                <a:latin typeface="+mj-lt"/>
              </a:rPr>
              <a:t>: </a:t>
            </a:r>
            <a:r>
              <a:rPr lang="en-US" dirty="0" err="1">
                <a:latin typeface="+mj-lt"/>
              </a:rPr>
              <a:t>creare</a:t>
            </a:r>
            <a:r>
              <a:rPr lang="en-US" dirty="0">
                <a:latin typeface="+mj-lt"/>
              </a:rPr>
              <a:t> quiz-</a:t>
            </a:r>
            <a:r>
              <a:rPr lang="en-US" dirty="0" err="1">
                <a:latin typeface="+mj-lt"/>
              </a:rPr>
              <a:t>uri</a:t>
            </a:r>
            <a:r>
              <a:rPr lang="en-US" dirty="0">
                <a:latin typeface="+mj-lt"/>
              </a:rPr>
              <a:t> </a:t>
            </a:r>
            <a:r>
              <a:rPr lang="en-US" dirty="0" err="1">
                <a:latin typeface="+mj-lt"/>
              </a:rPr>
              <a:t>și</a:t>
            </a:r>
            <a:r>
              <a:rPr lang="en-US" dirty="0">
                <a:latin typeface="+mj-lt"/>
              </a:rPr>
              <a:t> </a:t>
            </a:r>
            <a:r>
              <a:rPr lang="en-US" dirty="0" err="1">
                <a:latin typeface="+mj-lt"/>
              </a:rPr>
              <a:t>monitorizare</a:t>
            </a:r>
            <a:r>
              <a:rPr lang="en-US" dirty="0">
                <a:latin typeface="+mj-lt"/>
              </a:rPr>
              <a:t> </a:t>
            </a:r>
            <a:r>
              <a:rPr lang="en-US" dirty="0" err="1">
                <a:latin typeface="+mj-lt"/>
              </a:rPr>
              <a:t>progres</a:t>
            </a:r>
            <a:r>
              <a:rPr lang="en-US" dirty="0">
                <a:latin typeface="+mj-lt"/>
              </a:rPr>
              <a:t> </a:t>
            </a:r>
            <a:r>
              <a:rPr lang="en-US" dirty="0" err="1">
                <a:latin typeface="+mj-lt"/>
              </a:rPr>
              <a:t>elevi</a:t>
            </a:r>
            <a:r>
              <a:rPr lang="en-US" dirty="0">
                <a:latin typeface="+mj-l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561106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0"/>
            <a:ext cx="6041826" cy="533408"/>
          </a:xfrm>
          <a:prstGeom prst="rect">
            <a:avLst/>
          </a:prstGeom>
        </p:spPr>
        <p:txBody>
          <a:bodyPr vert="horz" wrap="square" lIns="0" tIns="71049" rIns="0" bIns="0" rtlCol="0">
            <a:spAutoFit/>
          </a:bodyPr>
          <a:lstStyle/>
          <a:p>
            <a:pPr marL="1008380" algn="ctr">
              <a:lnSpc>
                <a:spcPct val="100000"/>
              </a:lnSpc>
              <a:spcBef>
                <a:spcPts val="100"/>
              </a:spcBef>
            </a:pPr>
            <a:r>
              <a:rPr lang="ro-RO" sz="3000" b="1" spc="-190" dirty="0">
                <a:latin typeface="+mj-lt"/>
              </a:rPr>
              <a:t>Abordări existente</a:t>
            </a:r>
            <a:endParaRPr sz="3000" b="1" spc="-165" dirty="0">
              <a:latin typeface="+mj-lt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759782" y="1123950"/>
            <a:ext cx="3755826" cy="3244478"/>
          </a:xfrm>
          <a:prstGeom prst="rect">
            <a:avLst/>
          </a:prstGeom>
        </p:spPr>
        <p:txBody>
          <a:bodyPr vert="horz" wrap="square" lIns="0" tIns="508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0"/>
              </a:spcBef>
            </a:pPr>
            <a:r>
              <a:rPr lang="ro-RO" sz="2000" b="1" dirty="0">
                <a:solidFill>
                  <a:srgbClr val="060609"/>
                </a:solidFill>
                <a:latin typeface="+mj-lt"/>
                <a:cs typeface="Arial"/>
              </a:rPr>
              <a:t>Phet Edu</a:t>
            </a:r>
            <a:endParaRPr lang="en-US" sz="2000" b="1" dirty="0">
              <a:solidFill>
                <a:srgbClr val="060609"/>
              </a:solidFill>
              <a:latin typeface="+mj-lt"/>
              <a:cs typeface="Arial"/>
            </a:endParaRPr>
          </a:p>
          <a:p>
            <a:pPr marL="469265" indent="-320040">
              <a:lnSpc>
                <a:spcPct val="100000"/>
              </a:lnSpc>
              <a:spcBef>
                <a:spcPts val="219"/>
              </a:spcBef>
              <a:buChar char="●"/>
              <a:tabLst>
                <a:tab pos="469265" algn="l"/>
              </a:tabLst>
            </a:pPr>
            <a:r>
              <a:rPr lang="en-US" sz="15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Nu are </a:t>
            </a:r>
            <a:r>
              <a:rPr lang="en-US" sz="15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suport</a:t>
            </a:r>
            <a:r>
              <a:rPr lang="en-US" sz="15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5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pentru</a:t>
            </a:r>
            <a:r>
              <a:rPr lang="en-US" sz="15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5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evaluare</a:t>
            </a:r>
            <a:r>
              <a:rPr lang="ro-RO" sz="15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a elevilor</a:t>
            </a:r>
            <a:r>
              <a:rPr lang="en-US" sz="15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endParaRPr lang="ro-RO" sz="1500" dirty="0">
              <a:solidFill>
                <a:srgbClr val="060609"/>
              </a:solidFill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469265" indent="-320040">
              <a:lnSpc>
                <a:spcPct val="100000"/>
              </a:lnSpc>
              <a:spcBef>
                <a:spcPts val="219"/>
              </a:spcBef>
              <a:buChar char="●"/>
              <a:tabLst>
                <a:tab pos="469265" algn="l"/>
              </a:tabLst>
            </a:pPr>
            <a:r>
              <a:rPr lang="en-US" sz="15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Oferă</a:t>
            </a:r>
            <a:r>
              <a:rPr lang="en-US" sz="15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5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elemente</a:t>
            </a:r>
            <a:r>
              <a:rPr lang="en-US" sz="15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5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vizuale</a:t>
            </a:r>
            <a:r>
              <a:rPr lang="en-US" sz="15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5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limitate</a:t>
            </a:r>
            <a:r>
              <a:rPr lang="en-US" sz="15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endParaRPr lang="ro-RO" sz="1500" dirty="0">
              <a:solidFill>
                <a:srgbClr val="060609"/>
              </a:solidFill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469265" indent="-320040">
              <a:lnSpc>
                <a:spcPct val="100000"/>
              </a:lnSpc>
              <a:spcBef>
                <a:spcPts val="219"/>
              </a:spcBef>
              <a:buChar char="●"/>
              <a:tabLst>
                <a:tab pos="469265" algn="l"/>
              </a:tabLst>
            </a:pPr>
            <a:r>
              <a:rPr lang="ro-RO" sz="15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Doar materii</a:t>
            </a:r>
            <a:r>
              <a:rPr lang="en-US" sz="15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de </a:t>
            </a:r>
            <a:r>
              <a:rPr lang="en-US" sz="15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bază</a:t>
            </a:r>
            <a:r>
              <a:rPr lang="en-US" sz="15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5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și</a:t>
            </a:r>
            <a:r>
              <a:rPr lang="en-US" sz="15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nu are </a:t>
            </a:r>
            <a:r>
              <a:rPr lang="en-US" sz="15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suport</a:t>
            </a:r>
            <a:r>
              <a:rPr lang="en-US" sz="15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5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pentru</a:t>
            </a:r>
            <a:r>
              <a:rPr lang="en-US" sz="15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5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informatică</a:t>
            </a:r>
            <a:r>
              <a:rPr lang="en-US" sz="15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5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sau</a:t>
            </a:r>
            <a:r>
              <a:rPr lang="en-US" sz="15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5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astronomie</a:t>
            </a:r>
            <a:r>
              <a:rPr lang="en-US" sz="15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endParaRPr sz="1500" dirty="0">
              <a:latin typeface="+mj-lt"/>
              <a:cs typeface="Microsoft Sans Serif"/>
            </a:endParaRPr>
          </a:p>
          <a:p>
            <a:pPr>
              <a:lnSpc>
                <a:spcPct val="100000"/>
              </a:lnSpc>
              <a:spcBef>
                <a:spcPts val="935"/>
              </a:spcBef>
              <a:buClr>
                <a:srgbClr val="060609"/>
              </a:buClr>
              <a:buFont typeface="Microsoft Sans Serif"/>
              <a:buChar char="●"/>
            </a:pPr>
            <a:endParaRPr sz="1200" dirty="0">
              <a:latin typeface="+mj-lt"/>
              <a:cs typeface="Microsoft Sans Serif"/>
            </a:endParaRPr>
          </a:p>
          <a:p>
            <a:pPr marL="12700">
              <a:lnSpc>
                <a:spcPct val="100000"/>
              </a:lnSpc>
            </a:pPr>
            <a:endParaRPr lang="ro-RO" b="1" spc="-10" dirty="0">
              <a:solidFill>
                <a:srgbClr val="060609"/>
              </a:solidFill>
              <a:latin typeface="+mj-lt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lang="ro-RO" sz="2000" b="1" spc="-10" dirty="0">
                <a:solidFill>
                  <a:srgbClr val="060609"/>
                </a:solidFill>
                <a:latin typeface="+mj-lt"/>
                <a:cs typeface="Arial"/>
              </a:rPr>
              <a:t>Invațămate</a:t>
            </a:r>
            <a:endParaRPr lang="en-US" sz="2000" b="1" spc="-10" dirty="0">
              <a:solidFill>
                <a:srgbClr val="060609"/>
              </a:solidFill>
              <a:latin typeface="+mj-lt"/>
              <a:cs typeface="Arial"/>
            </a:endParaRPr>
          </a:p>
          <a:p>
            <a:pPr marL="469265" indent="-320040">
              <a:lnSpc>
                <a:spcPct val="100000"/>
              </a:lnSpc>
              <a:spcBef>
                <a:spcPts val="215"/>
              </a:spcBef>
              <a:buChar char="●"/>
              <a:tabLst>
                <a:tab pos="469265" algn="l"/>
              </a:tabLst>
            </a:pPr>
            <a:r>
              <a:rPr lang="en-US" sz="15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Experiență</a:t>
            </a:r>
            <a:r>
              <a:rPr lang="en-US" sz="15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ro-RO" sz="15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de utilizare </a:t>
            </a:r>
            <a:r>
              <a:rPr lang="en-US" sz="15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suboptimă</a:t>
            </a:r>
            <a:r>
              <a:rPr lang="en-US" sz="15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endParaRPr lang="ro-RO" sz="1500" dirty="0">
              <a:solidFill>
                <a:srgbClr val="060609"/>
              </a:solidFill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469265" indent="-320040">
              <a:lnSpc>
                <a:spcPct val="100000"/>
              </a:lnSpc>
              <a:spcBef>
                <a:spcPts val="215"/>
              </a:spcBef>
              <a:buChar char="●"/>
              <a:tabLst>
                <a:tab pos="469265" algn="l"/>
              </a:tabLst>
            </a:pPr>
            <a:r>
              <a:rPr lang="it-IT" sz="15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Elemente vizuale </a:t>
            </a:r>
            <a:r>
              <a:rPr lang="ro-RO" sz="15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bazate pe Flash Player. </a:t>
            </a:r>
          </a:p>
          <a:p>
            <a:pPr marL="469265" indent="-320040">
              <a:lnSpc>
                <a:spcPct val="100000"/>
              </a:lnSpc>
              <a:spcBef>
                <a:spcPts val="215"/>
              </a:spcBef>
              <a:buChar char="●"/>
              <a:tabLst>
                <a:tab pos="469265" algn="l"/>
              </a:tabLst>
            </a:pPr>
            <a:r>
              <a:rPr lang="ro-RO" sz="15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M</a:t>
            </a:r>
            <a:r>
              <a:rPr lang="it-IT" sz="15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ateriale </a:t>
            </a:r>
            <a:r>
              <a:rPr lang="ro-RO" sz="15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integrate extern </a:t>
            </a:r>
            <a:r>
              <a:rPr lang="it-IT" sz="15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și chestionare </a:t>
            </a:r>
            <a:r>
              <a:rPr lang="ro-RO" sz="15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folosind </a:t>
            </a:r>
            <a:r>
              <a:rPr lang="it-IT" sz="15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Kahoo</a:t>
            </a:r>
            <a:r>
              <a:rPr lang="ro-RO" sz="15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t.</a:t>
            </a:r>
            <a:endParaRPr sz="1500" dirty="0"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058562" y="1123950"/>
            <a:ext cx="3922725" cy="2532553"/>
          </a:xfrm>
          <a:prstGeom prst="rect">
            <a:avLst/>
          </a:prstGeom>
        </p:spPr>
        <p:txBody>
          <a:bodyPr vert="horz" wrap="square" lIns="0" tIns="508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0"/>
              </a:spcBef>
            </a:pPr>
            <a:r>
              <a:rPr lang="ro-RO" sz="2000" b="1" spc="-10" dirty="0">
                <a:solidFill>
                  <a:srgbClr val="060609"/>
                </a:solidFill>
                <a:latin typeface="+mj-lt"/>
                <a:cs typeface="Arial"/>
              </a:rPr>
              <a:t>Mozaweb</a:t>
            </a:r>
            <a:endParaRPr lang="en-US" sz="2000" b="1" spc="-10" dirty="0">
              <a:solidFill>
                <a:srgbClr val="060609"/>
              </a:solidFill>
              <a:latin typeface="+mj-lt"/>
              <a:cs typeface="Arial"/>
            </a:endParaRPr>
          </a:p>
          <a:p>
            <a:pPr marL="469900" marR="5080" indent="-320675">
              <a:lnSpc>
                <a:spcPct val="114999"/>
              </a:lnSpc>
              <a:buChar char="●"/>
              <a:tabLst>
                <a:tab pos="469900" algn="l"/>
              </a:tabLst>
            </a:pPr>
            <a:r>
              <a:rPr lang="ro-RO" sz="15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N</a:t>
            </a:r>
            <a:r>
              <a:rPr lang="en-US" sz="15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ecesită</a:t>
            </a:r>
            <a:r>
              <a:rPr lang="en-US" sz="15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un plugin </a:t>
            </a:r>
            <a:r>
              <a:rPr lang="en-US" sz="15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exter</a:t>
            </a:r>
            <a:r>
              <a:rPr lang="ro-RO" sz="15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n pentru simulări.</a:t>
            </a:r>
          </a:p>
          <a:p>
            <a:pPr marL="469900" marR="5080" indent="-320675">
              <a:lnSpc>
                <a:spcPct val="114999"/>
              </a:lnSpc>
              <a:buChar char="●"/>
              <a:tabLst>
                <a:tab pos="469900" algn="l"/>
              </a:tabLst>
            </a:pPr>
            <a:r>
              <a:rPr lang="it-IT" sz="15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Accentul se pune pe </a:t>
            </a:r>
            <a:r>
              <a:rPr lang="ro-RO" sz="15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profit</a:t>
            </a:r>
            <a:r>
              <a:rPr lang="it-IT" sz="15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, </a:t>
            </a:r>
            <a:r>
              <a:rPr lang="ro-RO" sz="15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nu </a:t>
            </a:r>
            <a:r>
              <a:rPr lang="it-IT" sz="15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pe educația</a:t>
            </a:r>
            <a:r>
              <a:rPr lang="ro-RO" sz="15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accesibilă</a:t>
            </a:r>
            <a:r>
              <a:rPr lang="it-IT" sz="15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endParaRPr lang="ro-RO" sz="1500" dirty="0">
              <a:solidFill>
                <a:srgbClr val="060609"/>
              </a:solidFill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>
              <a:lnSpc>
                <a:spcPct val="100000"/>
              </a:lnSpc>
              <a:buClr>
                <a:srgbClr val="060609"/>
              </a:buClr>
              <a:buFont typeface="Microsoft Sans Serif"/>
              <a:buChar char="●"/>
            </a:pPr>
            <a:endParaRPr lang="ro-RO" sz="1200" dirty="0">
              <a:latin typeface="+mj-lt"/>
              <a:cs typeface="Microsoft Sans Serif"/>
            </a:endParaRPr>
          </a:p>
          <a:p>
            <a:pPr>
              <a:lnSpc>
                <a:spcPct val="100000"/>
              </a:lnSpc>
              <a:buClr>
                <a:srgbClr val="060609"/>
              </a:buClr>
              <a:buFont typeface="Microsoft Sans Serif"/>
              <a:buChar char="●"/>
            </a:pPr>
            <a:endParaRPr lang="ro-RO" sz="1200" dirty="0">
              <a:latin typeface="+mj-lt"/>
              <a:cs typeface="Microsoft Sans Serif"/>
            </a:endParaRPr>
          </a:p>
          <a:p>
            <a:pPr>
              <a:lnSpc>
                <a:spcPct val="100000"/>
              </a:lnSpc>
              <a:buClr>
                <a:srgbClr val="060609"/>
              </a:buClr>
              <a:buFont typeface="Microsoft Sans Serif"/>
              <a:buChar char="●"/>
            </a:pPr>
            <a:endParaRPr sz="1200" dirty="0">
              <a:latin typeface="+mj-lt"/>
              <a:cs typeface="Microsoft Sans Serif"/>
            </a:endParaRPr>
          </a:p>
          <a:p>
            <a:pPr marL="12700">
              <a:lnSpc>
                <a:spcPct val="100000"/>
              </a:lnSpc>
            </a:pPr>
            <a:r>
              <a:rPr lang="ro-RO" sz="2000" b="1" dirty="0">
                <a:solidFill>
                  <a:srgbClr val="060609"/>
                </a:solidFill>
                <a:latin typeface="+mj-lt"/>
                <a:cs typeface="Arial"/>
              </a:rPr>
              <a:t>Iqboard</a:t>
            </a:r>
            <a:endParaRPr lang="en-US" sz="2000" b="1" dirty="0">
              <a:solidFill>
                <a:srgbClr val="060609"/>
              </a:solidFill>
              <a:latin typeface="+mj-lt"/>
              <a:cs typeface="Arial"/>
            </a:endParaRPr>
          </a:p>
          <a:p>
            <a:pPr marL="469900" marR="118110" lvl="1" indent="-320675">
              <a:lnSpc>
                <a:spcPct val="114999"/>
              </a:lnSpc>
              <a:buChar char="●"/>
              <a:tabLst>
                <a:tab pos="469900" algn="l"/>
              </a:tabLst>
            </a:pPr>
            <a:r>
              <a:rPr lang="en-US" sz="15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Pre</a:t>
            </a:r>
            <a:r>
              <a:rPr lang="ro-RO" sz="15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țuri </a:t>
            </a:r>
            <a:r>
              <a:rPr lang="en-US" sz="15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foarte</a:t>
            </a:r>
            <a:r>
              <a:rPr lang="en-US" sz="15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5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mari</a:t>
            </a:r>
            <a:r>
              <a:rPr lang="en-US" sz="15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(</a:t>
            </a:r>
            <a:r>
              <a:rPr lang="en-US" sz="15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versiunea</a:t>
            </a:r>
            <a:r>
              <a:rPr lang="en-US" sz="15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de </a:t>
            </a:r>
            <a:r>
              <a:rPr lang="en-US" sz="15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bază</a:t>
            </a:r>
            <a:r>
              <a:rPr lang="en-US" sz="15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284€, </a:t>
            </a:r>
            <a:r>
              <a:rPr lang="en-US" sz="15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cea</a:t>
            </a:r>
            <a:r>
              <a:rPr lang="en-US" sz="15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expert 321€).</a:t>
            </a:r>
            <a:endParaRPr sz="1500" dirty="0"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pic>
        <p:nvPicPr>
          <p:cNvPr id="10" name="Picture 9" descr="A yellow and blue logo&#10;&#10;AI-generated content may be incorrect.">
            <a:extLst>
              <a:ext uri="{FF2B5EF4-FFF2-40B4-BE49-F238E27FC236}">
                <a16:creationId xmlns:a16="http://schemas.microsoft.com/office/drawing/2014/main" id="{DAE8CE68-55F7-294C-60A3-4A3A4DD8838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814" y="1200487"/>
            <a:ext cx="477455" cy="22550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CA3B345-610F-93CC-3803-A84CFE5B70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246" y="3028950"/>
            <a:ext cx="310779" cy="31077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1B8CC04-C431-0D8E-E7E8-28C0A1C96AB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01486" y="1169916"/>
            <a:ext cx="312915" cy="31291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B5E1B70-2E8A-0665-B4F7-54281366BB9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01485" y="2800350"/>
            <a:ext cx="312915" cy="31291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514600" y="-21273"/>
            <a:ext cx="4520058" cy="533408"/>
          </a:xfrm>
          <a:prstGeom prst="rect">
            <a:avLst/>
          </a:prstGeom>
        </p:spPr>
        <p:txBody>
          <a:bodyPr vert="horz" wrap="square" lIns="0" tIns="71049" rIns="0" bIns="0" rtlCol="0">
            <a:spAutoFit/>
          </a:bodyPr>
          <a:lstStyle/>
          <a:p>
            <a:pPr marL="367030">
              <a:lnSpc>
                <a:spcPct val="100000"/>
              </a:lnSpc>
              <a:spcBef>
                <a:spcPts val="100"/>
              </a:spcBef>
            </a:pPr>
            <a:r>
              <a:rPr lang="ro-RO" sz="3000" b="1" spc="-180" dirty="0">
                <a:latin typeface="+mj-lt"/>
              </a:rPr>
              <a:t>Specificarea cerințelor</a:t>
            </a:r>
            <a:endParaRPr sz="3000" b="1" spc="-135" dirty="0">
              <a:latin typeface="+mj-lt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762000" y="496549"/>
            <a:ext cx="7010400" cy="4421723"/>
          </a:xfrm>
          <a:prstGeom prst="rect">
            <a:avLst/>
          </a:prstGeom>
        </p:spPr>
        <p:txBody>
          <a:bodyPr vert="horz" wrap="square" lIns="0" tIns="50800" rIns="0" bIns="0" rtlCol="0">
            <a:spAutoFit/>
          </a:bodyPr>
          <a:lstStyle/>
          <a:p>
            <a:pPr marL="228600" indent="-228600">
              <a:buAutoNum type="arabicPeriod"/>
            </a:pPr>
            <a:r>
              <a:rPr lang="ro-RO" sz="1600" b="1" dirty="0">
                <a:latin typeface="+mn-lt"/>
              </a:rPr>
              <a:t>Cerințe </a:t>
            </a:r>
            <a:r>
              <a:rPr lang="en-US" sz="1600" b="1" dirty="0">
                <a:latin typeface="+mn-lt"/>
              </a:rPr>
              <a:t>Funcționale – </a:t>
            </a:r>
            <a:r>
              <a:rPr lang="en-US" sz="1600" b="1" dirty="0" err="1">
                <a:latin typeface="+mn-lt"/>
              </a:rPr>
              <a:t>Elevi</a:t>
            </a:r>
            <a:endParaRPr lang="ro-RO" sz="1600" b="1" dirty="0">
              <a:latin typeface="+mn-lt"/>
            </a:endParaRPr>
          </a:p>
          <a:p>
            <a:pPr marL="228600" indent="-228600">
              <a:buAutoNum type="arabicPeriod"/>
            </a:pPr>
            <a:endParaRPr lang="en-US" sz="1200" b="1" dirty="0">
              <a:latin typeface="+mn-lt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 err="1">
                <a:latin typeface="+mn-lt"/>
              </a:rPr>
              <a:t>Autentificare</a:t>
            </a:r>
            <a:r>
              <a:rPr lang="ro-RO" sz="1200" b="1" dirty="0">
                <a:latin typeface="+mn-lt"/>
              </a:rPr>
              <a:t>/</a:t>
            </a:r>
            <a:r>
              <a:rPr lang="en-US" sz="1200" b="1" dirty="0" err="1">
                <a:latin typeface="+mn-lt"/>
              </a:rPr>
              <a:t>Înregistrare</a:t>
            </a:r>
            <a:r>
              <a:rPr lang="en-US" sz="1200" dirty="0">
                <a:latin typeface="+mn-lt"/>
              </a:rPr>
              <a:t>: </a:t>
            </a:r>
            <a:r>
              <a:rPr lang="en-US" sz="1200" dirty="0" err="1">
                <a:latin typeface="+mn-lt"/>
              </a:rPr>
              <a:t>cont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securizat</a:t>
            </a:r>
            <a:r>
              <a:rPr lang="en-US" sz="1200" dirty="0">
                <a:latin typeface="+mn-lt"/>
              </a:rPr>
              <a:t>, date </a:t>
            </a:r>
            <a:r>
              <a:rPr lang="en-US" sz="1200" dirty="0" err="1">
                <a:latin typeface="+mn-lt"/>
              </a:rPr>
              <a:t>criptate</a:t>
            </a:r>
            <a:r>
              <a:rPr lang="ro-RO" sz="1200" dirty="0">
                <a:latin typeface="+mn-lt"/>
              </a:rPr>
              <a:t>.</a:t>
            </a:r>
            <a:endParaRPr lang="en-US" sz="1200" dirty="0">
              <a:latin typeface="+mn-lt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 err="1">
                <a:latin typeface="+mn-lt"/>
              </a:rPr>
              <a:t>Meniu</a:t>
            </a:r>
            <a:r>
              <a:rPr lang="en-US" sz="1200" b="1" dirty="0">
                <a:latin typeface="+mn-lt"/>
              </a:rPr>
              <a:t> 3D </a:t>
            </a:r>
            <a:r>
              <a:rPr lang="en-US" sz="1200" b="1" dirty="0" err="1">
                <a:latin typeface="+mn-lt"/>
              </a:rPr>
              <a:t>interactiv</a:t>
            </a:r>
            <a:r>
              <a:rPr lang="en-US" sz="1200" dirty="0">
                <a:latin typeface="+mn-lt"/>
              </a:rPr>
              <a:t>: </a:t>
            </a:r>
            <a:r>
              <a:rPr lang="en-US" sz="1200" dirty="0" err="1">
                <a:latin typeface="+mn-lt"/>
              </a:rPr>
              <a:t>explorare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materii</a:t>
            </a:r>
            <a:r>
              <a:rPr lang="en-US" sz="1200" dirty="0">
                <a:latin typeface="+mn-lt"/>
              </a:rPr>
              <a:t>, </a:t>
            </a:r>
            <a:r>
              <a:rPr lang="en-US" sz="1200" dirty="0" err="1">
                <a:latin typeface="+mn-lt"/>
              </a:rPr>
              <a:t>navigare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gamificată</a:t>
            </a:r>
            <a:r>
              <a:rPr lang="ro-RO" sz="1200" dirty="0">
                <a:latin typeface="+mn-lt"/>
              </a:rPr>
              <a:t>, selectare interactivă.</a:t>
            </a:r>
            <a:endParaRPr lang="en-US" sz="1200" dirty="0">
              <a:latin typeface="+mn-lt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>
                <a:latin typeface="+mn-lt"/>
              </a:rPr>
              <a:t>Module 3D</a:t>
            </a:r>
            <a:r>
              <a:rPr lang="en-US" sz="1200" dirty="0">
                <a:latin typeface="+mn-lt"/>
              </a:rPr>
              <a:t>: </a:t>
            </a:r>
            <a:r>
              <a:rPr lang="en-US" sz="1200" dirty="0" err="1">
                <a:latin typeface="+mn-lt"/>
              </a:rPr>
              <a:t>vizualizări</a:t>
            </a:r>
            <a:r>
              <a:rPr lang="en-US" sz="1200" dirty="0">
                <a:latin typeface="+mn-lt"/>
              </a:rPr>
              <a:t>, </a:t>
            </a:r>
            <a:r>
              <a:rPr lang="ro-RO" sz="1200" dirty="0">
                <a:latin typeface="+mn-lt"/>
              </a:rPr>
              <a:t>scene, animații, interacțiune cu ele, modificare structură elemente.</a:t>
            </a:r>
            <a:endParaRPr lang="en-US" sz="1200" dirty="0">
              <a:latin typeface="+mn-lt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 err="1">
                <a:latin typeface="+mn-lt"/>
              </a:rPr>
              <a:t>Manipulare</a:t>
            </a:r>
            <a:r>
              <a:rPr lang="en-US" sz="1200" b="1" dirty="0">
                <a:latin typeface="+mn-lt"/>
              </a:rPr>
              <a:t> scene</a:t>
            </a:r>
            <a:r>
              <a:rPr lang="en-US" sz="1200" dirty="0">
                <a:latin typeface="+mn-lt"/>
              </a:rPr>
              <a:t>: </a:t>
            </a:r>
            <a:r>
              <a:rPr lang="en-US" sz="1200" dirty="0" err="1">
                <a:latin typeface="+mn-lt"/>
              </a:rPr>
              <a:t>rotire</a:t>
            </a:r>
            <a:r>
              <a:rPr lang="en-US" sz="1200" dirty="0">
                <a:latin typeface="+mn-lt"/>
              </a:rPr>
              <a:t>, zoom, </a:t>
            </a:r>
            <a:r>
              <a:rPr lang="en-US" sz="1200" dirty="0" err="1">
                <a:latin typeface="+mn-lt"/>
              </a:rPr>
              <a:t>interacțiuni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în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timp</a:t>
            </a:r>
            <a:r>
              <a:rPr lang="en-US" sz="1200" dirty="0">
                <a:latin typeface="+mn-lt"/>
              </a:rPr>
              <a:t> real</a:t>
            </a:r>
            <a:r>
              <a:rPr lang="ro-RO" sz="1200" dirty="0">
                <a:latin typeface="+mn-lt"/>
              </a:rPr>
              <a:t>, forțe, detalii elemente, IDE 3D interactiv.</a:t>
            </a:r>
            <a:endParaRPr lang="en-US" sz="1200" dirty="0">
              <a:latin typeface="+mn-lt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>
                <a:latin typeface="+mn-lt"/>
              </a:rPr>
              <a:t>Teste &amp; </a:t>
            </a:r>
            <a:r>
              <a:rPr lang="en-US" sz="1200" b="1" dirty="0" err="1">
                <a:latin typeface="+mn-lt"/>
              </a:rPr>
              <a:t>rezultate</a:t>
            </a:r>
            <a:r>
              <a:rPr lang="en-US" sz="1200" dirty="0">
                <a:latin typeface="+mn-lt"/>
              </a:rPr>
              <a:t>: </a:t>
            </a:r>
            <a:r>
              <a:rPr lang="en-US" sz="1200" dirty="0" err="1">
                <a:latin typeface="+mn-lt"/>
              </a:rPr>
              <a:t>acces</a:t>
            </a:r>
            <a:r>
              <a:rPr lang="en-US" sz="1200" dirty="0">
                <a:latin typeface="+mn-lt"/>
              </a:rPr>
              <a:t>, </a:t>
            </a:r>
            <a:r>
              <a:rPr lang="en-US" sz="1200" dirty="0" err="1">
                <a:latin typeface="+mn-lt"/>
              </a:rPr>
              <a:t>rezolvare</a:t>
            </a:r>
            <a:r>
              <a:rPr lang="en-US" sz="1200" dirty="0">
                <a:latin typeface="+mn-lt"/>
              </a:rPr>
              <a:t>, </a:t>
            </a:r>
            <a:r>
              <a:rPr lang="en-US" sz="1200" dirty="0" err="1">
                <a:latin typeface="+mn-lt"/>
              </a:rPr>
              <a:t>retestare</a:t>
            </a:r>
            <a:r>
              <a:rPr lang="en-US" sz="1200" dirty="0">
                <a:latin typeface="+mn-lt"/>
              </a:rPr>
              <a:t>, </a:t>
            </a:r>
            <a:r>
              <a:rPr lang="en-US" sz="1200" dirty="0" err="1">
                <a:latin typeface="+mn-lt"/>
              </a:rPr>
              <a:t>panou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scoruri</a:t>
            </a:r>
            <a:r>
              <a:rPr lang="ro-RO" sz="1200" dirty="0">
                <a:latin typeface="+mn-lt"/>
              </a:rPr>
              <a:t>, panou recompense, insigne, provocări.</a:t>
            </a:r>
            <a:endParaRPr lang="en-US" sz="1200" dirty="0">
              <a:latin typeface="+mn-lt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>
                <a:latin typeface="+mn-lt"/>
              </a:rPr>
              <a:t>Clase &amp; </a:t>
            </a:r>
            <a:r>
              <a:rPr lang="en-US" sz="1200" b="1" dirty="0" err="1">
                <a:latin typeface="+mn-lt"/>
              </a:rPr>
              <a:t>invitații</a:t>
            </a:r>
            <a:r>
              <a:rPr lang="en-US" sz="1200" dirty="0">
                <a:latin typeface="+mn-lt"/>
              </a:rPr>
              <a:t>: </a:t>
            </a:r>
            <a:r>
              <a:rPr lang="en-US" sz="1200" dirty="0" err="1">
                <a:latin typeface="+mn-lt"/>
              </a:rPr>
              <a:t>aderare</a:t>
            </a:r>
            <a:r>
              <a:rPr lang="en-US" sz="1200" dirty="0">
                <a:latin typeface="+mn-lt"/>
              </a:rPr>
              <a:t>, </a:t>
            </a:r>
            <a:r>
              <a:rPr lang="en-US" sz="1200" dirty="0" err="1">
                <a:latin typeface="+mn-lt"/>
              </a:rPr>
              <a:t>notificări</a:t>
            </a:r>
            <a:r>
              <a:rPr lang="en-US" sz="1200" dirty="0">
                <a:latin typeface="+mn-lt"/>
              </a:rPr>
              <a:t>, accept/</a:t>
            </a:r>
            <a:r>
              <a:rPr lang="en-US" sz="1200" dirty="0" err="1">
                <a:latin typeface="+mn-lt"/>
              </a:rPr>
              <a:t>respinge</a:t>
            </a:r>
            <a:r>
              <a:rPr lang="ro-RO" sz="1200" dirty="0">
                <a:latin typeface="+mn-lt"/>
              </a:rPr>
              <a:t>, acces la testele și evaluările clasei.</a:t>
            </a:r>
          </a:p>
          <a:p>
            <a:endParaRPr lang="en-US" sz="1000" dirty="0">
              <a:latin typeface="+mn-lt"/>
            </a:endParaRPr>
          </a:p>
          <a:p>
            <a:r>
              <a:rPr lang="en-US" sz="1600" b="1" dirty="0">
                <a:latin typeface="+mn-lt"/>
              </a:rPr>
              <a:t>2. </a:t>
            </a:r>
            <a:r>
              <a:rPr lang="ro-RO" sz="1600" b="1" dirty="0">
                <a:latin typeface="+mn-lt"/>
              </a:rPr>
              <a:t>Cerințe </a:t>
            </a:r>
            <a:r>
              <a:rPr lang="en-US" sz="1600" b="1" dirty="0">
                <a:latin typeface="+mn-lt"/>
              </a:rPr>
              <a:t>Funcționale – </a:t>
            </a:r>
            <a:r>
              <a:rPr lang="en-US" sz="1600" b="1" dirty="0" err="1">
                <a:latin typeface="+mn-lt"/>
              </a:rPr>
              <a:t>Profesori</a:t>
            </a:r>
            <a:endParaRPr lang="ro-RO" sz="1600" b="1" dirty="0">
              <a:latin typeface="+mn-lt"/>
            </a:endParaRPr>
          </a:p>
          <a:p>
            <a:endParaRPr lang="en-US" sz="1200" b="1" dirty="0">
              <a:latin typeface="+mn-lt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 err="1">
                <a:latin typeface="+mn-lt"/>
              </a:rPr>
              <a:t>Autentificare</a:t>
            </a:r>
            <a:r>
              <a:rPr lang="ro-RO" sz="1200" b="1" dirty="0">
                <a:latin typeface="+mn-lt"/>
              </a:rPr>
              <a:t>/</a:t>
            </a:r>
            <a:r>
              <a:rPr lang="en-US" sz="1200" b="1" dirty="0" err="1">
                <a:latin typeface="+mn-lt"/>
              </a:rPr>
              <a:t>Profil</a:t>
            </a:r>
            <a:r>
              <a:rPr lang="en-US" sz="1200" dirty="0">
                <a:latin typeface="+mn-lt"/>
              </a:rPr>
              <a:t>: </a:t>
            </a:r>
            <a:r>
              <a:rPr lang="en-US" sz="1200" dirty="0" err="1">
                <a:latin typeface="+mn-lt"/>
              </a:rPr>
              <a:t>rol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profesor</a:t>
            </a:r>
            <a:r>
              <a:rPr lang="en-US" sz="1200" dirty="0">
                <a:latin typeface="+mn-lt"/>
              </a:rPr>
              <a:t>, </a:t>
            </a:r>
            <a:r>
              <a:rPr lang="en-US" sz="1200" dirty="0" err="1">
                <a:latin typeface="+mn-lt"/>
              </a:rPr>
              <a:t>gestionare</a:t>
            </a:r>
            <a:r>
              <a:rPr lang="en-US" sz="1200" dirty="0">
                <a:latin typeface="+mn-lt"/>
              </a:rPr>
              <a:t> date</a:t>
            </a:r>
            <a:r>
              <a:rPr lang="ro-RO" sz="1200" dirty="0">
                <a:latin typeface="+mn-lt"/>
              </a:rPr>
              <a:t>.</a:t>
            </a:r>
            <a:endParaRPr lang="en-US" sz="1200" dirty="0">
              <a:latin typeface="+mn-lt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 err="1">
                <a:latin typeface="+mn-lt"/>
              </a:rPr>
              <a:t>Administrare</a:t>
            </a:r>
            <a:r>
              <a:rPr lang="en-US" sz="1200" b="1" dirty="0">
                <a:latin typeface="+mn-lt"/>
              </a:rPr>
              <a:t> </a:t>
            </a:r>
            <a:r>
              <a:rPr lang="en-US" sz="1200" b="1" dirty="0" err="1">
                <a:latin typeface="+mn-lt"/>
              </a:rPr>
              <a:t>clase</a:t>
            </a:r>
            <a:r>
              <a:rPr lang="en-US" sz="1200" dirty="0">
                <a:latin typeface="+mn-lt"/>
              </a:rPr>
              <a:t>: </a:t>
            </a:r>
            <a:r>
              <a:rPr lang="en-US" sz="1200" dirty="0" err="1">
                <a:latin typeface="+mn-lt"/>
              </a:rPr>
              <a:t>creare</a:t>
            </a:r>
            <a:r>
              <a:rPr lang="ro-RO" sz="1200" dirty="0">
                <a:latin typeface="+mn-lt"/>
              </a:rPr>
              <a:t> clase de </a:t>
            </a:r>
            <a:r>
              <a:rPr lang="en-US" sz="1200" dirty="0" err="1">
                <a:latin typeface="+mn-lt"/>
              </a:rPr>
              <a:t>elevi</a:t>
            </a:r>
            <a:r>
              <a:rPr lang="en-US" sz="1200" dirty="0">
                <a:latin typeface="+mn-lt"/>
              </a:rPr>
              <a:t>, </a:t>
            </a:r>
            <a:r>
              <a:rPr lang="en-US" sz="1200" dirty="0" err="1">
                <a:latin typeface="+mn-lt"/>
              </a:rPr>
              <a:t>invitații</a:t>
            </a:r>
            <a:r>
              <a:rPr lang="ro-RO" sz="1200" dirty="0">
                <a:latin typeface="+mn-lt"/>
              </a:rPr>
              <a:t>, panou cu clasele și membrii.</a:t>
            </a:r>
            <a:endParaRPr lang="en-US" sz="1200" dirty="0">
              <a:latin typeface="+mn-lt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 err="1">
                <a:latin typeface="+mn-lt"/>
              </a:rPr>
              <a:t>Creare</a:t>
            </a:r>
            <a:r>
              <a:rPr lang="en-US" sz="1200" b="1" dirty="0">
                <a:latin typeface="+mn-lt"/>
              </a:rPr>
              <a:t> teste</a:t>
            </a:r>
            <a:r>
              <a:rPr lang="en-US" sz="1200" dirty="0">
                <a:latin typeface="+mn-lt"/>
              </a:rPr>
              <a:t>: </a:t>
            </a:r>
            <a:r>
              <a:rPr lang="en-US" sz="1200" dirty="0" err="1">
                <a:latin typeface="+mn-lt"/>
              </a:rPr>
              <a:t>structuri</a:t>
            </a:r>
            <a:r>
              <a:rPr lang="en-US" sz="1200" dirty="0">
                <a:latin typeface="+mn-lt"/>
              </a:rPr>
              <a:t>, </a:t>
            </a:r>
            <a:r>
              <a:rPr lang="en-US" sz="1200" dirty="0" err="1">
                <a:latin typeface="+mn-lt"/>
              </a:rPr>
              <a:t>parametri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evaluare</a:t>
            </a:r>
            <a:r>
              <a:rPr lang="en-US" sz="1200" dirty="0">
                <a:latin typeface="+mn-lt"/>
              </a:rPr>
              <a:t>, </a:t>
            </a:r>
            <a:r>
              <a:rPr lang="en-US" sz="1200" dirty="0" err="1">
                <a:latin typeface="+mn-lt"/>
              </a:rPr>
              <a:t>deschidere</a:t>
            </a:r>
            <a:r>
              <a:rPr lang="en-US" sz="1200" dirty="0">
                <a:latin typeface="+mn-lt"/>
              </a:rPr>
              <a:t>/</a:t>
            </a:r>
            <a:r>
              <a:rPr lang="en-US" sz="1200" dirty="0" err="1">
                <a:latin typeface="+mn-lt"/>
              </a:rPr>
              <a:t>blocare</a:t>
            </a:r>
            <a:r>
              <a:rPr lang="ro-RO" sz="1200" dirty="0">
                <a:latin typeface="+mn-lt"/>
              </a:rPr>
              <a:t> evaluări, vizualizare rezultate.</a:t>
            </a:r>
            <a:endParaRPr lang="en-US" sz="1200" dirty="0">
              <a:latin typeface="+mn-lt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 err="1">
                <a:latin typeface="+mn-lt"/>
              </a:rPr>
              <a:t>Monitorizare</a:t>
            </a:r>
            <a:r>
              <a:rPr lang="en-US" sz="1200" b="1" dirty="0">
                <a:latin typeface="+mn-lt"/>
              </a:rPr>
              <a:t> &amp; </a:t>
            </a:r>
            <a:r>
              <a:rPr lang="en-US" sz="1200" b="1" dirty="0" err="1">
                <a:latin typeface="+mn-lt"/>
              </a:rPr>
              <a:t>analiză</a:t>
            </a:r>
            <a:r>
              <a:rPr lang="en-US" sz="1200" dirty="0">
                <a:latin typeface="+mn-lt"/>
              </a:rPr>
              <a:t>: </a:t>
            </a:r>
            <a:r>
              <a:rPr lang="en-US" sz="1200" dirty="0" err="1">
                <a:latin typeface="+mn-lt"/>
              </a:rPr>
              <a:t>scoruri</a:t>
            </a:r>
            <a:r>
              <a:rPr lang="en-US" sz="1200" dirty="0">
                <a:latin typeface="+mn-lt"/>
              </a:rPr>
              <a:t>, </a:t>
            </a:r>
            <a:r>
              <a:rPr lang="en-US" sz="1200" dirty="0" err="1">
                <a:latin typeface="+mn-lt"/>
              </a:rPr>
              <a:t>statistici</a:t>
            </a:r>
            <a:r>
              <a:rPr lang="en-US" sz="1200" dirty="0">
                <a:latin typeface="+mn-lt"/>
              </a:rPr>
              <a:t>, </a:t>
            </a:r>
            <a:r>
              <a:rPr lang="en-US" sz="1200" dirty="0" err="1">
                <a:latin typeface="+mn-lt"/>
              </a:rPr>
              <a:t>filtrare</a:t>
            </a:r>
            <a:r>
              <a:rPr lang="ro-RO" sz="1200" dirty="0">
                <a:latin typeface="+mn-lt"/>
              </a:rPr>
              <a:t>, metrici de performanță per clasă, per test, per elev.</a:t>
            </a:r>
            <a:endParaRPr lang="en-US" sz="1200" dirty="0">
              <a:latin typeface="+mn-lt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 err="1">
                <a:latin typeface="+mn-lt"/>
              </a:rPr>
              <a:t>Resurse</a:t>
            </a:r>
            <a:r>
              <a:rPr lang="en-US" sz="1200" b="1" dirty="0">
                <a:latin typeface="+mn-lt"/>
              </a:rPr>
              <a:t> </a:t>
            </a:r>
            <a:r>
              <a:rPr lang="en-US" sz="1200" b="1" dirty="0" err="1">
                <a:latin typeface="+mn-lt"/>
              </a:rPr>
              <a:t>educaționale</a:t>
            </a:r>
            <a:r>
              <a:rPr lang="en-US" sz="1200" dirty="0">
                <a:latin typeface="+mn-lt"/>
              </a:rPr>
              <a:t>: </a:t>
            </a:r>
            <a:r>
              <a:rPr lang="en-US" sz="1200" dirty="0" err="1">
                <a:latin typeface="+mn-lt"/>
              </a:rPr>
              <a:t>acces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complet</a:t>
            </a:r>
            <a:r>
              <a:rPr lang="en-US" sz="1200" dirty="0">
                <a:latin typeface="+mn-lt"/>
              </a:rPr>
              <a:t> la </a:t>
            </a:r>
            <a:r>
              <a:rPr lang="en-US" sz="1200" dirty="0" err="1">
                <a:latin typeface="+mn-lt"/>
              </a:rPr>
              <a:t>materiale</a:t>
            </a:r>
            <a:r>
              <a:rPr lang="ro-RO" sz="1200" dirty="0">
                <a:latin typeface="+mn-lt"/>
              </a:rPr>
              <a:t>le platformei.</a:t>
            </a:r>
          </a:p>
          <a:p>
            <a:endParaRPr lang="en-US" sz="1000" dirty="0">
              <a:latin typeface="+mn-lt"/>
            </a:endParaRPr>
          </a:p>
          <a:p>
            <a:r>
              <a:rPr lang="en-US" sz="1600" b="1" dirty="0">
                <a:latin typeface="+mn-lt"/>
              </a:rPr>
              <a:t>3. Non-</a:t>
            </a:r>
            <a:r>
              <a:rPr lang="en-US" sz="1600" b="1" dirty="0" err="1">
                <a:latin typeface="+mn-lt"/>
              </a:rPr>
              <a:t>funcționale</a:t>
            </a:r>
            <a:endParaRPr lang="ro-RO" sz="1600" b="1" dirty="0">
              <a:latin typeface="+mn-lt"/>
            </a:endParaRPr>
          </a:p>
          <a:p>
            <a:endParaRPr lang="en-US" sz="1200" b="1" dirty="0">
              <a:latin typeface="+mn-lt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 err="1">
                <a:latin typeface="+mn-lt"/>
              </a:rPr>
              <a:t>Platformă</a:t>
            </a:r>
            <a:r>
              <a:rPr lang="en-US" sz="1200" b="1" dirty="0">
                <a:latin typeface="+mn-lt"/>
              </a:rPr>
              <a:t> web</a:t>
            </a:r>
            <a:r>
              <a:rPr lang="en-US" sz="1200" dirty="0">
                <a:latin typeface="+mn-lt"/>
              </a:rPr>
              <a:t>: </a:t>
            </a:r>
            <a:r>
              <a:rPr lang="en-US" sz="1200" dirty="0" err="1">
                <a:latin typeface="+mn-lt"/>
              </a:rPr>
              <a:t>fără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instalare</a:t>
            </a:r>
            <a:r>
              <a:rPr lang="en-US" sz="1200" dirty="0">
                <a:latin typeface="+mn-lt"/>
              </a:rPr>
              <a:t>, </a:t>
            </a:r>
            <a:r>
              <a:rPr lang="en-US" sz="1200" dirty="0" err="1">
                <a:latin typeface="+mn-lt"/>
              </a:rPr>
              <a:t>portabilitate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ridicată</a:t>
            </a:r>
            <a:r>
              <a:rPr lang="ro-RO" sz="1200" dirty="0">
                <a:latin typeface="+mn-lt"/>
              </a:rPr>
              <a:t>.</a:t>
            </a:r>
            <a:endParaRPr lang="en-US" sz="1200" dirty="0">
              <a:latin typeface="+mn-lt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 err="1">
                <a:latin typeface="+mn-lt"/>
              </a:rPr>
              <a:t>Performanță</a:t>
            </a:r>
            <a:r>
              <a:rPr lang="en-US" sz="1200" b="1" dirty="0">
                <a:latin typeface="+mn-lt"/>
              </a:rPr>
              <a:t> 3D</a:t>
            </a:r>
            <a:r>
              <a:rPr lang="en-US" sz="1200" dirty="0">
                <a:latin typeface="+mn-lt"/>
              </a:rPr>
              <a:t>: WebGL 1.0+ (ideal 2.0), ≥</a:t>
            </a:r>
            <a:r>
              <a:rPr lang="ro-RO" sz="1200" dirty="0">
                <a:latin typeface="+mn-lt"/>
              </a:rPr>
              <a:t>6</a:t>
            </a:r>
            <a:r>
              <a:rPr lang="en-US" sz="1200" dirty="0">
                <a:latin typeface="+mn-lt"/>
              </a:rPr>
              <a:t>0 fps</a:t>
            </a:r>
            <a:r>
              <a:rPr lang="ro-RO" sz="1200" dirty="0">
                <a:latin typeface="+mn-lt"/>
              </a:rPr>
              <a:t> la simulări.</a:t>
            </a:r>
            <a:endParaRPr lang="en-US" sz="1200" dirty="0">
              <a:latin typeface="+mn-lt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>
                <a:latin typeface="+mn-lt"/>
              </a:rPr>
              <a:t>Hardware minim</a:t>
            </a:r>
            <a:r>
              <a:rPr lang="en-US" sz="1200" dirty="0">
                <a:latin typeface="+mn-lt"/>
              </a:rPr>
              <a:t>: </a:t>
            </a:r>
            <a:r>
              <a:rPr lang="ro-RO" sz="1200" dirty="0">
                <a:latin typeface="+mn-lt"/>
              </a:rPr>
              <a:t>cerințe minime de rulare, minim de memorie GPU pentru modele și texturi.</a:t>
            </a:r>
            <a:endParaRPr lang="en-US" sz="1200" dirty="0">
              <a:latin typeface="+mn-lt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>
                <a:latin typeface="+mn-lt"/>
              </a:rPr>
              <a:t>UX</a:t>
            </a:r>
            <a:r>
              <a:rPr lang="en-US" sz="1200" dirty="0">
                <a:latin typeface="+mn-lt"/>
              </a:rPr>
              <a:t>: </a:t>
            </a:r>
            <a:r>
              <a:rPr lang="en-US" sz="1200" dirty="0" err="1">
                <a:latin typeface="+mn-lt"/>
              </a:rPr>
              <a:t>încărcare</a:t>
            </a:r>
            <a:r>
              <a:rPr lang="en-US" sz="1200" dirty="0">
                <a:latin typeface="+mn-lt"/>
              </a:rPr>
              <a:t> </a:t>
            </a:r>
            <a:r>
              <a:rPr lang="ro-RO" sz="1200" dirty="0">
                <a:latin typeface="+mn-lt"/>
              </a:rPr>
              <a:t>sub </a:t>
            </a:r>
            <a:r>
              <a:rPr lang="en-US" sz="1200" dirty="0">
                <a:latin typeface="+mn-lt"/>
              </a:rPr>
              <a:t>2s, </a:t>
            </a:r>
            <a:r>
              <a:rPr lang="en-US" sz="1200" dirty="0" err="1">
                <a:latin typeface="+mn-lt"/>
              </a:rPr>
              <a:t>interacțiuni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instantanee</a:t>
            </a:r>
            <a:r>
              <a:rPr lang="en-US" sz="1200" dirty="0">
                <a:latin typeface="+mn-lt"/>
              </a:rPr>
              <a:t>, </a:t>
            </a:r>
            <a:r>
              <a:rPr lang="ro-RO" sz="1200" dirty="0">
                <a:latin typeface="+mn-lt"/>
              </a:rPr>
              <a:t>navigare </a:t>
            </a:r>
            <a:r>
              <a:rPr lang="en-US" sz="1200" dirty="0" err="1">
                <a:latin typeface="+mn-lt"/>
              </a:rPr>
              <a:t>ghidat</a:t>
            </a:r>
            <a:r>
              <a:rPr lang="ro-RO" sz="1200" dirty="0">
                <a:latin typeface="+mn-lt"/>
              </a:rPr>
              <a:t>ă prin platformă.</a:t>
            </a:r>
            <a:endParaRPr lang="en-US" sz="1200" dirty="0">
              <a:latin typeface="+mn-l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/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2057400" y="19001"/>
            <a:ext cx="5791200" cy="530843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>
              <a:lnSpc>
                <a:spcPct val="100000"/>
              </a:lnSpc>
              <a:spcBef>
                <a:spcPts val="100"/>
              </a:spcBef>
            </a:pPr>
            <a:r>
              <a:rPr lang="ro-RO" sz="3000" b="1" spc="-185" dirty="0">
                <a:latin typeface="+mj-lt"/>
              </a:rPr>
              <a:t>Arhitectură Backend</a:t>
            </a:r>
            <a:endParaRPr sz="3000" b="1" dirty="0">
              <a:latin typeface="+mj-lt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pic>
        <p:nvPicPr>
          <p:cNvPr id="12" name="Picture 11" descr="A diagram of a company&#10;&#10;AI-generated content may be incorrect.">
            <a:extLst>
              <a:ext uri="{FF2B5EF4-FFF2-40B4-BE49-F238E27FC236}">
                <a16:creationId xmlns:a16="http://schemas.microsoft.com/office/drawing/2014/main" id="{E2A06A30-9990-E0D5-A96C-DC306308F8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0485" y="588724"/>
            <a:ext cx="5943599" cy="444086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065AC-046D-984B-BA64-02A10819F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7E8AF48D-A3BC-2867-053C-56991DB90036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A93AAE6E-2982-F7BF-65FD-4CC6B284D1E8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AD18B429-C45E-E38C-4806-E7504884CBDA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F96B8F29-883C-913D-7EE7-C1F9DAD04F3E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62EBD964-1EF4-B904-A678-B01D950F720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05000" y="17269"/>
            <a:ext cx="5791200" cy="530843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>
              <a:lnSpc>
                <a:spcPct val="100000"/>
              </a:lnSpc>
              <a:spcBef>
                <a:spcPts val="100"/>
              </a:spcBef>
            </a:pPr>
            <a:r>
              <a:rPr lang="ro-RO" sz="3000" b="1" spc="-185" dirty="0">
                <a:latin typeface="+mn-lt"/>
              </a:rPr>
              <a:t>Arhitectură </a:t>
            </a:r>
            <a:r>
              <a:rPr lang="en-US" sz="3000" b="1" spc="-185" dirty="0" err="1">
                <a:latin typeface="+mn-lt"/>
              </a:rPr>
              <a:t>Fronten</a:t>
            </a:r>
            <a:r>
              <a:rPr lang="ro-RO" sz="3000" b="1" spc="-185" dirty="0">
                <a:latin typeface="+mn-lt"/>
              </a:rPr>
              <a:t>d</a:t>
            </a:r>
            <a:endParaRPr sz="3000" b="1" dirty="0">
              <a:latin typeface="+mn-lt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0DCFAEB7-D7F7-11C2-D876-3D0772CF056D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C083FB7F-2983-2E0C-64BC-E40C142616EF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957D7088-03A4-F9E8-3212-CA0882B731EA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99146EF2-1D61-EA92-DB26-7CDDA1012129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pic>
        <p:nvPicPr>
          <p:cNvPr id="13" name="Picture 12" descr="A diagram of a flowchart&#10;&#10;AI-generated content may be incorrect.">
            <a:extLst>
              <a:ext uri="{FF2B5EF4-FFF2-40B4-BE49-F238E27FC236}">
                <a16:creationId xmlns:a16="http://schemas.microsoft.com/office/drawing/2014/main" id="{4BB2E5DB-F3B5-6113-7CD8-BB77F56BFF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90636"/>
            <a:ext cx="9144000" cy="2633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93680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BF34D-E565-56BF-C49A-21D124C84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54936A2F-D7B9-6841-19EC-491DFC0CC378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A9161EEC-D9B2-F7CD-6696-6C6800DC57E2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A2464274-D570-7BFA-FB80-91A232EDE340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104BBA61-C206-09C4-DE8D-ED54F13AC597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9E923DED-6916-6ECA-1802-00C103EFB273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1C813A18-7801-6CAC-6544-B28190661501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3893179B-C425-222C-5901-7C2D47B35B34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5E455282-8FF9-B2EF-BCD1-C0050F2DC622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A0D3CD-BA9A-C3A9-F3D0-7B2DE978C458}"/>
              </a:ext>
            </a:extLst>
          </p:cNvPr>
          <p:cNvSpPr txBox="1"/>
          <p:nvPr/>
        </p:nvSpPr>
        <p:spPr>
          <a:xfrm>
            <a:off x="290962" y="687314"/>
            <a:ext cx="8094760" cy="38779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sz="2000" b="1" dirty="0">
                <a:latin typeface="+mn-lt"/>
              </a:rPr>
              <a:t>Frontend &amp; 3D:</a:t>
            </a:r>
          </a:p>
          <a:p>
            <a:r>
              <a:rPr lang="ro-RO" sz="1600" dirty="0">
                <a:latin typeface="+mn-lt"/>
              </a:rPr>
              <a:t>  • JavaScript, React, R3F + Drei (Canvas, useGLTF</a:t>
            </a:r>
            <a:r>
              <a:rPr lang="en-US" sz="1600" dirty="0">
                <a:latin typeface="+mn-lt"/>
              </a:rPr>
              <a:t> </a:t>
            </a:r>
            <a:r>
              <a:rPr lang="ro-RO" sz="1600" dirty="0">
                <a:latin typeface="+mn-lt"/>
              </a:rPr>
              <a:t>încărcare model, useFrame bucle de actualizare, useMemo caching, useLoader încărcare asset-uri, useThree contextul scenei, useState pentru integrare cu React).</a:t>
            </a:r>
          </a:p>
          <a:p>
            <a:r>
              <a:rPr lang="ro-RO" sz="1600" dirty="0">
                <a:latin typeface="+mn-lt"/>
              </a:rPr>
              <a:t>  • Animații: implementare în apelurile useSpring.</a:t>
            </a:r>
          </a:p>
          <a:p>
            <a:r>
              <a:rPr lang="ro-RO" sz="1600" dirty="0">
                <a:latin typeface="+mn-lt"/>
              </a:rPr>
              <a:t>  • Optimizare: lazy loading modele, frustum și oclussion culling automat.</a:t>
            </a:r>
          </a:p>
          <a:p>
            <a:r>
              <a:rPr lang="ro-RO" sz="1600" dirty="0">
                <a:latin typeface="+mn-lt"/>
              </a:rPr>
              <a:t>  • UI: Tailwind CSS, TypeScript.</a:t>
            </a:r>
          </a:p>
          <a:p>
            <a:endParaRPr lang="ro-RO" dirty="0">
              <a:latin typeface="+mn-lt"/>
            </a:endParaRPr>
          </a:p>
          <a:p>
            <a:r>
              <a:rPr lang="ro-RO" sz="2000" b="1" dirty="0">
                <a:latin typeface="+mn-lt"/>
              </a:rPr>
              <a:t>Backend: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o-RO" sz="1600" dirty="0">
                <a:latin typeface="+mn-lt"/>
              </a:rPr>
              <a:t>Microservicii Go (Gorilla Mux, middleware JWT).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o-RO" sz="1600" dirty="0">
                <a:latin typeface="+mn-lt"/>
              </a:rPr>
              <a:t>Serviciu de compilare cod C++ cu antet de tracing dezvoltat manual.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o-RO" sz="1600" dirty="0">
                <a:latin typeface="+mn-lt"/>
              </a:rPr>
              <a:t>Observabilitate: Prometheus middleware + Grafana dashboards. 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o-RO" sz="1600" dirty="0">
                <a:latin typeface="+mn-lt"/>
              </a:rPr>
              <a:t>Containerizare &amp; Orchestrare: Docker + Kubernetes + Kong Ingress pentru expunere servicii.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o-RO" sz="1600" dirty="0">
                <a:latin typeface="+mn-lt"/>
              </a:rPr>
              <a:t>Bază de date MongoDB - comunicare prin CRUD cu BSON/JSON.</a:t>
            </a:r>
          </a:p>
          <a:p>
            <a:endParaRPr lang="en-US" sz="1200" dirty="0">
              <a:latin typeface="+mn-lt"/>
            </a:endParaRPr>
          </a:p>
        </p:txBody>
      </p:sp>
      <p:sp>
        <p:nvSpPr>
          <p:cNvPr id="14" name="object 6">
            <a:extLst>
              <a:ext uri="{FF2B5EF4-FFF2-40B4-BE49-F238E27FC236}">
                <a16:creationId xmlns:a16="http://schemas.microsoft.com/office/drawing/2014/main" id="{A5A60D01-9BCD-5E4B-B4D9-96F92D73CDF5}"/>
              </a:ext>
            </a:extLst>
          </p:cNvPr>
          <p:cNvSpPr txBox="1">
            <a:spLocks/>
          </p:cNvSpPr>
          <p:nvPr/>
        </p:nvSpPr>
        <p:spPr>
          <a:xfrm>
            <a:off x="2343365" y="6993"/>
            <a:ext cx="5791200" cy="530843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>
            <a:lvl1pPr>
              <a:defRPr sz="2500" b="0" i="0">
                <a:solidFill>
                  <a:srgbClr val="060609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marL="1083945">
              <a:spcBef>
                <a:spcPts val="100"/>
              </a:spcBef>
            </a:pPr>
            <a:r>
              <a:rPr lang="ro-RO" sz="3000" b="1" spc="-185" dirty="0">
                <a:latin typeface="+mn-lt"/>
              </a:rPr>
              <a:t>Implementare</a:t>
            </a:r>
            <a:endParaRPr lang="ro-RO" sz="3000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2877371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26216-34DB-BCE9-9E51-B1AAE6A05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2FCCC15D-A45F-3176-AB74-58047EEACE40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2CD4F60B-A2E0-64B3-6913-92ED44E6B855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59C628F3-3730-51A6-19DE-088DDEF2CF60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68A11ED6-65E6-FD94-1617-47C928D15397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9B167CAF-7A61-48B2-5A16-1AE7FFECE298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BFED4DF5-CA1F-1DB5-8CAD-2748EC836076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E850B24C-62F1-B171-1452-32E4CDA8FF74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 dirty="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2705EF6C-8137-2AB1-9366-FF4AEF51ADA7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 dirty="0">
              <a:latin typeface="Arial"/>
              <a:cs typeface="Arial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1199B6B-FD83-4D5C-E1CF-E4C8B68A16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19150"/>
            <a:ext cx="6725886" cy="331730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04D4635-1405-330F-D5A9-F424660417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223" y="819150"/>
            <a:ext cx="2076064" cy="3317308"/>
          </a:xfrm>
          <a:prstGeom prst="rect">
            <a:avLst/>
          </a:prstGeom>
        </p:spPr>
      </p:pic>
      <p:sp>
        <p:nvSpPr>
          <p:cNvPr id="12" name="object 6">
            <a:extLst>
              <a:ext uri="{FF2B5EF4-FFF2-40B4-BE49-F238E27FC236}">
                <a16:creationId xmlns:a16="http://schemas.microsoft.com/office/drawing/2014/main" id="{94082500-2460-B63F-6016-87772A1C77A8}"/>
              </a:ext>
            </a:extLst>
          </p:cNvPr>
          <p:cNvSpPr txBox="1">
            <a:spLocks/>
          </p:cNvSpPr>
          <p:nvPr/>
        </p:nvSpPr>
        <p:spPr>
          <a:xfrm>
            <a:off x="2343365" y="6993"/>
            <a:ext cx="5791200" cy="530843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>
            <a:lvl1pPr>
              <a:defRPr sz="2500" b="0" i="0">
                <a:solidFill>
                  <a:srgbClr val="060609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marL="1083945">
              <a:spcBef>
                <a:spcPts val="100"/>
              </a:spcBef>
            </a:pPr>
            <a:r>
              <a:rPr lang="ro-RO" sz="3000" b="1" spc="-185" dirty="0">
                <a:latin typeface="+mn-lt"/>
              </a:rPr>
              <a:t>Implementare</a:t>
            </a:r>
            <a:endParaRPr lang="ro-RO" sz="3000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584624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0AA0D-DA21-F82B-99D5-BF3B8EB46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DDA2D680-56BA-AAD3-12FC-24A957474D22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57E98F94-0ACB-14BE-1D25-30E17D19DFC8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438039EB-E9EF-1790-1C74-07A114D84B75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B855A919-29D1-78AE-95A4-CB55171E90F3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514FDC3C-F633-A2E2-60D6-1F4703E761A0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0676A8B7-794F-A910-E40A-4F883DA0B7CE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514E2A56-CE93-7BB5-197A-72864B64DFA2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 dirty="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572C0745-8D6E-EE0A-EAC7-07DA9F19F16D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 dirty="0">
              <a:latin typeface="Arial"/>
              <a:cs typeface="Arial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6C1CEC5-6A9D-9385-36EE-1BC216E3FC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12" y="563699"/>
            <a:ext cx="1981288" cy="261268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0C09325-BC0E-837C-DB72-57D753F6D3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0" y="2987325"/>
            <a:ext cx="2427518" cy="208847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961AB80-7DF7-2BCE-99A6-8DC05458DE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9483" y="554173"/>
            <a:ext cx="2127458" cy="218189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103C70BB-4053-20C1-09A3-8FAE39B5B2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74" y="3355048"/>
            <a:ext cx="5943600" cy="176933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A24828D6-28D2-D62F-383E-04E434B9EB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34167" y="592282"/>
            <a:ext cx="3606416" cy="1909279"/>
          </a:xfrm>
          <a:prstGeom prst="rect">
            <a:avLst/>
          </a:prstGeom>
        </p:spPr>
      </p:pic>
      <p:sp>
        <p:nvSpPr>
          <p:cNvPr id="14" name="object 6">
            <a:extLst>
              <a:ext uri="{FF2B5EF4-FFF2-40B4-BE49-F238E27FC236}">
                <a16:creationId xmlns:a16="http://schemas.microsoft.com/office/drawing/2014/main" id="{3D933ECC-CCD8-494E-285E-49988CEDBEE2}"/>
              </a:ext>
            </a:extLst>
          </p:cNvPr>
          <p:cNvSpPr txBox="1">
            <a:spLocks/>
          </p:cNvSpPr>
          <p:nvPr/>
        </p:nvSpPr>
        <p:spPr>
          <a:xfrm>
            <a:off x="2343365" y="6993"/>
            <a:ext cx="5791200" cy="530843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>
            <a:lvl1pPr>
              <a:defRPr sz="2500" b="0" i="0">
                <a:solidFill>
                  <a:srgbClr val="060609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marL="1083945">
              <a:spcBef>
                <a:spcPts val="100"/>
              </a:spcBef>
            </a:pPr>
            <a:r>
              <a:rPr lang="ro-RO" sz="3000" b="1" spc="-185" dirty="0">
                <a:latin typeface="+mn-lt"/>
              </a:rPr>
              <a:t>Implementare</a:t>
            </a:r>
            <a:endParaRPr lang="ro-RO" sz="3000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492613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A0FB73-2152-B080-904B-729EB1877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79147331-A946-E599-FDB4-92A755465B84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E943E5BD-491E-B234-CA01-0FFE6C4E8F3F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C395E0D6-599A-3617-0870-F0C9014414E6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F66E4808-5B83-959A-59C7-AFB79F02B124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2FCB2484-7579-F458-8762-CA25CDAEB810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D48DEB51-765A-15DB-43BE-8ABA850ADDCE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9B4EAAE9-DB2F-97D7-147B-26F3803F6B7F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 dirty="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BB7D5843-B5E9-5BA9-E703-EAB4BEC218E7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 dirty="0">
              <a:latin typeface="Arial"/>
              <a:cs typeface="Arial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29BA44E-C27A-298B-B025-6BF38A0D66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962" y="558342"/>
            <a:ext cx="5735744" cy="248083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FF29402-FAF3-CB5C-44F3-34CDD98EF2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95" y="3028950"/>
            <a:ext cx="6421543" cy="211297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9C0416A-B4A1-9F88-52CA-5EA9B3688B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2569" y="1497929"/>
            <a:ext cx="1903579" cy="3062043"/>
          </a:xfrm>
          <a:prstGeom prst="rect">
            <a:avLst/>
          </a:prstGeom>
        </p:spPr>
      </p:pic>
      <p:sp>
        <p:nvSpPr>
          <p:cNvPr id="12" name="object 6">
            <a:extLst>
              <a:ext uri="{FF2B5EF4-FFF2-40B4-BE49-F238E27FC236}">
                <a16:creationId xmlns:a16="http://schemas.microsoft.com/office/drawing/2014/main" id="{420CEC1F-AAA5-813F-E0B6-DBDC9936E48C}"/>
              </a:ext>
            </a:extLst>
          </p:cNvPr>
          <p:cNvSpPr txBox="1">
            <a:spLocks/>
          </p:cNvSpPr>
          <p:nvPr/>
        </p:nvSpPr>
        <p:spPr>
          <a:xfrm>
            <a:off x="2343365" y="6993"/>
            <a:ext cx="5791200" cy="530843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>
            <a:lvl1pPr>
              <a:defRPr sz="2500" b="0" i="0">
                <a:solidFill>
                  <a:srgbClr val="060609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marL="1083945">
              <a:spcBef>
                <a:spcPts val="100"/>
              </a:spcBef>
            </a:pPr>
            <a:r>
              <a:rPr lang="ro-RO" sz="3000" b="1" spc="-185" dirty="0">
                <a:latin typeface="+mn-lt"/>
              </a:rPr>
              <a:t>Implementare</a:t>
            </a:r>
            <a:endParaRPr lang="ro-RO" sz="3000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616995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24944B-6980-9340-2DCB-5E779DFFD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912615F3-0FD9-9973-FBC7-4201FC0837A8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6D2FD2B5-9059-D8FE-6E4A-6434AE94A39F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4D6C4AB8-BC8E-83A5-66E5-87D4CA935774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955BD673-D0D3-66E9-AA29-1C144F31C856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2CD0DE01-344A-BA1D-0720-5F216563315A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ED41213F-7710-A3A1-ECC1-0BB38FB9A6AC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C8AC0F99-F91A-8E9B-89DF-97C45836759B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 dirty="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3A61CD2A-4F91-540B-22E7-01658F12A555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 dirty="0">
              <a:latin typeface="Arial"/>
              <a:cs typeface="Arial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F756216-5636-FD07-9EA0-437849B33D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92" y="651722"/>
            <a:ext cx="9050016" cy="4449434"/>
          </a:xfrm>
          <a:prstGeom prst="rect">
            <a:avLst/>
          </a:prstGeom>
        </p:spPr>
      </p:pic>
      <p:sp>
        <p:nvSpPr>
          <p:cNvPr id="14" name="object 6">
            <a:extLst>
              <a:ext uri="{FF2B5EF4-FFF2-40B4-BE49-F238E27FC236}">
                <a16:creationId xmlns:a16="http://schemas.microsoft.com/office/drawing/2014/main" id="{DF09E6EB-3A09-E8E0-6B41-C13E7847EA89}"/>
              </a:ext>
            </a:extLst>
          </p:cNvPr>
          <p:cNvSpPr txBox="1">
            <a:spLocks/>
          </p:cNvSpPr>
          <p:nvPr/>
        </p:nvSpPr>
        <p:spPr>
          <a:xfrm>
            <a:off x="2343365" y="6993"/>
            <a:ext cx="5791200" cy="530843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>
            <a:lvl1pPr>
              <a:defRPr sz="2500" b="0" i="0">
                <a:solidFill>
                  <a:srgbClr val="060609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marL="1083945">
              <a:spcBef>
                <a:spcPts val="100"/>
              </a:spcBef>
            </a:pPr>
            <a:r>
              <a:rPr lang="ro-RO" sz="3000" b="1" spc="-185" dirty="0">
                <a:latin typeface="+mn-lt"/>
              </a:rPr>
              <a:t>Implementare</a:t>
            </a:r>
            <a:endParaRPr lang="ro-RO" sz="3000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609096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52B1F-8296-50EE-C7C8-D6133A70B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75C2B945-D306-17AD-3CED-2D8EAF4D3FA6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B497C6B8-B74B-3C8D-823A-D8743F3A140D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3BF19D3B-2A03-2758-74EB-84C2F28EF32A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2B730068-D57A-0C3F-D3C3-16DD985AD976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E04DF35E-E49F-772C-0482-56C138925B93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19775AE6-65BB-4521-E9F1-FAE8F95EC399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3E77BAFF-2FEE-C3E5-4D41-F9DFA29919AE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 dirty="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A09263B9-28F6-39B5-CB0C-B76AF47B32B9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 dirty="0">
              <a:latin typeface="Arial"/>
              <a:cs typeface="Arial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2CE3A13-EF81-0646-6680-A1A58E3726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2151" y="554174"/>
            <a:ext cx="3413849" cy="234123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5BA3E22-BAF9-5D6D-AF58-DFD2126C0A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064" y="565863"/>
            <a:ext cx="2280913" cy="254062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C087E7E-0186-2650-F020-723180D2E3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7698" y="554173"/>
            <a:ext cx="2505456" cy="224665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10E8936-84BD-DAA4-6788-C49EE13DD0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931" y="3298973"/>
            <a:ext cx="4333596" cy="177509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DBA4769-89ED-4D4A-7633-915C89CE69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4758" y="2998708"/>
            <a:ext cx="3464640" cy="2102448"/>
          </a:xfrm>
          <a:prstGeom prst="rect">
            <a:avLst/>
          </a:prstGeom>
        </p:spPr>
      </p:pic>
      <p:sp>
        <p:nvSpPr>
          <p:cNvPr id="23" name="object 6">
            <a:extLst>
              <a:ext uri="{FF2B5EF4-FFF2-40B4-BE49-F238E27FC236}">
                <a16:creationId xmlns:a16="http://schemas.microsoft.com/office/drawing/2014/main" id="{AE7D283D-4785-DD8C-09A9-3800621EC04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343365" y="6993"/>
            <a:ext cx="5791200" cy="530843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>
              <a:lnSpc>
                <a:spcPct val="100000"/>
              </a:lnSpc>
              <a:spcBef>
                <a:spcPts val="100"/>
              </a:spcBef>
            </a:pPr>
            <a:r>
              <a:rPr lang="ro-RO" sz="3000" b="1" spc="-185" dirty="0">
                <a:latin typeface="+mn-lt"/>
              </a:rPr>
              <a:t>Implementare</a:t>
            </a:r>
            <a:endParaRPr sz="3000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041119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59463-9383-BB3E-35FC-C93827120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D8A59429-FD58-95A3-2E0C-E2FB4F1136E6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1814A390-04EE-291D-0350-BB58C3E5A7BF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582BCA21-0159-9507-A6D3-CCB8B1EE56E9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294DF472-D27E-B7C3-0935-C3C984AAB5C1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6E33C6B3-6EA9-FE7A-A8F8-E37434A2CA18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1FC30674-7B85-DE9B-574D-EF59EF80505C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856E441E-53BF-D7CE-014A-570E1F2CE75B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954569F4-EFF8-1737-D90C-0524BC9267C5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B2EA86-1C32-B4D4-12CC-CBECEE8EBEB2}"/>
              </a:ext>
            </a:extLst>
          </p:cNvPr>
          <p:cNvSpPr txBox="1"/>
          <p:nvPr/>
        </p:nvSpPr>
        <p:spPr>
          <a:xfrm>
            <a:off x="76200" y="422700"/>
            <a:ext cx="80794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+mn-lt"/>
              </a:rPr>
              <a:t>Formular cu rating 1-5 </a:t>
            </a:r>
            <a:r>
              <a:rPr lang="en-US" dirty="0" err="1">
                <a:latin typeface="+mn-lt"/>
              </a:rPr>
              <a:t>pentru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interactivitate</a:t>
            </a:r>
            <a:r>
              <a:rPr lang="ro-RO" dirty="0">
                <a:latin typeface="+mn-lt"/>
              </a:rPr>
              <a:t>a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și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utilitate</a:t>
            </a:r>
            <a:r>
              <a:rPr lang="ro-RO" dirty="0">
                <a:latin typeface="+mn-lt"/>
              </a:rPr>
              <a:t>a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simulărilor</a:t>
            </a:r>
            <a:r>
              <a:rPr lang="en-US" dirty="0">
                <a:latin typeface="+mn-lt"/>
              </a:rPr>
              <a:t> 3D</a:t>
            </a:r>
            <a:r>
              <a:rPr lang="ro-RO" dirty="0">
                <a:latin typeface="+mn-lt"/>
              </a:rPr>
              <a:t>.</a:t>
            </a:r>
            <a:endParaRPr lang="en-US" dirty="0">
              <a:latin typeface="+mn-lt"/>
            </a:endParaRPr>
          </a:p>
        </p:txBody>
      </p:sp>
      <p:sp>
        <p:nvSpPr>
          <p:cNvPr id="9" name="object 6">
            <a:extLst>
              <a:ext uri="{FF2B5EF4-FFF2-40B4-BE49-F238E27FC236}">
                <a16:creationId xmlns:a16="http://schemas.microsoft.com/office/drawing/2014/main" id="{4B635B11-78A0-F7B1-F5D1-647F4630F56A}"/>
              </a:ext>
            </a:extLst>
          </p:cNvPr>
          <p:cNvSpPr txBox="1">
            <a:spLocks/>
          </p:cNvSpPr>
          <p:nvPr/>
        </p:nvSpPr>
        <p:spPr>
          <a:xfrm>
            <a:off x="2685907" y="19633"/>
            <a:ext cx="5791200" cy="530843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>
            <a:lvl1pPr>
              <a:defRPr sz="2500" b="0" i="0">
                <a:solidFill>
                  <a:srgbClr val="060609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marL="1083945">
              <a:spcBef>
                <a:spcPts val="100"/>
              </a:spcBef>
            </a:pPr>
            <a:r>
              <a:rPr lang="ro-RO" sz="3000" b="1" spc="-185" dirty="0">
                <a:latin typeface="+mn-lt"/>
              </a:rPr>
              <a:t>Evaluare</a:t>
            </a:r>
            <a:endParaRPr lang="ro-RO" sz="3000" b="1" dirty="0">
              <a:latin typeface="+mn-lt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F377680-E61C-9D73-B801-B2C143E71D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9342" y="2845614"/>
            <a:ext cx="4204666" cy="216900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E0523FC-5CC2-51FF-AD9B-EC413BFB42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282" y="1138011"/>
            <a:ext cx="5117898" cy="1610048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E2434087-1C67-F2C8-E2CE-C085D6E039FD}"/>
              </a:ext>
            </a:extLst>
          </p:cNvPr>
          <p:cNvSpPr txBox="1"/>
          <p:nvPr/>
        </p:nvSpPr>
        <p:spPr>
          <a:xfrm>
            <a:off x="76200" y="3012961"/>
            <a:ext cx="4419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+mj-lt"/>
              </a:rPr>
              <a:t>Dacă</a:t>
            </a:r>
            <a:r>
              <a:rPr lang="en-US" dirty="0">
                <a:latin typeface="+mj-lt"/>
              </a:rPr>
              <a:t> </a:t>
            </a:r>
            <a:r>
              <a:rPr lang="en-US" dirty="0" err="1">
                <a:latin typeface="+mj-lt"/>
              </a:rPr>
              <a:t>aș</a:t>
            </a:r>
            <a:r>
              <a:rPr lang="en-US" dirty="0">
                <a:latin typeface="+mj-lt"/>
              </a:rPr>
              <a:t> fi </a:t>
            </a:r>
            <a:r>
              <a:rPr lang="en-US" dirty="0" err="1">
                <a:latin typeface="+mj-lt"/>
              </a:rPr>
              <a:t>avut</a:t>
            </a:r>
            <a:r>
              <a:rPr lang="en-US" dirty="0">
                <a:latin typeface="+mj-lt"/>
              </a:rPr>
              <a:t> o </a:t>
            </a:r>
            <a:r>
              <a:rPr lang="en-US" dirty="0" err="1">
                <a:latin typeface="+mj-lt"/>
              </a:rPr>
              <a:t>platformă</a:t>
            </a:r>
            <a:r>
              <a:rPr lang="en-US" dirty="0">
                <a:latin typeface="+mj-lt"/>
              </a:rPr>
              <a:t> ca </a:t>
            </a:r>
            <a:r>
              <a:rPr lang="en-US" dirty="0" err="1">
                <a:latin typeface="+mj-lt"/>
              </a:rPr>
              <a:t>aceasta</a:t>
            </a:r>
            <a:r>
              <a:rPr lang="en-US" dirty="0">
                <a:latin typeface="+mj-lt"/>
              </a:rPr>
              <a:t> </a:t>
            </a:r>
            <a:r>
              <a:rPr lang="en-US" dirty="0" err="1">
                <a:latin typeface="+mj-lt"/>
              </a:rPr>
              <a:t>în</a:t>
            </a:r>
            <a:r>
              <a:rPr lang="en-US" dirty="0">
                <a:latin typeface="+mj-lt"/>
              </a:rPr>
              <a:t> </a:t>
            </a:r>
            <a:r>
              <a:rPr lang="en-US" dirty="0" err="1">
                <a:latin typeface="+mj-lt"/>
              </a:rPr>
              <a:t>liceu</a:t>
            </a:r>
            <a:r>
              <a:rPr lang="en-US" dirty="0">
                <a:latin typeface="+mj-lt"/>
              </a:rPr>
              <a:t>/</a:t>
            </a:r>
            <a:r>
              <a:rPr lang="en-US" dirty="0" err="1">
                <a:latin typeface="+mj-lt"/>
              </a:rPr>
              <a:t>gimnaziu</a:t>
            </a:r>
            <a:r>
              <a:rPr lang="en-US" dirty="0">
                <a:latin typeface="+mj-lt"/>
              </a:rPr>
              <a:t>, mi-</a:t>
            </a:r>
            <a:r>
              <a:rPr lang="en-US" dirty="0" err="1">
                <a:latin typeface="+mj-lt"/>
              </a:rPr>
              <a:t>ar</a:t>
            </a:r>
            <a:r>
              <a:rPr lang="en-US" dirty="0">
                <a:latin typeface="+mj-lt"/>
              </a:rPr>
              <a:t> fi </a:t>
            </a:r>
            <a:r>
              <a:rPr lang="en-US" dirty="0" err="1">
                <a:latin typeface="+mj-lt"/>
              </a:rPr>
              <a:t>îmbunătățit</a:t>
            </a:r>
            <a:r>
              <a:rPr lang="en-US" dirty="0">
                <a:latin typeface="+mj-lt"/>
              </a:rPr>
              <a:t> </a:t>
            </a:r>
            <a:r>
              <a:rPr lang="en-US" dirty="0" err="1">
                <a:latin typeface="+mj-lt"/>
              </a:rPr>
              <a:t>înțelegerea</a:t>
            </a:r>
            <a:r>
              <a:rPr lang="en-US" dirty="0">
                <a:latin typeface="+mj-lt"/>
              </a:rPr>
              <a:t> </a:t>
            </a:r>
            <a:r>
              <a:rPr lang="en-US" dirty="0" err="1">
                <a:latin typeface="+mj-lt"/>
              </a:rPr>
              <a:t>conceptelor</a:t>
            </a:r>
            <a:r>
              <a:rPr lang="en-US" dirty="0">
                <a:latin typeface="+mj-lt"/>
              </a:rPr>
              <a:t> la </a:t>
            </a:r>
            <a:r>
              <a:rPr lang="en-US" dirty="0" err="1">
                <a:latin typeface="+mj-lt"/>
              </a:rPr>
              <a:t>diferite</a:t>
            </a:r>
            <a:r>
              <a:rPr lang="en-US" dirty="0">
                <a:latin typeface="+mj-lt"/>
              </a:rPr>
              <a:t> </a:t>
            </a:r>
            <a:r>
              <a:rPr lang="en-US" dirty="0" err="1">
                <a:latin typeface="+mj-lt"/>
              </a:rPr>
              <a:t>materii</a:t>
            </a:r>
            <a:r>
              <a:rPr lang="en-US" dirty="0">
                <a:latin typeface="+mj-lt"/>
              </a:rPr>
              <a:t> din </a:t>
            </a:r>
            <a:r>
              <a:rPr lang="en-US" dirty="0" err="1">
                <a:latin typeface="+mj-lt"/>
              </a:rPr>
              <a:t>domeniul</a:t>
            </a:r>
            <a:r>
              <a:rPr lang="en-US" dirty="0">
                <a:latin typeface="+mj-lt"/>
              </a:rPr>
              <a:t> </a:t>
            </a:r>
            <a:r>
              <a:rPr lang="en-US" dirty="0" err="1">
                <a:latin typeface="+mj-lt"/>
              </a:rPr>
              <a:t>științific</a:t>
            </a:r>
            <a:r>
              <a:rPr lang="en-US" dirty="0">
                <a:latin typeface="+mj-lt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3733020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47976-CED6-B009-6D71-CE4C36279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561E64A9-4C28-E8FC-7FB3-C2ED575BDB48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2E357A92-CBDF-09E4-5BAF-6E400F58801B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B0AE8F6A-6CED-E086-E97F-302AA195E5BE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4337FD04-4CEB-A373-DE71-F02FF5D01201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96A617B2-524E-D8DE-3B06-2DDEEBE661D7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50A01186-B1DA-82E8-37FE-82E3FC92C56A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C27832B3-AAD7-7C56-4B7F-D35F5EF11638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BCC78BCD-8BBE-3AFC-96E0-90A488602B76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D505BE-BEAF-AB00-9E05-CBC62D015F38}"/>
              </a:ext>
            </a:extLst>
          </p:cNvPr>
          <p:cNvSpPr txBox="1"/>
          <p:nvPr/>
        </p:nvSpPr>
        <p:spPr>
          <a:xfrm>
            <a:off x="404626" y="1045366"/>
            <a:ext cx="8079434" cy="33547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err="1">
                <a:latin typeface="+mn-lt"/>
              </a:rPr>
              <a:t>Percepți</a:t>
            </a:r>
            <a:r>
              <a:rPr lang="ro-RO" sz="2000" b="1" dirty="0">
                <a:latin typeface="+mn-lt"/>
              </a:rPr>
              <a:t>a utilizatorilor</a:t>
            </a:r>
            <a:r>
              <a:rPr lang="en-US" sz="2000" b="1" dirty="0">
                <a:latin typeface="+mn-lt"/>
              </a:rPr>
              <a:t>:</a:t>
            </a:r>
            <a:r>
              <a:rPr lang="ro-RO" sz="2000" b="1" dirty="0">
                <a:latin typeface="+mn-lt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>
                <a:latin typeface="+mn-lt"/>
              </a:rPr>
              <a:t>Peste</a:t>
            </a:r>
            <a:r>
              <a:rPr lang="en-US" sz="1600" dirty="0">
                <a:latin typeface="+mn-lt"/>
              </a:rPr>
              <a:t> 90% </a:t>
            </a:r>
            <a:r>
              <a:rPr lang="ro-RO" sz="1600" dirty="0">
                <a:latin typeface="+mn-lt"/>
              </a:rPr>
              <a:t>din </a:t>
            </a:r>
            <a:r>
              <a:rPr lang="en-US" sz="1600" dirty="0" err="1">
                <a:latin typeface="+mn-lt"/>
              </a:rPr>
              <a:t>respondenț</a:t>
            </a:r>
            <a:r>
              <a:rPr lang="ro-RO" sz="1600" dirty="0">
                <a:latin typeface="+mn-lt"/>
              </a:rPr>
              <a:t>i au dat note </a:t>
            </a:r>
            <a:r>
              <a:rPr lang="en-US" sz="1600" dirty="0"/>
              <a:t>≥</a:t>
            </a:r>
            <a:r>
              <a:rPr lang="ro-RO" sz="1600" dirty="0">
                <a:latin typeface="+mn-lt"/>
              </a:rPr>
              <a:t> 3/5 la interactivitatea și utilitatea tuturor scenelor.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b="1" dirty="0">
              <a:latin typeface="+mn-lt"/>
            </a:endParaRPr>
          </a:p>
          <a:p>
            <a:r>
              <a:rPr lang="en-US" sz="2000" b="1" dirty="0" err="1">
                <a:latin typeface="+mn-lt"/>
              </a:rPr>
              <a:t>Metrici</a:t>
            </a:r>
            <a:r>
              <a:rPr lang="en-US" sz="2000" b="1" dirty="0">
                <a:latin typeface="+mn-lt"/>
              </a:rPr>
              <a:t> </a:t>
            </a:r>
            <a:r>
              <a:rPr lang="en-US" sz="2000" b="1" dirty="0" err="1">
                <a:latin typeface="+mn-lt"/>
              </a:rPr>
              <a:t>tehnice</a:t>
            </a:r>
            <a:r>
              <a:rPr lang="en-US" sz="2000" b="1" dirty="0">
                <a:latin typeface="+mn-lt"/>
              </a:rPr>
              <a:t>:</a:t>
            </a:r>
            <a:endParaRPr lang="ro-RO" sz="2000" b="1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+mn-lt"/>
              </a:rPr>
              <a:t>Timp </a:t>
            </a:r>
            <a:r>
              <a:rPr lang="en-US" sz="1600" dirty="0" err="1">
                <a:latin typeface="+mn-lt"/>
              </a:rPr>
              <a:t>mediu</a:t>
            </a:r>
            <a:r>
              <a:rPr lang="en-US" sz="1600" dirty="0">
                <a:latin typeface="+mn-lt"/>
              </a:rPr>
              <a:t> </a:t>
            </a:r>
            <a:r>
              <a:rPr lang="en-US" sz="1600" dirty="0" err="1">
                <a:latin typeface="+mn-lt"/>
              </a:rPr>
              <a:t>răspuns</a:t>
            </a:r>
            <a:r>
              <a:rPr lang="en-US" sz="1600" dirty="0">
                <a:latin typeface="+mn-lt"/>
              </a:rPr>
              <a:t> API</a:t>
            </a:r>
            <a:r>
              <a:rPr lang="ro-RO" sz="1600" dirty="0">
                <a:latin typeface="+mn-lt"/>
              </a:rPr>
              <a:t> </a:t>
            </a:r>
            <a:r>
              <a:rPr lang="en-US" sz="1600" dirty="0">
                <a:latin typeface="+mn-lt"/>
              </a:rPr>
              <a:t>&lt;</a:t>
            </a:r>
            <a:r>
              <a:rPr lang="ro-RO" sz="1600" dirty="0">
                <a:latin typeface="+mn-lt"/>
              </a:rPr>
              <a:t> </a:t>
            </a:r>
            <a:r>
              <a:rPr lang="en-US" sz="1600" dirty="0">
                <a:latin typeface="+mn-lt"/>
              </a:rPr>
              <a:t>250 </a:t>
            </a:r>
            <a:r>
              <a:rPr lang="en-US" sz="1600" dirty="0" err="1">
                <a:latin typeface="+mn-lt"/>
              </a:rPr>
              <a:t>ms</a:t>
            </a:r>
            <a:endParaRPr lang="ro-RO" sz="1600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+mn-lt"/>
              </a:rPr>
              <a:t>FPS </a:t>
            </a:r>
            <a:r>
              <a:rPr lang="en-US" sz="1600" dirty="0"/>
              <a:t>≥</a:t>
            </a:r>
            <a:r>
              <a:rPr lang="ro-RO" sz="1600" dirty="0"/>
              <a:t> </a:t>
            </a:r>
            <a:r>
              <a:rPr lang="en-US" sz="1600" dirty="0">
                <a:latin typeface="+mj-lt"/>
              </a:rPr>
              <a:t>60</a:t>
            </a:r>
            <a:r>
              <a:rPr lang="ro-RO" sz="1600" dirty="0"/>
              <a:t> </a:t>
            </a:r>
            <a:r>
              <a:rPr lang="en-US" sz="1600" dirty="0">
                <a:latin typeface="+mn-lt"/>
              </a:rPr>
              <a:t>constant</a:t>
            </a:r>
            <a:r>
              <a:rPr lang="ro-RO" sz="1600" dirty="0">
                <a:latin typeface="+mn-lt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sz="1600" dirty="0">
                <a:latin typeface="+mn-lt"/>
              </a:rPr>
              <a:t>Memorie </a:t>
            </a:r>
            <a:r>
              <a:rPr lang="en-US" sz="1600" dirty="0">
                <a:latin typeface="+mn-lt"/>
              </a:rPr>
              <a:t>&lt;</a:t>
            </a:r>
            <a:r>
              <a:rPr lang="ro-RO" sz="1600" dirty="0">
                <a:latin typeface="+mn-lt"/>
              </a:rPr>
              <a:t> </a:t>
            </a:r>
            <a:r>
              <a:rPr lang="en-US" sz="1600" dirty="0">
                <a:latin typeface="+mn-lt"/>
              </a:rPr>
              <a:t>200 MB per </a:t>
            </a:r>
            <a:r>
              <a:rPr lang="en-US" sz="1600" dirty="0" err="1">
                <a:latin typeface="+mn-lt"/>
              </a:rPr>
              <a:t>scenă</a:t>
            </a:r>
            <a:r>
              <a:rPr lang="ro-RO" sz="1600" dirty="0">
                <a:latin typeface="+mn-lt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b="1" dirty="0">
              <a:latin typeface="+mn-lt"/>
            </a:endParaRPr>
          </a:p>
          <a:p>
            <a:r>
              <a:rPr lang="en-US" sz="2000" b="1" dirty="0" err="1">
                <a:latin typeface="+mn-lt"/>
              </a:rPr>
              <a:t>Avantaj</a:t>
            </a:r>
            <a:r>
              <a:rPr lang="ro-RO" sz="2000" b="1" dirty="0">
                <a:latin typeface="+mn-lt"/>
              </a:rPr>
              <a:t>e</a:t>
            </a:r>
            <a:r>
              <a:rPr lang="en-US" sz="2000" b="1" dirty="0">
                <a:latin typeface="+mn-lt"/>
              </a:rPr>
              <a:t>:</a:t>
            </a:r>
            <a:r>
              <a:rPr lang="ro-RO" sz="2000" b="1" dirty="0">
                <a:latin typeface="+mn-lt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+mn-lt"/>
              </a:rPr>
              <a:t>Cost </a:t>
            </a:r>
            <a:r>
              <a:rPr lang="ro-RO" sz="1600" dirty="0">
                <a:latin typeface="+mn-lt"/>
              </a:rPr>
              <a:t>utilizare </a:t>
            </a:r>
            <a:r>
              <a:rPr lang="en-US" sz="1600" dirty="0">
                <a:latin typeface="+mn-lt"/>
              </a:rPr>
              <a:t>0 (</a:t>
            </a:r>
            <a:r>
              <a:rPr lang="en-US" sz="1600" dirty="0" err="1">
                <a:latin typeface="+mn-lt"/>
              </a:rPr>
              <a:t>față</a:t>
            </a:r>
            <a:r>
              <a:rPr lang="en-US" sz="1600" dirty="0">
                <a:latin typeface="+mn-lt"/>
              </a:rPr>
              <a:t> de </a:t>
            </a:r>
            <a:r>
              <a:rPr lang="en-US" sz="1600" dirty="0" err="1">
                <a:latin typeface="+mn-lt"/>
              </a:rPr>
              <a:t>Mozaweb</a:t>
            </a:r>
            <a:r>
              <a:rPr lang="en-US" sz="1600" dirty="0">
                <a:latin typeface="+mn-lt"/>
              </a:rPr>
              <a:t>, </a:t>
            </a:r>
            <a:r>
              <a:rPr lang="en-US" sz="1600" dirty="0" err="1">
                <a:latin typeface="+mn-lt"/>
              </a:rPr>
              <a:t>IQBoard</a:t>
            </a:r>
            <a:r>
              <a:rPr lang="ro-RO" sz="1600" dirty="0">
                <a:latin typeface="+mn-lt"/>
              </a:rPr>
              <a:t> cu cost mare</a:t>
            </a:r>
            <a:r>
              <a:rPr lang="en-US" sz="1600" dirty="0">
                <a:latin typeface="+mn-lt"/>
              </a:rPr>
              <a:t>)</a:t>
            </a:r>
            <a:r>
              <a:rPr lang="ro-RO" sz="1600" dirty="0">
                <a:latin typeface="+mn-lt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sz="1600" dirty="0">
                <a:latin typeface="+mn-lt"/>
              </a:rPr>
              <a:t>Suport extins la multiple materii.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sz="1600" dirty="0">
                <a:latin typeface="+mn-lt"/>
              </a:rPr>
              <a:t>Evaluare și gestionare rezultate de către profesori direct în platformă.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b="1" dirty="0">
              <a:latin typeface="+mn-lt"/>
            </a:endParaRPr>
          </a:p>
        </p:txBody>
      </p:sp>
      <p:sp>
        <p:nvSpPr>
          <p:cNvPr id="16" name="object 6">
            <a:extLst>
              <a:ext uri="{FF2B5EF4-FFF2-40B4-BE49-F238E27FC236}">
                <a16:creationId xmlns:a16="http://schemas.microsoft.com/office/drawing/2014/main" id="{8114BEA3-9087-5A39-F7DD-57B6496593C1}"/>
              </a:ext>
            </a:extLst>
          </p:cNvPr>
          <p:cNvSpPr txBox="1">
            <a:spLocks/>
          </p:cNvSpPr>
          <p:nvPr/>
        </p:nvSpPr>
        <p:spPr>
          <a:xfrm>
            <a:off x="2658198" y="19001"/>
            <a:ext cx="5791200" cy="530843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>
            <a:lvl1pPr>
              <a:defRPr sz="2500" b="0" i="0">
                <a:solidFill>
                  <a:srgbClr val="060609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marL="1083945">
              <a:spcBef>
                <a:spcPts val="100"/>
              </a:spcBef>
            </a:pPr>
            <a:r>
              <a:rPr lang="ro-RO" sz="3000" b="1" spc="-185" dirty="0">
                <a:latin typeface="+mn-lt"/>
              </a:rPr>
              <a:t>Evaluare</a:t>
            </a:r>
            <a:endParaRPr lang="ro-RO" sz="3000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438253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14319-F4F0-4F0D-A132-9ED43D04F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BCB87EAA-6784-3852-F482-CF5F42C32B70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B47D7087-3F3E-092F-F1E3-35235D5F86D3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DB9F7145-53FE-1BDC-853A-AFF50C3C2A54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226C2C8B-D2D6-000A-C092-82D9631C2C98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503599F3-6996-AB25-66E5-9E69E5D6DC33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D6FEB18C-A473-0B61-CA1A-B5859320BCFA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93E70F13-F23C-9501-6D89-1B4C7DB8CDE8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EC9AEDAE-AD66-F0EF-A6DA-F7FAE6B24CE7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0FBAA4-0048-DE7D-CB6B-CA5D5B169750}"/>
              </a:ext>
            </a:extLst>
          </p:cNvPr>
          <p:cNvSpPr txBox="1"/>
          <p:nvPr/>
        </p:nvSpPr>
        <p:spPr>
          <a:xfrm>
            <a:off x="460398" y="1161306"/>
            <a:ext cx="8336104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err="1">
                <a:latin typeface="+mn-lt"/>
              </a:rPr>
              <a:t>Probleme</a:t>
            </a:r>
            <a:r>
              <a:rPr lang="en-US" sz="2000" b="1" dirty="0">
                <a:latin typeface="+mn-lt"/>
              </a:rPr>
              <a:t> </a:t>
            </a:r>
            <a:r>
              <a:rPr lang="ro-RO" sz="2000" b="1" dirty="0">
                <a:latin typeface="+mn-lt"/>
              </a:rPr>
              <a:t>întâmpinate și soluții</a:t>
            </a:r>
            <a:r>
              <a:rPr lang="en-US" sz="2000" b="1" dirty="0">
                <a:latin typeface="+mn-lt"/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>
                <a:latin typeface="+mn-lt"/>
              </a:rPr>
              <a:t>Acces</a:t>
            </a:r>
            <a:r>
              <a:rPr lang="en-US" sz="1600" dirty="0">
                <a:latin typeface="+mn-lt"/>
              </a:rPr>
              <a:t> Kong Ingress local: port-</a:t>
            </a:r>
            <a:r>
              <a:rPr lang="en-US" sz="1600" dirty="0" err="1">
                <a:latin typeface="+mn-lt"/>
              </a:rPr>
              <a:t>forwar</a:t>
            </a:r>
            <a:r>
              <a:rPr lang="ro-RO" sz="1600" dirty="0">
                <a:latin typeface="+mn-lt"/>
              </a:rPr>
              <a:t>d.</a:t>
            </a:r>
            <a:endParaRPr lang="en-US" sz="1600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+mn-lt"/>
              </a:rPr>
              <a:t>CI/CD local: GitHub Runner </a:t>
            </a:r>
            <a:r>
              <a:rPr lang="en-US" sz="1600" dirty="0" err="1">
                <a:latin typeface="+mn-lt"/>
              </a:rPr>
              <a:t>pentru</a:t>
            </a:r>
            <a:r>
              <a:rPr lang="en-US" sz="1600" dirty="0">
                <a:latin typeface="+mn-lt"/>
              </a:rPr>
              <a:t> </a:t>
            </a:r>
            <a:r>
              <a:rPr lang="en-US" sz="1600" dirty="0" err="1">
                <a:latin typeface="+mn-lt"/>
              </a:rPr>
              <a:t>acces</a:t>
            </a:r>
            <a:r>
              <a:rPr lang="en-US" sz="1600" dirty="0">
                <a:latin typeface="+mn-lt"/>
              </a:rPr>
              <a:t> </a:t>
            </a:r>
            <a:r>
              <a:rPr lang="ro-RO" sz="1600" dirty="0">
                <a:latin typeface="+mn-lt"/>
              </a:rPr>
              <a:t>local la </a:t>
            </a:r>
            <a:r>
              <a:rPr lang="en-US" sz="1600" dirty="0">
                <a:latin typeface="+mn-lt"/>
              </a:rPr>
              <a:t>cluster</a:t>
            </a:r>
            <a:r>
              <a:rPr lang="ro-RO" sz="1600" dirty="0">
                <a:latin typeface="+mn-lt"/>
              </a:rPr>
              <a:t>.</a:t>
            </a:r>
            <a:endParaRPr lang="en-US" sz="1600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+mn-lt"/>
              </a:rPr>
              <a:t>GPU out-of-memory </a:t>
            </a:r>
            <a:r>
              <a:rPr lang="ro-RO" sz="1600" dirty="0">
                <a:latin typeface="+mn-lt"/>
              </a:rPr>
              <a:t>la </a:t>
            </a:r>
            <a:r>
              <a:rPr lang="en-US" sz="1600" dirty="0" err="1">
                <a:latin typeface="+mn-lt"/>
              </a:rPr>
              <a:t>texturi</a:t>
            </a:r>
            <a:r>
              <a:rPr lang="en-US" sz="1600" dirty="0">
                <a:latin typeface="+mn-lt"/>
              </a:rPr>
              <a:t> </a:t>
            </a:r>
            <a:r>
              <a:rPr lang="ro-RO" sz="1600" dirty="0">
                <a:latin typeface="+mn-lt"/>
              </a:rPr>
              <a:t>mari</a:t>
            </a:r>
            <a:r>
              <a:rPr lang="en-US" sz="1600" dirty="0">
                <a:latin typeface="+mn-lt"/>
              </a:rPr>
              <a:t>: </a:t>
            </a:r>
            <a:r>
              <a:rPr lang="ro-RO" sz="1600" dirty="0">
                <a:latin typeface="+mn-lt"/>
              </a:rPr>
              <a:t>texturi mai mici, caching cu useMemo.</a:t>
            </a:r>
            <a:r>
              <a:rPr lang="en-US" sz="1600" dirty="0">
                <a:latin typeface="+mn-lt"/>
              </a:rPr>
              <a:t>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>
                <a:latin typeface="+mn-lt"/>
              </a:rPr>
              <a:t>Parsare</a:t>
            </a:r>
            <a:r>
              <a:rPr lang="en-US" sz="1600" dirty="0">
                <a:latin typeface="+mn-lt"/>
              </a:rPr>
              <a:t> </a:t>
            </a:r>
            <a:r>
              <a:rPr lang="ro-RO" sz="1600" dirty="0">
                <a:latin typeface="+mn-lt"/>
              </a:rPr>
              <a:t>cod </a:t>
            </a:r>
            <a:r>
              <a:rPr lang="en-US" sz="1600" dirty="0">
                <a:latin typeface="+mn-lt"/>
              </a:rPr>
              <a:t>C++: </a:t>
            </a:r>
            <a:r>
              <a:rPr lang="en-US" sz="1600" dirty="0" err="1">
                <a:latin typeface="+mn-lt"/>
              </a:rPr>
              <a:t>metatrăsături</a:t>
            </a:r>
            <a:r>
              <a:rPr lang="en-US" sz="1600" dirty="0">
                <a:latin typeface="+mn-lt"/>
              </a:rPr>
              <a:t> </a:t>
            </a:r>
            <a:r>
              <a:rPr lang="ro-RO" sz="1600" dirty="0">
                <a:latin typeface="+mn-lt"/>
              </a:rPr>
              <a:t>în C++ fără reflexie nativă.</a:t>
            </a:r>
            <a:r>
              <a:rPr lang="en-US" sz="1600" dirty="0">
                <a:latin typeface="+mn-lt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+mn-lt"/>
              </a:rPr>
              <a:t>Cluster Kubernetes </a:t>
            </a:r>
            <a:r>
              <a:rPr lang="ro-RO" sz="1600" dirty="0">
                <a:latin typeface="+mn-lt"/>
              </a:rPr>
              <a:t>prea </a:t>
            </a:r>
            <a:r>
              <a:rPr lang="en-US" sz="1600" dirty="0">
                <a:latin typeface="+mn-lt"/>
              </a:rPr>
              <a:t>mare (60 GB): </a:t>
            </a:r>
            <a:r>
              <a:rPr lang="en-US" sz="1600" dirty="0" err="1">
                <a:latin typeface="+mn-lt"/>
              </a:rPr>
              <a:t>curățare</a:t>
            </a:r>
            <a:r>
              <a:rPr lang="en-US" sz="1600" dirty="0">
                <a:latin typeface="+mn-lt"/>
              </a:rPr>
              <a:t> </a:t>
            </a:r>
            <a:r>
              <a:rPr lang="en-US" sz="1600" dirty="0" err="1">
                <a:latin typeface="+mn-lt"/>
              </a:rPr>
              <a:t>imagini</a:t>
            </a:r>
            <a:r>
              <a:rPr lang="en-US" sz="1600" dirty="0">
                <a:latin typeface="+mn-lt"/>
              </a:rPr>
              <a:t> </a:t>
            </a:r>
            <a:r>
              <a:rPr lang="en-US" sz="1600" dirty="0" err="1">
                <a:latin typeface="+mn-lt"/>
              </a:rPr>
              <a:t>și</a:t>
            </a:r>
            <a:r>
              <a:rPr lang="en-US" sz="1600" dirty="0">
                <a:latin typeface="+mn-lt"/>
              </a:rPr>
              <a:t> </a:t>
            </a:r>
            <a:r>
              <a:rPr lang="en-US" sz="1600" dirty="0" err="1">
                <a:latin typeface="+mn-lt"/>
              </a:rPr>
              <a:t>compresie</a:t>
            </a:r>
            <a:r>
              <a:rPr lang="en-US" sz="1600" dirty="0">
                <a:latin typeface="+mn-lt"/>
              </a:rPr>
              <a:t> volume</a:t>
            </a:r>
            <a:r>
              <a:rPr lang="ro-RO" sz="1600" dirty="0">
                <a:latin typeface="+mn-lt"/>
              </a:rPr>
              <a:t> regulat.</a:t>
            </a:r>
            <a:endParaRPr lang="en-US" sz="1600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+mn-lt"/>
              </a:rPr>
              <a:t>Populare </a:t>
            </a:r>
            <a:r>
              <a:rPr lang="ro-RO" sz="1600" dirty="0">
                <a:latin typeface="+mn-lt"/>
              </a:rPr>
              <a:t>intrări </a:t>
            </a:r>
            <a:r>
              <a:rPr lang="en-US" sz="1600" dirty="0">
                <a:latin typeface="+mn-lt"/>
              </a:rPr>
              <a:t>MongoDB </a:t>
            </a:r>
            <a:r>
              <a:rPr lang="en-US" sz="1600" dirty="0" err="1">
                <a:latin typeface="+mn-lt"/>
              </a:rPr>
              <a:t>în</a:t>
            </a:r>
            <a:r>
              <a:rPr lang="en-US" sz="1600" dirty="0">
                <a:latin typeface="+mn-lt"/>
              </a:rPr>
              <a:t> Kubernetes: job</a:t>
            </a:r>
            <a:r>
              <a:rPr lang="ro-RO" sz="1600" dirty="0">
                <a:latin typeface="+mn-lt"/>
              </a:rPr>
              <a:t>-uri</a:t>
            </a:r>
            <a:r>
              <a:rPr lang="en-US" sz="1600" dirty="0">
                <a:latin typeface="+mn-lt"/>
              </a:rPr>
              <a:t> </a:t>
            </a:r>
            <a:r>
              <a:rPr lang="ro-RO" sz="1600" dirty="0">
                <a:latin typeface="+mn-lt"/>
              </a:rPr>
              <a:t>Kubernetes </a:t>
            </a:r>
            <a:r>
              <a:rPr lang="en-US" sz="1600" dirty="0" err="1">
                <a:latin typeface="+mn-lt"/>
              </a:rPr>
              <a:t>dedicat</a:t>
            </a:r>
            <a:r>
              <a:rPr lang="ro-RO" sz="1600" dirty="0">
                <a:latin typeface="+mn-lt"/>
              </a:rPr>
              <a:t>e.</a:t>
            </a:r>
            <a:r>
              <a:rPr lang="en-US" sz="1600" dirty="0">
                <a:latin typeface="+mn-lt"/>
              </a:rPr>
              <a:t>  </a:t>
            </a:r>
          </a:p>
          <a:p>
            <a:endParaRPr lang="ro-RO" sz="1400" b="1" dirty="0">
              <a:latin typeface="+mn-lt"/>
            </a:endParaRPr>
          </a:p>
          <a:p>
            <a:endParaRPr lang="en-US" sz="1400" b="1" dirty="0">
              <a:latin typeface="+mn-lt"/>
            </a:endParaRPr>
          </a:p>
          <a:p>
            <a:r>
              <a:rPr lang="en-US" sz="2000" b="1" dirty="0" err="1">
                <a:latin typeface="+mn-lt"/>
              </a:rPr>
              <a:t>Concluzii</a:t>
            </a:r>
            <a:r>
              <a:rPr lang="en-US" sz="2000" b="1" dirty="0">
                <a:latin typeface="+mn-lt"/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>
                <a:latin typeface="+mn-lt"/>
              </a:rPr>
              <a:t>Soluția</a:t>
            </a:r>
            <a:r>
              <a:rPr lang="en-US" sz="1600" dirty="0">
                <a:latin typeface="+mn-lt"/>
              </a:rPr>
              <a:t> </a:t>
            </a:r>
            <a:r>
              <a:rPr lang="en-US" sz="1600" dirty="0" err="1">
                <a:latin typeface="+mn-lt"/>
              </a:rPr>
              <a:t>finală</a:t>
            </a:r>
            <a:r>
              <a:rPr lang="en-US" sz="1600" dirty="0">
                <a:latin typeface="+mn-lt"/>
              </a:rPr>
              <a:t> </a:t>
            </a:r>
            <a:r>
              <a:rPr lang="en-US" sz="1600" dirty="0" err="1">
                <a:latin typeface="+mn-lt"/>
              </a:rPr>
              <a:t>este</a:t>
            </a:r>
            <a:r>
              <a:rPr lang="en-US" sz="1600" dirty="0">
                <a:latin typeface="+mn-lt"/>
              </a:rPr>
              <a:t> </a:t>
            </a:r>
            <a:r>
              <a:rPr lang="en-US" sz="1600" dirty="0" err="1">
                <a:latin typeface="+mn-lt"/>
              </a:rPr>
              <a:t>stabilă</a:t>
            </a:r>
            <a:r>
              <a:rPr lang="en-US" sz="1600" dirty="0">
                <a:latin typeface="+mn-lt"/>
              </a:rPr>
              <a:t>, </a:t>
            </a:r>
            <a:r>
              <a:rPr lang="en-US" sz="1600" dirty="0" err="1">
                <a:latin typeface="+mn-lt"/>
              </a:rPr>
              <a:t>performantă</a:t>
            </a:r>
            <a:r>
              <a:rPr lang="en-US" sz="1600" dirty="0">
                <a:latin typeface="+mn-lt"/>
              </a:rPr>
              <a:t>, cu feedback </a:t>
            </a:r>
            <a:r>
              <a:rPr lang="en-US" sz="1600" dirty="0" err="1">
                <a:latin typeface="+mn-lt"/>
              </a:rPr>
              <a:t>pozitiv</a:t>
            </a:r>
            <a:r>
              <a:rPr lang="en-US" sz="1600" dirty="0">
                <a:latin typeface="+mn-lt"/>
              </a:rPr>
              <a:t> </a:t>
            </a:r>
            <a:r>
              <a:rPr lang="en-US" sz="1600" dirty="0" err="1">
                <a:latin typeface="+mn-lt"/>
              </a:rPr>
              <a:t>și</a:t>
            </a:r>
            <a:r>
              <a:rPr lang="en-US" sz="1600" dirty="0">
                <a:latin typeface="+mn-lt"/>
              </a:rPr>
              <a:t> </a:t>
            </a:r>
            <a:r>
              <a:rPr lang="en-US" sz="1600" dirty="0" err="1">
                <a:latin typeface="+mn-lt"/>
              </a:rPr>
              <a:t>utilitate</a:t>
            </a:r>
            <a:r>
              <a:rPr lang="en-US" sz="1600" dirty="0">
                <a:latin typeface="+mn-lt"/>
              </a:rPr>
              <a:t> </a:t>
            </a:r>
            <a:r>
              <a:rPr lang="en-US" sz="1600" dirty="0" err="1">
                <a:latin typeface="+mn-lt"/>
              </a:rPr>
              <a:t>ridicată</a:t>
            </a:r>
            <a:r>
              <a:rPr lang="ro-RO" sz="1600" dirty="0">
                <a:latin typeface="+mn-lt"/>
              </a:rPr>
              <a:t> </a:t>
            </a:r>
            <a:r>
              <a:rPr lang="en-US" sz="1600" dirty="0" err="1">
                <a:latin typeface="+mn-lt"/>
              </a:rPr>
              <a:t>pentru</a:t>
            </a:r>
            <a:r>
              <a:rPr lang="en-US" sz="1600" dirty="0">
                <a:latin typeface="+mn-lt"/>
              </a:rPr>
              <a:t> </a:t>
            </a:r>
            <a:r>
              <a:rPr lang="ro-RO" sz="1600" dirty="0">
                <a:latin typeface="+mn-lt"/>
              </a:rPr>
              <a:t>elevi</a:t>
            </a:r>
            <a:r>
              <a:rPr lang="en-US" sz="1600" dirty="0">
                <a:latin typeface="+mn-lt"/>
              </a:rPr>
              <a:t> </a:t>
            </a:r>
            <a:r>
              <a:rPr lang="en-US" sz="1600" dirty="0" err="1">
                <a:latin typeface="+mn-lt"/>
              </a:rPr>
              <a:t>și</a:t>
            </a:r>
            <a:r>
              <a:rPr lang="en-US" sz="1600" dirty="0">
                <a:latin typeface="+mn-lt"/>
              </a:rPr>
              <a:t> </a:t>
            </a:r>
            <a:r>
              <a:rPr lang="en-US" sz="1600" dirty="0" err="1">
                <a:latin typeface="+mn-lt"/>
              </a:rPr>
              <a:t>profesori</a:t>
            </a:r>
            <a:r>
              <a:rPr lang="ro-RO" sz="1600" dirty="0">
                <a:latin typeface="+mn-lt"/>
              </a:rPr>
              <a:t>.</a:t>
            </a:r>
            <a:endParaRPr lang="en-US" sz="1600" dirty="0">
              <a:latin typeface="+mn-lt"/>
            </a:endParaRPr>
          </a:p>
        </p:txBody>
      </p:sp>
      <p:sp>
        <p:nvSpPr>
          <p:cNvPr id="14" name="object 6">
            <a:extLst>
              <a:ext uri="{FF2B5EF4-FFF2-40B4-BE49-F238E27FC236}">
                <a16:creationId xmlns:a16="http://schemas.microsoft.com/office/drawing/2014/main" id="{331BFEC4-2C80-1AD1-6A95-CF9848F79802}"/>
              </a:ext>
            </a:extLst>
          </p:cNvPr>
          <p:cNvSpPr txBox="1">
            <a:spLocks/>
          </p:cNvSpPr>
          <p:nvPr/>
        </p:nvSpPr>
        <p:spPr>
          <a:xfrm>
            <a:off x="2590800" y="0"/>
            <a:ext cx="5791200" cy="530843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>
            <a:lvl1pPr>
              <a:defRPr sz="2500" b="0" i="0">
                <a:solidFill>
                  <a:srgbClr val="060609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marL="1083945">
              <a:spcBef>
                <a:spcPts val="100"/>
              </a:spcBef>
            </a:pPr>
            <a:r>
              <a:rPr lang="ro-RO" sz="3000" b="1" spc="-185" dirty="0">
                <a:latin typeface="+mn-lt"/>
              </a:rPr>
              <a:t>Concluzii</a:t>
            </a:r>
            <a:endParaRPr lang="ro-RO" sz="3000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577530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4F4FA-A21E-2E64-5F6E-803566D00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3D5249B2-0E05-206A-049A-A45A3134DE5F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519AC741-8BEE-39D7-BAD5-F18E1406D958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D3DE600F-8AD4-92B7-226C-FE5A311AE4B0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6AC12146-343F-A66A-8F59-D0801191B539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FBE387B5-D105-E893-32BC-548B91D1381E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03A73F98-60E4-36BC-C46E-801A195CF836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67E4C353-9E0A-68E6-656A-E58D9D91F0A8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EEC5D259-AA5B-AB1A-43DD-94DA60868348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D125575-F970-39DD-8969-5C12A85D6DB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487" y="1581150"/>
            <a:ext cx="1574483" cy="22098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830EEFD-EFCE-FE88-A4F1-348B31EB8FEA}"/>
              </a:ext>
            </a:extLst>
          </p:cNvPr>
          <p:cNvSpPr txBox="1"/>
          <p:nvPr/>
        </p:nvSpPr>
        <p:spPr>
          <a:xfrm>
            <a:off x="2311970" y="1083417"/>
            <a:ext cx="6664036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6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Export</a:t>
            </a:r>
            <a:r>
              <a:rPr lang="ro-RO" sz="16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are</a:t>
            </a:r>
            <a:r>
              <a:rPr lang="en-US" sz="16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6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rezultate</a:t>
            </a:r>
            <a:r>
              <a:rPr lang="ro-RO" sz="16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și metrici de performanță</a:t>
            </a:r>
            <a:r>
              <a:rPr lang="en-US" sz="16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(CSV, PDF</a:t>
            </a:r>
            <a:r>
              <a:rPr lang="ro-RO" sz="16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, alte formate</a:t>
            </a:r>
            <a:r>
              <a:rPr lang="en-US" sz="16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)</a:t>
            </a:r>
            <a:r>
              <a:rPr lang="ro-RO" sz="16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</a:p>
          <a:p>
            <a:r>
              <a:rPr lang="en-US" sz="16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endParaRPr lang="ro-RO" sz="16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o-RO" sz="16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Rapoarte personalizate și detaliate pentru fiecare elev.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6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Notificări</a:t>
            </a:r>
            <a:r>
              <a:rPr lang="en-US" sz="16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6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și</a:t>
            </a:r>
            <a:r>
              <a:rPr lang="en-US" sz="16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6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alerte</a:t>
            </a:r>
            <a:r>
              <a:rPr lang="en-US" sz="16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6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prin</a:t>
            </a:r>
            <a:r>
              <a:rPr lang="en-US" sz="16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email </a:t>
            </a:r>
            <a:r>
              <a:rPr lang="ro-RO" sz="16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pentru teste și invitații.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6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Suport</a:t>
            </a:r>
            <a:r>
              <a:rPr lang="en-US" sz="16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AI </a:t>
            </a:r>
            <a:r>
              <a:rPr lang="en-US" sz="16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pentru</a:t>
            </a:r>
            <a:r>
              <a:rPr lang="en-US" sz="16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6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explicații</a:t>
            </a:r>
            <a:r>
              <a:rPr lang="en-US" sz="16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6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și</a:t>
            </a:r>
            <a:r>
              <a:rPr lang="en-US" sz="16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6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sugestii</a:t>
            </a:r>
            <a:r>
              <a:rPr lang="en-US" sz="16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6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personalizate</a:t>
            </a:r>
            <a:r>
              <a:rPr lang="ro-RO" sz="16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6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Chat </a:t>
            </a:r>
            <a:r>
              <a:rPr lang="en-US" sz="16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colaborativ</a:t>
            </a:r>
            <a:r>
              <a:rPr lang="en-US" sz="16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6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în</a:t>
            </a:r>
            <a:r>
              <a:rPr lang="en-US" sz="16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6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timp</a:t>
            </a:r>
            <a:r>
              <a:rPr lang="en-US" sz="16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real</a:t>
            </a:r>
            <a:r>
              <a:rPr lang="ro-RO" sz="16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r>
              <a:rPr lang="en-US" sz="16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 </a:t>
            </a:r>
            <a:endParaRPr lang="ro-RO" sz="16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6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Dezvoltarea</a:t>
            </a:r>
            <a:r>
              <a:rPr lang="en-US" sz="16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6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infrastructurii</a:t>
            </a:r>
            <a:r>
              <a:rPr lang="ro-RO" sz="16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r>
              <a:rPr lang="en-US" sz="16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 </a:t>
            </a:r>
          </a:p>
        </p:txBody>
      </p:sp>
      <p:sp>
        <p:nvSpPr>
          <p:cNvPr id="15" name="object 6">
            <a:extLst>
              <a:ext uri="{FF2B5EF4-FFF2-40B4-BE49-F238E27FC236}">
                <a16:creationId xmlns:a16="http://schemas.microsoft.com/office/drawing/2014/main" id="{AEC08E3C-162D-9EFD-2A99-341011FD873F}"/>
              </a:ext>
            </a:extLst>
          </p:cNvPr>
          <p:cNvSpPr txBox="1">
            <a:spLocks/>
          </p:cNvSpPr>
          <p:nvPr/>
        </p:nvSpPr>
        <p:spPr>
          <a:xfrm>
            <a:off x="2209800" y="38286"/>
            <a:ext cx="5791200" cy="530843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>
            <a:lvl1pPr>
              <a:defRPr sz="2500" b="0" i="0">
                <a:solidFill>
                  <a:srgbClr val="060609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marL="1083945">
              <a:spcBef>
                <a:spcPts val="100"/>
              </a:spcBef>
            </a:pPr>
            <a:r>
              <a:rPr lang="ro-RO" sz="3000" b="1" spc="-185" dirty="0">
                <a:latin typeface="+mn-lt"/>
              </a:rPr>
              <a:t>Dezvoltare viitoare</a:t>
            </a:r>
            <a:endParaRPr lang="ro-RO" sz="3000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1857669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9144249" cy="5143500"/>
            <a:chOff x="0" y="0"/>
            <a:chExt cx="9144249" cy="5143500"/>
          </a:xfrm>
        </p:grpSpPr>
        <p:sp>
          <p:nvSpPr>
            <p:cNvPr id="3" name="object 3"/>
            <p:cNvSpPr/>
            <p:nvPr/>
          </p:nvSpPr>
          <p:spPr>
            <a:xfrm>
              <a:off x="6940799" y="0"/>
              <a:ext cx="2203450" cy="5143500"/>
            </a:xfrm>
            <a:custGeom>
              <a:avLst/>
              <a:gdLst/>
              <a:ahLst/>
              <a:cxnLst/>
              <a:rect l="l" t="t" r="r" b="b"/>
              <a:pathLst>
                <a:path w="2203450" h="5143500">
                  <a:moveTo>
                    <a:pt x="2203199" y="5143499"/>
                  </a:moveTo>
                  <a:lnTo>
                    <a:pt x="0" y="5143499"/>
                  </a:lnTo>
                  <a:lnTo>
                    <a:pt x="0" y="0"/>
                  </a:lnTo>
                  <a:lnTo>
                    <a:pt x="2203199" y="0"/>
                  </a:lnTo>
                  <a:lnTo>
                    <a:pt x="2203199" y="5143499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538594"/>
              <a:ext cx="9144000" cy="4070350"/>
            </a:xfrm>
            <a:custGeom>
              <a:avLst/>
              <a:gdLst/>
              <a:ahLst/>
              <a:cxnLst/>
              <a:rect l="l" t="t" r="r" b="b"/>
              <a:pathLst>
                <a:path w="9144000" h="4070350">
                  <a:moveTo>
                    <a:pt x="9144000" y="4060647"/>
                  </a:moveTo>
                  <a:lnTo>
                    <a:pt x="0" y="4060647"/>
                  </a:lnTo>
                  <a:lnTo>
                    <a:pt x="0" y="4070172"/>
                  </a:lnTo>
                  <a:lnTo>
                    <a:pt x="9144000" y="4070172"/>
                  </a:lnTo>
                  <a:lnTo>
                    <a:pt x="9144000" y="4060647"/>
                  </a:lnTo>
                  <a:close/>
                </a:path>
                <a:path w="9144000" h="4070350">
                  <a:moveTo>
                    <a:pt x="9144000" y="0"/>
                  </a:moveTo>
                  <a:lnTo>
                    <a:pt x="0" y="0"/>
                  </a:lnTo>
                  <a:lnTo>
                    <a:pt x="0" y="9525"/>
                  </a:lnTo>
                  <a:lnTo>
                    <a:pt x="9144000" y="9525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713224" y="5699"/>
              <a:ext cx="8281670" cy="5132705"/>
            </a:xfrm>
            <a:custGeom>
              <a:avLst/>
              <a:gdLst/>
              <a:ahLst/>
              <a:cxnLst/>
              <a:rect l="l" t="t" r="r" b="b"/>
              <a:pathLst>
                <a:path w="8281670" h="5132705">
                  <a:moveTo>
                    <a:pt x="8281231" y="135612"/>
                  </a:moveTo>
                  <a:lnTo>
                    <a:pt x="7786831" y="135612"/>
                  </a:lnTo>
                </a:path>
                <a:path w="8281670" h="5132705">
                  <a:moveTo>
                    <a:pt x="8281231" y="214237"/>
                  </a:moveTo>
                  <a:lnTo>
                    <a:pt x="7786831" y="214237"/>
                  </a:lnTo>
                </a:path>
                <a:path w="8281670" h="5132705">
                  <a:moveTo>
                    <a:pt x="8281231" y="295237"/>
                  </a:moveTo>
                  <a:lnTo>
                    <a:pt x="7786831" y="295237"/>
                  </a:lnTo>
                </a:path>
                <a:path w="8281670" h="5132705">
                  <a:moveTo>
                    <a:pt x="8281231" y="377912"/>
                  </a:moveTo>
                  <a:lnTo>
                    <a:pt x="7786831" y="377912"/>
                  </a:lnTo>
                </a:path>
                <a:path w="8281670" h="5132705">
                  <a:moveTo>
                    <a:pt x="0" y="0"/>
                  </a:moveTo>
                  <a:lnTo>
                    <a:pt x="0" y="5132099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161479" y="4704502"/>
              <a:ext cx="369570" cy="369570"/>
            </a:xfrm>
            <a:custGeom>
              <a:avLst/>
              <a:gdLst/>
              <a:ahLst/>
              <a:cxnLst/>
              <a:rect l="l" t="t" r="r" b="b"/>
              <a:pathLst>
                <a:path w="369570" h="369570">
                  <a:moveTo>
                    <a:pt x="0" y="184499"/>
                  </a:moveTo>
                  <a:lnTo>
                    <a:pt x="6590" y="135452"/>
                  </a:lnTo>
                  <a:lnTo>
                    <a:pt x="25189" y="91379"/>
                  </a:lnTo>
                  <a:lnTo>
                    <a:pt x="54038" y="54038"/>
                  </a:lnTo>
                  <a:lnTo>
                    <a:pt x="91379" y="25189"/>
                  </a:lnTo>
                  <a:lnTo>
                    <a:pt x="135452" y="6590"/>
                  </a:lnTo>
                  <a:lnTo>
                    <a:pt x="184499" y="0"/>
                  </a:lnTo>
                  <a:lnTo>
                    <a:pt x="255105" y="14044"/>
                  </a:lnTo>
                  <a:lnTo>
                    <a:pt x="314961" y="54038"/>
                  </a:lnTo>
                  <a:lnTo>
                    <a:pt x="354955" y="113894"/>
                  </a:lnTo>
                  <a:lnTo>
                    <a:pt x="368999" y="184499"/>
                  </a:lnTo>
                  <a:lnTo>
                    <a:pt x="362409" y="233547"/>
                  </a:lnTo>
                  <a:lnTo>
                    <a:pt x="343810" y="277620"/>
                  </a:lnTo>
                  <a:lnTo>
                    <a:pt x="314961" y="314961"/>
                  </a:lnTo>
                  <a:lnTo>
                    <a:pt x="277620" y="343810"/>
                  </a:lnTo>
                  <a:lnTo>
                    <a:pt x="233547" y="362409"/>
                  </a:lnTo>
                  <a:lnTo>
                    <a:pt x="184499" y="368999"/>
                  </a:lnTo>
                  <a:lnTo>
                    <a:pt x="135452" y="362409"/>
                  </a:lnTo>
                  <a:lnTo>
                    <a:pt x="91379" y="343810"/>
                  </a:lnTo>
                  <a:lnTo>
                    <a:pt x="54038" y="314961"/>
                  </a:lnTo>
                  <a:lnTo>
                    <a:pt x="25189" y="277620"/>
                  </a:lnTo>
                  <a:lnTo>
                    <a:pt x="6590" y="233547"/>
                  </a:lnTo>
                  <a:lnTo>
                    <a:pt x="0" y="184499"/>
                  </a:lnTo>
                  <a:close/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xfrm>
            <a:off x="3048000" y="2114550"/>
            <a:ext cx="4151740" cy="62837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64769">
              <a:lnSpc>
                <a:spcPct val="100000"/>
              </a:lnSpc>
              <a:spcBef>
                <a:spcPts val="100"/>
              </a:spcBef>
            </a:pPr>
            <a:r>
              <a:rPr lang="ro-RO" sz="4000" b="1" spc="-355" dirty="0">
                <a:latin typeface="+mj-lt"/>
              </a:rPr>
              <a:t>Mulțumesc!</a:t>
            </a:r>
            <a:endParaRPr sz="4000" b="1" dirty="0">
              <a:latin typeface="+mj-l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89159" y="4779718"/>
            <a:ext cx="113664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60609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1266</TotalTime>
  <Words>863</Words>
  <Application>Microsoft Office PowerPoint</Application>
  <PresentationFormat>On-screen Show (16:9)</PresentationFormat>
  <Paragraphs>149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Arial Black</vt:lpstr>
      <vt:lpstr>Microsoft Sans Serif</vt:lpstr>
      <vt:lpstr>Office Theme</vt:lpstr>
      <vt:lpstr>VisioScience 3D - Platformă Web pentru Învățare prin Vizualizări 3D </vt:lpstr>
      <vt:lpstr>Motivație</vt:lpstr>
      <vt:lpstr>Abordări existente</vt:lpstr>
      <vt:lpstr>Specificarea cerințelor</vt:lpstr>
      <vt:lpstr>Arhitectură Backend</vt:lpstr>
      <vt:lpstr>Arhitectură Frontend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Implementare</vt:lpstr>
      <vt:lpstr>PowerPoint Presentation</vt:lpstr>
      <vt:lpstr>PowerPoint Presentation</vt:lpstr>
      <vt:lpstr>PowerPoint Presentation</vt:lpstr>
      <vt:lpstr>PowerPoint Presentation</vt:lpstr>
      <vt:lpstr>Mulțumesc!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Prezentare SCSS</dc:title>
  <cp:lastModifiedBy>Dragomir Andrei</cp:lastModifiedBy>
  <cp:revision>157</cp:revision>
  <dcterms:created xsi:type="dcterms:W3CDTF">2025-05-10T19:42:31Z</dcterms:created>
  <dcterms:modified xsi:type="dcterms:W3CDTF">2025-06-30T11:10:55Z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2025-05-10T00:00:00Z</vt:filetime>
  </property>
  <property fmtid="{D5CDD505-2E9C-101B-9397-08002B2CF9AE}" pid="3" name="Creator">
    <vt:lpwstr>Google</vt:lpwstr>
  </property>
  <property fmtid="{D5CDD505-2E9C-101B-9397-08002B2CF9AE}" pid="4" name="LastSaved">
    <vt:filetime>2025-05-10T00:00:00Z</vt:filetime>
  </property>
</Properties>
</file>