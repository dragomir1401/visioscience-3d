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84" r:id="rId8"/>
    <p:sldId id="279" r:id="rId9"/>
    <p:sldId id="282" r:id="rId10"/>
    <p:sldId id="281" r:id="rId11"/>
    <p:sldId id="268" r:id="rId12"/>
    <p:sldId id="283" r:id="rId13"/>
    <p:sldId id="269" r:id="rId14"/>
    <p:sldId id="277" r:id="rId15"/>
    <p:sldId id="270" r:id="rId16"/>
    <p:sldId id="271" r:id="rId17"/>
    <p:sldId id="265" r:id="rId18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138" d="100"/>
          <a:sy n="138" d="100"/>
        </p:scale>
        <p:origin x="870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8006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spc="-185" dirty="0" err="1">
                <a:latin typeface="+mj-lt"/>
              </a:rPr>
              <a:t>VisioScience</a:t>
            </a:r>
            <a:r>
              <a:rPr lang="en-US" sz="2400" b="1" spc="-185" dirty="0">
                <a:latin typeface="+mj-lt"/>
              </a:rPr>
              <a:t> 3D </a:t>
            </a:r>
            <a:r>
              <a:rPr lang="en-US" sz="2400" spc="-185" dirty="0">
                <a:latin typeface="+mj-lt"/>
              </a:rPr>
              <a:t>- </a:t>
            </a:r>
            <a:r>
              <a:rPr lang="en-US" sz="2400" spc="-185" dirty="0" err="1">
                <a:latin typeface="+mj-lt"/>
              </a:rPr>
              <a:t>Platformă</a:t>
            </a:r>
            <a:r>
              <a:rPr lang="en-US" sz="2400" spc="-185" dirty="0">
                <a:latin typeface="+mj-lt"/>
              </a:rPr>
              <a:t> Web </a:t>
            </a:r>
            <a:r>
              <a:rPr lang="en-US" sz="2400" spc="-185" dirty="0" err="1">
                <a:latin typeface="+mj-lt"/>
              </a:rPr>
              <a:t>pentru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Învățare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prin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Vizualizări</a:t>
            </a:r>
            <a:r>
              <a:rPr lang="en-US" sz="2400" spc="-185" dirty="0">
                <a:latin typeface="+mj-lt"/>
              </a:rPr>
              <a:t> 3D</a:t>
            </a:r>
            <a:br>
              <a:rPr lang="en-US" sz="2400" spc="-185" dirty="0">
                <a:latin typeface="+mj-lt"/>
              </a:rPr>
            </a:br>
            <a:endParaRPr sz="24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4991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4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4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4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4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4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4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4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4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4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4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9600" y="625448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300" y="551314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0800" y="71761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b="1" spc="-130" dirty="0">
                <a:latin typeface="+mj-lt"/>
              </a:rPr>
              <a:t>Motiva</a:t>
            </a:r>
            <a:r>
              <a:rPr lang="ro-RO" b="1" spc="-130" dirty="0">
                <a:latin typeface="+mj-lt"/>
              </a:rPr>
              <a:t>ție</a:t>
            </a:r>
            <a:endParaRPr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A1C5CA-37BA-6D58-2BF5-A7B4BD44A9F3}"/>
              </a:ext>
            </a:extLst>
          </p:cNvPr>
          <p:cNvSpPr txBox="1"/>
          <p:nvPr/>
        </p:nvSpPr>
        <p:spPr>
          <a:xfrm>
            <a:off x="3047999" y="1809750"/>
            <a:ext cx="55637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+mn-lt"/>
              </a:rPr>
              <a:t>Nevoia</a:t>
            </a:r>
            <a:r>
              <a:rPr lang="en-US" sz="1200" dirty="0">
                <a:latin typeface="+mn-lt"/>
              </a:rPr>
              <a:t> de a </a:t>
            </a:r>
            <a:r>
              <a:rPr lang="en-US" sz="1200" dirty="0" err="1">
                <a:latin typeface="+mn-lt"/>
              </a:rPr>
              <a:t>transforma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predarea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învățarea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științelor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exacte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într</a:t>
            </a:r>
            <a:r>
              <a:rPr lang="en-US" sz="1200" dirty="0">
                <a:latin typeface="+mn-lt"/>
              </a:rPr>
              <a:t>-o </a:t>
            </a:r>
            <a:r>
              <a:rPr lang="en-US" sz="1200" dirty="0" err="1">
                <a:latin typeface="+mn-lt"/>
              </a:rPr>
              <a:t>experiență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captivantă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interactivă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accesibilă</a:t>
            </a:r>
            <a:r>
              <a:rPr lang="en-US" sz="1200" dirty="0">
                <a:latin typeface="+mn-lt"/>
              </a:rPr>
              <a:t> au </a:t>
            </a:r>
            <a:r>
              <a:rPr lang="en-US" sz="1200" dirty="0" err="1">
                <a:latin typeface="+mn-lt"/>
              </a:rPr>
              <a:t>fost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punctele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principale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în alegerea unui astfel de proiect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locul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materialelor</a:t>
            </a:r>
            <a:r>
              <a:rPr lang="en-US" sz="1200" dirty="0">
                <a:latin typeface="+mn-lt"/>
              </a:rPr>
              <a:t> statice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abstracte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platforma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oferă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simulări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dinamice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vizualizări</a:t>
            </a:r>
            <a:r>
              <a:rPr lang="en-US" sz="1200" dirty="0">
                <a:latin typeface="+mn-lt"/>
              </a:rPr>
              <a:t> 3D care </a:t>
            </a:r>
            <a:r>
              <a:rPr lang="en-US" sz="1200" dirty="0" err="1">
                <a:latin typeface="+mn-lt"/>
              </a:rPr>
              <a:t>facilitează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înțelegerea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conceptelor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complexe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geometrie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fizică</a:t>
            </a:r>
            <a:r>
              <a:rPr lang="ro-RO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chimie</a:t>
            </a:r>
            <a:r>
              <a:rPr lang="ro-RO" sz="1200" dirty="0">
                <a:latin typeface="+mn-lt"/>
              </a:rPr>
              <a:t>, informatică și astronomie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Printr</a:t>
            </a:r>
            <a:r>
              <a:rPr lang="en-US" sz="1200" dirty="0">
                <a:latin typeface="+mn-lt"/>
              </a:rPr>
              <a:t>-un </a:t>
            </a:r>
            <a:r>
              <a:rPr lang="en-US" sz="1200" dirty="0" err="1">
                <a:latin typeface="+mn-lt"/>
              </a:rPr>
              <a:t>mediu</a:t>
            </a:r>
            <a:r>
              <a:rPr lang="en-US" sz="1200" dirty="0">
                <a:latin typeface="+mn-lt"/>
              </a:rPr>
              <a:t> web </a:t>
            </a:r>
            <a:r>
              <a:rPr lang="en-US" sz="1200" dirty="0" err="1">
                <a:latin typeface="+mn-lt"/>
              </a:rPr>
              <a:t>ușor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utilizat</a:t>
            </a:r>
            <a:r>
              <a:rPr lang="ro-RO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elevii</a:t>
            </a:r>
            <a:r>
              <a:rPr lang="en-US" sz="1200" dirty="0">
                <a:latin typeface="+mn-lt"/>
              </a:rPr>
              <a:t> pot </a:t>
            </a:r>
            <a:r>
              <a:rPr lang="en-US" sz="1200" dirty="0" err="1">
                <a:latin typeface="+mn-lt"/>
              </a:rPr>
              <a:t>explora</a:t>
            </a:r>
            <a:r>
              <a:rPr lang="en-US" sz="1200" dirty="0">
                <a:latin typeface="+mn-lt"/>
              </a:rPr>
              <a:t> liber </a:t>
            </a:r>
            <a:r>
              <a:rPr lang="ro-RO" sz="1200" dirty="0">
                <a:latin typeface="+mn-lt"/>
              </a:rPr>
              <a:t>materiile </a:t>
            </a:r>
            <a:r>
              <a:rPr lang="en-US" sz="1200" dirty="0" err="1">
                <a:latin typeface="+mn-lt"/>
              </a:rPr>
              <a:t>științifice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iar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beneficiază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instrumente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rapide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creare</a:t>
            </a:r>
            <a:r>
              <a:rPr lang="en-US" sz="1200" dirty="0">
                <a:latin typeface="+mn-lt"/>
              </a:rPr>
              <a:t> de quiz-</a:t>
            </a:r>
            <a:r>
              <a:rPr lang="en-US" sz="1200" dirty="0" err="1">
                <a:latin typeface="+mn-lt"/>
              </a:rPr>
              <a:t>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monitorizarea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progresului</a:t>
            </a:r>
            <a:r>
              <a:rPr lang="ro-RO" sz="1200" dirty="0">
                <a:latin typeface="+mn-lt"/>
              </a:rPr>
              <a:t> elevilor lor.</a:t>
            </a:r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8574" y="76311"/>
            <a:ext cx="6041826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b="1" spc="-190" dirty="0">
                <a:latin typeface="+mj-lt"/>
              </a:rPr>
              <a:t>Abordări existente</a:t>
            </a:r>
            <a:endParaRPr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8574" y="1545714"/>
            <a:ext cx="3755826" cy="2993127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dirty="0">
                <a:solidFill>
                  <a:srgbClr val="060609"/>
                </a:solidFill>
                <a:latin typeface="+mj-lt"/>
                <a:cs typeface="Arial"/>
              </a:rPr>
              <a:t>Phet Edu</a:t>
            </a:r>
            <a:endParaRPr lang="en-US" sz="14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 elevilor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modele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spc="-10" dirty="0">
                <a:solidFill>
                  <a:srgbClr val="060609"/>
                </a:solidFill>
                <a:latin typeface="+mj-lt"/>
                <a:cs typeface="Arial"/>
              </a:rPr>
              <a:t>Invațămate</a:t>
            </a:r>
            <a:endParaRPr lang="en-US" sz="14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 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 utilizare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limitate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bazate pe Flash player (nu mai este folosit actual). Conține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materiale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integrate extern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 chestionare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folosind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Kahoot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sau alte surse externe.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49874" y="1545714"/>
            <a:ext cx="3694125" cy="306763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u="sng" spc="-10" dirty="0">
                <a:solidFill>
                  <a:srgbClr val="060609"/>
                </a:solidFill>
                <a:latin typeface="+mj-lt"/>
                <a:cs typeface="Arial"/>
              </a:rPr>
              <a:t>Mozaweb</a:t>
            </a:r>
            <a:endParaRPr lang="en-US" sz="1400" b="1" u="sng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necesită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extern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acestea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mai degrabă decât pe educația deschisă.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u="sng" dirty="0">
                <a:solidFill>
                  <a:srgbClr val="060609"/>
                </a:solidFill>
                <a:latin typeface="+mj-lt"/>
                <a:cs typeface="Arial"/>
              </a:rPr>
              <a:t>Iqboard</a:t>
            </a:r>
            <a:endParaRPr lang="en-US" sz="1400" b="1" u="sng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educaționale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pe diverse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domenii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produs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ul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prețuri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05" y="1585174"/>
            <a:ext cx="419796" cy="1982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533" y="3166247"/>
            <a:ext cx="184850" cy="184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816" y="1614566"/>
            <a:ext cx="198276" cy="1982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7269" y="3351097"/>
            <a:ext cx="251823" cy="2518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95600" y="40085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b="1" spc="-180" dirty="0">
                <a:latin typeface="+mj-lt"/>
              </a:rPr>
              <a:t>Specificarea cerințelor</a:t>
            </a:r>
            <a:endParaRPr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62000" y="673648"/>
            <a:ext cx="7010400" cy="4190891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Elevi</a:t>
            </a:r>
            <a:endParaRPr lang="ro-RO" sz="16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Înregistrare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cont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securizat</a:t>
            </a:r>
            <a:r>
              <a:rPr lang="en-US" sz="1100" dirty="0">
                <a:latin typeface="+mn-lt"/>
              </a:rPr>
              <a:t>, date </a:t>
            </a:r>
            <a:r>
              <a:rPr lang="en-US" sz="1100" dirty="0" err="1">
                <a:latin typeface="+mn-lt"/>
              </a:rPr>
              <a:t>criptate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Meniu</a:t>
            </a:r>
            <a:r>
              <a:rPr lang="en-US" sz="1100" b="1" dirty="0">
                <a:latin typeface="+mn-lt"/>
              </a:rPr>
              <a:t> 3D </a:t>
            </a:r>
            <a:r>
              <a:rPr lang="en-US" sz="1100" b="1" dirty="0" err="1">
                <a:latin typeface="+mn-lt"/>
              </a:rPr>
              <a:t>interactiv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explorare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materii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navigare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gamificată</a:t>
            </a:r>
            <a:r>
              <a:rPr lang="ro-RO" sz="1100" dirty="0">
                <a:latin typeface="+mn-lt"/>
              </a:rPr>
              <a:t>, selectare interactivă.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Module 3D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vizualizări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scene, animații, interacțiune cu ele, modificare structură elemente.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Manipulare</a:t>
            </a:r>
            <a:r>
              <a:rPr lang="en-US" sz="1100" b="1" dirty="0">
                <a:latin typeface="+mn-lt"/>
              </a:rPr>
              <a:t> scene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rotire</a:t>
            </a:r>
            <a:r>
              <a:rPr lang="en-US" sz="1100" dirty="0">
                <a:latin typeface="+mn-lt"/>
              </a:rPr>
              <a:t>, zoom,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în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timp</a:t>
            </a:r>
            <a:r>
              <a:rPr lang="en-US" sz="1100" dirty="0">
                <a:latin typeface="+mn-lt"/>
              </a:rPr>
              <a:t> real</a:t>
            </a:r>
            <a:r>
              <a:rPr lang="ro-RO" sz="1100" dirty="0">
                <a:latin typeface="+mn-lt"/>
              </a:rPr>
              <a:t>, forțe, detalii elemente, IDE 3D interactiv.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Teste &amp; </a:t>
            </a:r>
            <a:r>
              <a:rPr lang="en-US" sz="1100" b="1" dirty="0" err="1">
                <a:latin typeface="+mn-lt"/>
              </a:rPr>
              <a:t>rezultate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rezolvare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retestare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panou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scoruri</a:t>
            </a:r>
            <a:r>
              <a:rPr lang="ro-RO" sz="1100" dirty="0">
                <a:latin typeface="+mn-lt"/>
              </a:rPr>
              <a:t>, panou recompense, insigne, provocări.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Clase &amp; </a:t>
            </a:r>
            <a:r>
              <a:rPr lang="en-US" sz="1100" b="1" dirty="0" err="1">
                <a:latin typeface="+mn-lt"/>
              </a:rPr>
              <a:t>invitații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aderare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notificări</a:t>
            </a:r>
            <a:r>
              <a:rPr lang="en-US" sz="1100" dirty="0">
                <a:latin typeface="+mn-lt"/>
              </a:rPr>
              <a:t>, accept/</a:t>
            </a:r>
            <a:r>
              <a:rPr lang="en-US" sz="1100" dirty="0" err="1">
                <a:latin typeface="+mn-lt"/>
              </a:rPr>
              <a:t>respinge</a:t>
            </a:r>
            <a:r>
              <a:rPr lang="ro-RO" sz="1100" dirty="0">
                <a:latin typeface="+mn-lt"/>
              </a:rPr>
              <a:t>, acces la testele și evaluările clasei.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2. </a:t>
            </a: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Profesori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Profil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rol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profesor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gestionare</a:t>
            </a:r>
            <a:r>
              <a:rPr lang="en-US" sz="1100" dirty="0">
                <a:latin typeface="+mn-lt"/>
              </a:rPr>
              <a:t> date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Administrare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clase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creare</a:t>
            </a:r>
            <a:r>
              <a:rPr lang="ro-RO" sz="1100" dirty="0">
                <a:latin typeface="+mn-lt"/>
              </a:rPr>
              <a:t> clase de </a:t>
            </a:r>
            <a:r>
              <a:rPr lang="en-US" sz="1100" dirty="0" err="1">
                <a:latin typeface="+mn-lt"/>
              </a:rPr>
              <a:t>elevi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invitații</a:t>
            </a:r>
            <a:r>
              <a:rPr lang="ro-RO" sz="1100" dirty="0">
                <a:latin typeface="+mn-lt"/>
              </a:rPr>
              <a:t>, panou cu clasele și membrii.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Creare</a:t>
            </a:r>
            <a:r>
              <a:rPr lang="en-US" sz="1100" b="1" dirty="0">
                <a:latin typeface="+mn-lt"/>
              </a:rPr>
              <a:t> teste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structuri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parametri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evaluare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deschidere</a:t>
            </a:r>
            <a:r>
              <a:rPr lang="en-US" sz="1100" dirty="0">
                <a:latin typeface="+mn-lt"/>
              </a:rPr>
              <a:t>/</a:t>
            </a:r>
            <a:r>
              <a:rPr lang="en-US" sz="1100" dirty="0" err="1">
                <a:latin typeface="+mn-lt"/>
              </a:rPr>
              <a:t>blocare</a:t>
            </a:r>
            <a:r>
              <a:rPr lang="ro-RO" sz="1100" dirty="0">
                <a:latin typeface="+mn-lt"/>
              </a:rPr>
              <a:t> evaluări, vizualizare rezultate.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Monitorizare</a:t>
            </a:r>
            <a:r>
              <a:rPr lang="en-US" sz="1100" b="1" dirty="0">
                <a:latin typeface="+mn-lt"/>
              </a:rPr>
              <a:t> &amp; </a:t>
            </a:r>
            <a:r>
              <a:rPr lang="en-US" sz="1100" b="1" dirty="0" err="1">
                <a:latin typeface="+mn-lt"/>
              </a:rPr>
              <a:t>analiză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scoruri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statistici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filtrare</a:t>
            </a:r>
            <a:r>
              <a:rPr lang="ro-RO" sz="1100" dirty="0">
                <a:latin typeface="+mn-lt"/>
              </a:rPr>
              <a:t>, metrici de performanță per clasă, per test, per elev.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Resurse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educaționale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complet</a:t>
            </a:r>
            <a:r>
              <a:rPr lang="en-US" sz="1100" dirty="0">
                <a:latin typeface="+mn-lt"/>
              </a:rPr>
              <a:t> la </a:t>
            </a:r>
            <a:r>
              <a:rPr lang="en-US" sz="1100" dirty="0" err="1">
                <a:latin typeface="+mn-lt"/>
              </a:rPr>
              <a:t>materiale</a:t>
            </a:r>
            <a:r>
              <a:rPr lang="ro-RO" sz="1100" dirty="0">
                <a:latin typeface="+mn-lt"/>
              </a:rPr>
              <a:t>le platformei.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3. Non-</a:t>
            </a:r>
            <a:r>
              <a:rPr lang="en-US" sz="1600" b="1" dirty="0" err="1">
                <a:latin typeface="+mn-lt"/>
              </a:rPr>
              <a:t>funcționale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Platformă</a:t>
            </a:r>
            <a:r>
              <a:rPr lang="en-US" sz="1100" b="1" dirty="0">
                <a:latin typeface="+mn-lt"/>
              </a:rPr>
              <a:t> web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fără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instalare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portabilitate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ridicată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Performanță</a:t>
            </a:r>
            <a:r>
              <a:rPr lang="en-US" sz="1100" b="1" dirty="0">
                <a:latin typeface="+mn-lt"/>
              </a:rPr>
              <a:t> 3D</a:t>
            </a:r>
            <a:r>
              <a:rPr lang="en-US" sz="1100" dirty="0">
                <a:latin typeface="+mn-lt"/>
              </a:rPr>
              <a:t>: WebGL 1.0+ (ideal 2.0), ≥</a:t>
            </a:r>
            <a:r>
              <a:rPr lang="ro-RO" sz="1100" dirty="0">
                <a:latin typeface="+mn-lt"/>
              </a:rPr>
              <a:t>6</a:t>
            </a:r>
            <a:r>
              <a:rPr lang="en-US" sz="1100" dirty="0">
                <a:latin typeface="+mn-lt"/>
              </a:rPr>
              <a:t>0 fps</a:t>
            </a:r>
            <a:r>
              <a:rPr lang="ro-RO" sz="1100" dirty="0">
                <a:latin typeface="+mn-lt"/>
              </a:rPr>
              <a:t> la simulări.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Hardware minim</a:t>
            </a:r>
            <a:r>
              <a:rPr lang="en-US" sz="1100" dirty="0">
                <a:latin typeface="+mn-lt"/>
              </a:rPr>
              <a:t>: </a:t>
            </a:r>
            <a:r>
              <a:rPr lang="ro-RO" sz="1100" dirty="0">
                <a:latin typeface="+mn-lt"/>
              </a:rPr>
              <a:t>cerințe minime de rulare, minim de memorie GPU pentru modele și texturi.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UX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încărcare</a:t>
            </a:r>
            <a:r>
              <a:rPr lang="en-US" sz="1100" dirty="0">
                <a:latin typeface="+mn-lt"/>
              </a:rPr>
              <a:t> </a:t>
            </a:r>
            <a:r>
              <a:rPr lang="ro-RO" sz="1100" dirty="0">
                <a:latin typeface="+mn-lt"/>
              </a:rPr>
              <a:t>sub </a:t>
            </a:r>
            <a:r>
              <a:rPr lang="en-US" sz="1100" dirty="0">
                <a:latin typeface="+mn-lt"/>
              </a:rPr>
              <a:t>2s,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instantanee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navigare </a:t>
            </a:r>
            <a:r>
              <a:rPr lang="en-US" sz="1100" dirty="0" err="1">
                <a:latin typeface="+mn-lt"/>
              </a:rPr>
              <a:t>ghidat</a:t>
            </a:r>
            <a:r>
              <a:rPr lang="ro-RO" sz="1100" dirty="0">
                <a:latin typeface="+mn-lt"/>
              </a:rPr>
              <a:t>ă prin platformă.</a:t>
            </a:r>
            <a:endParaRPr lang="en-US" sz="11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2098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j-lt"/>
              </a:rPr>
              <a:t>Arhitectură Backend</a:t>
            </a:r>
            <a:endParaRPr b="1" dirty="0"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485" y="588724"/>
            <a:ext cx="5943599" cy="4440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36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Arhitectură </a:t>
            </a:r>
            <a:r>
              <a:rPr lang="en-US" b="1" spc="-185" dirty="0" err="1">
                <a:latin typeface="+mn-lt"/>
              </a:rPr>
              <a:t>Fronten</a:t>
            </a:r>
            <a:r>
              <a:rPr lang="ro-RO" b="1" spc="-185" dirty="0">
                <a:latin typeface="+mn-lt"/>
              </a:rPr>
              <a:t>d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36"/>
            <a:ext cx="9144000" cy="263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F34D-E565-56BF-C49A-21D124C84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36A2F-D7B9-6841-19EC-491DFC0CC37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161EEC-D9B2-F7CD-6696-6C6800DC57E2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464274-D570-7BFA-FB80-91A232EDE34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4BBA61-C206-09C4-DE8D-ED54F13AC5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A1361AF-F048-879F-A69A-43C9F7600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E923DED-6916-6ECA-1802-00C103EFB27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C813A18-7801-6CAC-6544-B2819066150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93179B-C425-222C-5901-7C2D47B35B3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E455282-8FF9-B2EF-BCD1-C0050F2DC622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D3CD-BA9A-C3A9-F3D0-7B2DE978C458}"/>
              </a:ext>
            </a:extLst>
          </p:cNvPr>
          <p:cNvSpPr txBox="1"/>
          <p:nvPr/>
        </p:nvSpPr>
        <p:spPr>
          <a:xfrm>
            <a:off x="290962" y="1034830"/>
            <a:ext cx="809476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>
                <a:latin typeface="+mn-lt"/>
              </a:rPr>
              <a:t>Frontend &amp; 3D:</a:t>
            </a:r>
          </a:p>
          <a:p>
            <a:r>
              <a:rPr lang="ro-RO" sz="1400" dirty="0">
                <a:latin typeface="+mn-lt"/>
              </a:rPr>
              <a:t>  • JavaScript, React, React Three Fiber + Drei (Canvas, useGLTF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încărcare model, useFrame bucle de actualizare, useMemo caching, useLoader încărcare asset-uri, useThree contextul scenei, useState status local pentru integrare cu React).</a:t>
            </a:r>
          </a:p>
          <a:p>
            <a:r>
              <a:rPr lang="ro-RO" sz="1400" dirty="0">
                <a:latin typeface="+mn-lt"/>
              </a:rPr>
              <a:t>  • Animații: implementare în apelurile useSpring.</a:t>
            </a:r>
          </a:p>
          <a:p>
            <a:r>
              <a:rPr lang="ro-RO" sz="1400" dirty="0">
                <a:latin typeface="+mn-lt"/>
              </a:rPr>
              <a:t>  • Optimizare: lazy loading modele, frustum și oclussion culling automat.</a:t>
            </a:r>
          </a:p>
          <a:p>
            <a:r>
              <a:rPr lang="ro-RO" sz="1400" dirty="0">
                <a:latin typeface="+mn-lt"/>
              </a:rPr>
              <a:t>  • UI: Tailwind CSS, TypeScript când a fost nevoie de tipare strictă.</a:t>
            </a:r>
          </a:p>
          <a:p>
            <a:endParaRPr lang="ro-RO" dirty="0">
              <a:latin typeface="+mn-lt"/>
            </a:endParaRPr>
          </a:p>
          <a:p>
            <a:r>
              <a:rPr lang="ro-RO" b="1" dirty="0">
                <a:latin typeface="+mn-lt"/>
              </a:rPr>
              <a:t>Backend: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Go microservicii (Gorilla Mux, middleware JWT de autorizare).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Serviciu de compilare cod C++ cu antet de tracing dezvoltat manual.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Observabilitate: Prometheus middleware + Grafana dashboards.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Containerizare &amp; Orchestrare: Docker + Kubernetes + Kong Ingress pentru expunere servicii.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Bază de date MongoDB cu documente - comunicare prin CRUD cu BSON/JSON.</a:t>
            </a:r>
          </a:p>
          <a:p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8773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26216-34DB-BCE9-9E51-B1AAE6A0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FCCC15D-A45F-3176-AB74-58047EEACE4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CD4F60B-A2E0-64B3-6913-92ED44E6B855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9C628F3-3730-51A6-19DE-088DDEF2CF6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A11ED6-65E6-FD94-1617-47C928D153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B167CAF-7A61-48B2-5A16-1AE7FFECE29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FED4DF5-CA1F-1DB5-8CAD-2748EC83607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50B24C-62F1-B171-1452-32E4CDA8FF7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705EF6C-8137-2AB1-9366-FF4AEF51ADA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199B6B-FD83-4D5C-E1CF-E4C8B68A1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150"/>
            <a:ext cx="6725886" cy="33173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4D4635-1405-330F-D5A9-F42466041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23" y="819150"/>
            <a:ext cx="2076064" cy="3317308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CB3FABFB-26D5-19AA-B125-155FB7B526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5846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AA0D-DA21-F82B-99D5-BF3B8EB4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DA2D680-56BA-AAD3-12FC-24A957474D22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7E98F94-0ACB-14BE-1D25-30E17D19DFC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38039EB-E9EF-1790-1C74-07A114D84B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855A919-29D1-78AE-95A4-CB55171E90F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14FDC3C-F633-A2E2-60D6-1F4703E761A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676A8B7-794F-A910-E40A-4F883DA0B7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14E2A56-CE93-7BB5-197A-72864B64DFA2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2C0745-8D6E-EE0A-EAC7-07DA9F19F16D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C1CEC5-6A9D-9385-36EE-1BC216E3F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2" y="563698"/>
            <a:ext cx="2125242" cy="2802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0C09325-BC0E-837C-DB72-57D753F6D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604" y="3032447"/>
            <a:ext cx="2411313" cy="207453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61AB80-7DF7-2BCE-99A6-8DC05458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936" y="569917"/>
            <a:ext cx="2382522" cy="244348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03C70BB-4053-20C1-09A3-8FAE39B5B2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1" y="3341105"/>
            <a:ext cx="5943600" cy="176933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24828D6-28D2-D62F-383E-04E434B9E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8316" y="592282"/>
            <a:ext cx="3742267" cy="1981200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BF2690DA-A32C-3136-C3D1-BC1498E15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61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0FB73-2152-B080-904B-729EB187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9147331-A946-E599-FDB4-92A755465B84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E943E5BD-491E-B234-CA01-0FFE6C4E8F3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95E0D6-599A-3617-0870-F0C9014414E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66E4808-5B83-959A-59C7-AFB79F02B12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FCB2484-7579-F458-8762-CA25CDAEB81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48DEB51-765A-15DB-43BE-8ABA850ADD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B4EAAE9-DB2F-97D7-147B-26F3803F6B7F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B7D5843-B5E9-5BA9-E703-EAB4BEC218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9BA44E-C27A-298B-B025-6BF38A0D6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" y="558342"/>
            <a:ext cx="5735744" cy="24808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29402-FAF3-CB5C-44F3-34CDD98E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5" y="3028950"/>
            <a:ext cx="6421543" cy="21129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C0416A-B4A1-9F88-52CA-5EA9B3688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69" y="1497929"/>
            <a:ext cx="1903579" cy="3062043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5A328531-0AD2-1EB4-92A0-0E0A818316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169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56216-5636-FD07-9EA0-437849B3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" y="651722"/>
            <a:ext cx="9050016" cy="4449434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EBC61D7E-722D-8521-9851-F4CC68259B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2B1F-8296-50EE-C7C8-D6133A70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C2B945-D306-17AD-3CED-2D8EAF4D3FA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97C6B8-B74B-3C8D-823A-D8743F3A140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BF19D3B-2A03-2758-74EB-84C2F28EF32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B730068-D57A-0C3F-D3C3-16DD985AD97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E04DF35E-E49F-772C-0482-56C138925B9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9775AE6-65BB-4521-E9F1-FAE8F95EC39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E77BAFF-2FEE-C3E5-4D41-F9DFA29919AE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09263B9-28F6-39B5-CB0C-B76AF47B32B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CE3A13-EF81-0646-6680-A1A58E372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151" y="554173"/>
            <a:ext cx="3464640" cy="23760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BA3E22-BAF9-5D6D-AF58-DFD2126C0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4" y="565863"/>
            <a:ext cx="2280913" cy="25406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087E7E-0186-2650-F020-723180D2E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725" y="554173"/>
            <a:ext cx="2575429" cy="230939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0E8936-84BD-DAA4-6788-C49EE13D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73" y="3298973"/>
            <a:ext cx="4333596" cy="17750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BA4769-89ED-4D4A-7633-915C89CE6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8069" y="2945822"/>
            <a:ext cx="3581400" cy="2173301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AE7D283D-4785-DD8C-09A9-3800621EC0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4111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532283" y="1428750"/>
            <a:ext cx="807943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Obiective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atinse</a:t>
            </a:r>
            <a:r>
              <a:rPr lang="en-US" sz="1400" b="1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funcționalitate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performanță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bună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experienț</a:t>
            </a:r>
            <a:r>
              <a:rPr lang="ro-RO" sz="1400" dirty="0">
                <a:latin typeface="+mn-lt"/>
              </a:rPr>
              <a:t>a de utilizare interactivă.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Metodologie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Formular cu rating 1-5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a </a:t>
            </a:r>
            <a:r>
              <a:rPr lang="en-US" sz="1400" dirty="0" err="1">
                <a:latin typeface="+mn-lt"/>
              </a:rPr>
              <a:t>simulărilor</a:t>
            </a:r>
            <a:r>
              <a:rPr lang="en-US" sz="1400" dirty="0">
                <a:latin typeface="+mn-lt"/>
              </a:rPr>
              <a:t> 3D (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informatică</a:t>
            </a:r>
            <a:r>
              <a:rPr lang="ro-RO" sz="1400" dirty="0">
                <a:latin typeface="+mn-lt"/>
              </a:rPr>
              <a:t> au fost incluse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35 de </a:t>
            </a:r>
            <a:r>
              <a:rPr lang="en-US" sz="1400" dirty="0" err="1">
                <a:latin typeface="+mn-lt"/>
              </a:rPr>
              <a:t>răspunsuri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colectate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Rezultate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cheie</a:t>
            </a:r>
            <a:r>
              <a:rPr lang="en-US" sz="1400" b="1" dirty="0">
                <a:latin typeface="+mn-lt"/>
              </a:rPr>
              <a:t>:</a:t>
            </a: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: 71%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</a:t>
            </a:r>
            <a:r>
              <a:rPr lang="ro-RO" sz="1400" dirty="0">
                <a:latin typeface="+mn-lt"/>
              </a:rPr>
              <a:t>64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Chimie: 64%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</a:t>
            </a:r>
            <a:r>
              <a:rPr lang="ro-RO" sz="1400" dirty="0">
                <a:latin typeface="+mn-lt"/>
              </a:rPr>
              <a:t> 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68%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68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65%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General: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95%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note ≥3/5 la </a:t>
            </a:r>
            <a:r>
              <a:rPr lang="en-US" sz="1400" dirty="0" err="1">
                <a:latin typeface="+mn-lt"/>
              </a:rPr>
              <a:t>toate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criteriile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4B635B11-78A0-F7B1-F5D1-647F4630F56A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532283" y="1428750"/>
            <a:ext cx="807943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Percepți</a:t>
            </a:r>
            <a:r>
              <a:rPr lang="ro-RO" sz="1400" b="1" dirty="0">
                <a:latin typeface="+mn-lt"/>
              </a:rPr>
              <a:t>a utilizatorilor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90% </a:t>
            </a:r>
            <a:r>
              <a:rPr lang="en-US" sz="1400" dirty="0" err="1">
                <a:latin typeface="+mn-lt"/>
              </a:rPr>
              <a:t>respondenț</a:t>
            </a:r>
            <a:r>
              <a:rPr lang="ro-RO" sz="1400" dirty="0">
                <a:latin typeface="+mn-lt"/>
              </a:rPr>
              <a:t>i</a:t>
            </a:r>
            <a:r>
              <a:rPr lang="en-US" sz="1400" dirty="0" err="1">
                <a:latin typeface="+mn-lt"/>
              </a:rPr>
              <a:t>i</a:t>
            </a:r>
            <a:r>
              <a:rPr lang="ro-RO" sz="1400" dirty="0">
                <a:latin typeface="+mn-lt"/>
              </a:rPr>
              <a:t> la formularul de feedback au fost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acord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o platformă ca VisioScience3D </a:t>
            </a:r>
            <a:r>
              <a:rPr lang="en-US" sz="1400" dirty="0" err="1">
                <a:latin typeface="+mn-lt"/>
              </a:rPr>
              <a:t>ar</a:t>
            </a:r>
            <a:r>
              <a:rPr lang="en-US" sz="1400" dirty="0">
                <a:latin typeface="+mn-lt"/>
              </a:rPr>
              <a:t> fi </a:t>
            </a:r>
            <a:r>
              <a:rPr lang="ro-RO" sz="1400" dirty="0">
                <a:latin typeface="+mn-lt"/>
              </a:rPr>
              <a:t>fost utilă și ar fi </a:t>
            </a:r>
            <a:r>
              <a:rPr lang="en-US" sz="1400" dirty="0" err="1">
                <a:latin typeface="+mn-lt"/>
              </a:rPr>
              <a:t>folosit</a:t>
            </a:r>
            <a:r>
              <a:rPr lang="ro-RO" sz="1400" dirty="0">
                <a:latin typeface="+mn-lt"/>
              </a:rPr>
              <a:t>-o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perioada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școl</a:t>
            </a:r>
            <a:r>
              <a:rPr lang="ro-RO" sz="1400" dirty="0">
                <a:latin typeface="+mn-lt"/>
              </a:rPr>
              <a:t>ii.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Metrici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tehnice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Timp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răspuns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al </a:t>
            </a:r>
            <a:r>
              <a:rPr lang="en-US" sz="1400" dirty="0">
                <a:latin typeface="+mn-lt"/>
              </a:rPr>
              <a:t>API</a:t>
            </a:r>
            <a:r>
              <a:rPr lang="ro-RO" sz="1400" dirty="0">
                <a:latin typeface="+mn-lt"/>
              </a:rPr>
              <a:t>-ului </a:t>
            </a:r>
            <a:r>
              <a:rPr lang="en-US" sz="1400" dirty="0">
                <a:latin typeface="+mn-lt"/>
              </a:rPr>
              <a:t>&lt;250 </a:t>
            </a:r>
            <a:r>
              <a:rPr lang="en-US" sz="1400" dirty="0" err="1">
                <a:latin typeface="+mn-lt"/>
              </a:rPr>
              <a:t>ms</a:t>
            </a:r>
            <a:r>
              <a:rPr lang="ro-RO" sz="1400" dirty="0">
                <a:latin typeface="+mn-lt"/>
              </a:rPr>
              <a:t>, rate de cadre </a:t>
            </a:r>
            <a:r>
              <a:rPr lang="en-US" sz="1400" dirty="0">
                <a:latin typeface="+mn-lt"/>
              </a:rPr>
              <a:t>≥60 FPS constant</a:t>
            </a:r>
            <a:r>
              <a:rPr lang="ro-RO" sz="1400" dirty="0">
                <a:latin typeface="+mn-lt"/>
              </a:rPr>
              <a:t>, memorie folosită </a:t>
            </a:r>
            <a:r>
              <a:rPr lang="en-US" sz="1400" dirty="0">
                <a:latin typeface="+mn-lt"/>
              </a:rPr>
              <a:t>&lt;200 MB per </a:t>
            </a:r>
            <a:r>
              <a:rPr lang="en-US" sz="1400" dirty="0" err="1">
                <a:latin typeface="+mn-lt"/>
              </a:rPr>
              <a:t>scenă</a:t>
            </a:r>
            <a:r>
              <a:rPr lang="ro-RO" sz="1400" dirty="0">
                <a:latin typeface="+mn-lt"/>
              </a:rPr>
              <a:t>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Avantaj</a:t>
            </a:r>
            <a:r>
              <a:rPr lang="ro-RO" sz="1400" b="1" dirty="0">
                <a:latin typeface="+mn-lt"/>
              </a:rPr>
              <a:t>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Cost </a:t>
            </a:r>
            <a:r>
              <a:rPr lang="ro-RO" sz="1400" dirty="0">
                <a:latin typeface="+mn-lt"/>
              </a:rPr>
              <a:t>utilizare </a:t>
            </a:r>
            <a:r>
              <a:rPr lang="en-US" sz="1400" dirty="0">
                <a:latin typeface="+mn-lt"/>
              </a:rPr>
              <a:t>0 (</a:t>
            </a:r>
            <a:r>
              <a:rPr lang="en-US" sz="1400" dirty="0" err="1">
                <a:latin typeface="+mn-lt"/>
              </a:rPr>
              <a:t>față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Mozaweb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IQBoard</a:t>
            </a:r>
            <a:r>
              <a:rPr lang="ro-RO" sz="1400" dirty="0">
                <a:latin typeface="+mn-lt"/>
              </a:rPr>
              <a:t> care au cost mare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, suport extins la multiple materii, evaluare și gestionare rezultate de către profesori direct din platformă.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Concluzie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</a:t>
            </a:r>
            <a:r>
              <a:rPr lang="en-US" sz="1400" dirty="0" err="1">
                <a:latin typeface="+mn-lt"/>
              </a:rPr>
              <a:t>etricile</a:t>
            </a:r>
            <a:r>
              <a:rPr lang="ro-RO" sz="1400" dirty="0">
                <a:latin typeface="+mn-lt"/>
              </a:rPr>
              <a:t>, avantajele și mai ales feedback-ul pozitiiv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confirmă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un potențial succes al </a:t>
            </a:r>
            <a:r>
              <a:rPr lang="en-US" sz="1400" dirty="0" err="1">
                <a:latin typeface="+mn-lt"/>
              </a:rPr>
              <a:t>platformei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8114BEA3-9087-5A39-F7DD-57B6496593C1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532852" y="1628493"/>
            <a:ext cx="83361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n-lt"/>
              </a:rPr>
              <a:t>Probleme</a:t>
            </a:r>
            <a:r>
              <a:rPr lang="en-US" sz="1400" b="1" dirty="0">
                <a:latin typeface="+mn-lt"/>
              </a:rPr>
              <a:t> </a:t>
            </a:r>
            <a:r>
              <a:rPr lang="ro-RO" sz="1400" b="1" dirty="0">
                <a:latin typeface="+mn-lt"/>
              </a:rPr>
              <a:t>întâmpinate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400" dirty="0">
                <a:latin typeface="+mn-lt"/>
              </a:rPr>
              <a:t>-</a:t>
            </a:r>
            <a:r>
              <a:rPr lang="en-US" sz="1400" b="1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Kong Ingress local: port-forward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configurare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ClusterIP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CI/CD local: GitHub Runner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cluster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GPU out-of-memory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16K×8K: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4K–8K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</a:t>
            </a:r>
            <a:r>
              <a:rPr lang="en-US" sz="1200" dirty="0" err="1">
                <a:latin typeface="+mn-lt"/>
              </a:rPr>
              <a:t>Parsare</a:t>
            </a:r>
            <a:r>
              <a:rPr lang="en-US" sz="1200" dirty="0">
                <a:latin typeface="+mn-lt"/>
              </a:rPr>
              <a:t> C++ </a:t>
            </a:r>
            <a:r>
              <a:rPr lang="en-US" sz="1200" dirty="0" err="1">
                <a:latin typeface="+mn-lt"/>
              </a:rPr>
              <a:t>complexă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metatrăsături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serializare</a:t>
            </a:r>
            <a:r>
              <a:rPr lang="en-US" sz="1200" dirty="0">
                <a:latin typeface="+mn-lt"/>
              </a:rPr>
              <a:t> JSON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</a:t>
            </a:r>
          </a:p>
          <a:p>
            <a:r>
              <a:rPr lang="en-US" sz="1200" dirty="0">
                <a:latin typeface="+mn-lt"/>
              </a:rPr>
              <a:t>- Cluster Kubernetes mare (60 GB): </a:t>
            </a:r>
            <a:r>
              <a:rPr lang="en-US" sz="1200" dirty="0" err="1">
                <a:latin typeface="+mn-lt"/>
              </a:rPr>
              <a:t>curățare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imagini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en-US" sz="1200" dirty="0">
                <a:latin typeface="+mn-lt"/>
              </a:rPr>
              <a:t> volume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Populare MongoDB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Kubernetes: job </a:t>
            </a:r>
            <a:r>
              <a:rPr lang="en-US" sz="1200" dirty="0" err="1">
                <a:latin typeface="+mn-lt"/>
              </a:rPr>
              <a:t>dedicat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pod </a:t>
            </a:r>
            <a:r>
              <a:rPr lang="en-US" sz="1200" dirty="0" err="1">
                <a:latin typeface="+mn-lt"/>
              </a:rPr>
              <a:t>specializat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endParaRPr lang="en-US" sz="1400" b="1" dirty="0">
              <a:latin typeface="+mn-lt"/>
            </a:endParaRPr>
          </a:p>
          <a:p>
            <a:r>
              <a:rPr lang="en-US" sz="1400" b="1" dirty="0" err="1">
                <a:latin typeface="+mn-lt"/>
              </a:rPr>
              <a:t>Concluzii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200" dirty="0" err="1">
                <a:latin typeface="+mn-lt"/>
              </a:rPr>
              <a:t>Soluția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finală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este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stabilă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performantă</a:t>
            </a:r>
            <a:r>
              <a:rPr lang="en-US" sz="1200" dirty="0">
                <a:latin typeface="+mn-lt"/>
              </a:rPr>
              <a:t>, cu feedback </a:t>
            </a:r>
            <a:r>
              <a:rPr lang="en-US" sz="1200" dirty="0" err="1">
                <a:latin typeface="+mn-lt"/>
              </a:rPr>
              <a:t>pozitiv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utilitate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ridicată</a:t>
            </a:r>
            <a:r>
              <a:rPr lang="ro-RO" sz="1200" dirty="0">
                <a:latin typeface="+mn-lt"/>
              </a:rPr>
              <a:t> (menționată și de utilizatorii care au testat-o în formular)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elevi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31BFEC4-2C80-1AD1-6A95-CF9848F79802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Concluzii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439517" y="1733550"/>
            <a:ext cx="617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Export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rezultate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și metrici de performanță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(CSV, PDF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alte formate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Rapoarte personalizate și detaliate pentru fiecare elev.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Notificări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alerte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prin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email 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 teste și invitații.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AI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explicații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sugestii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personalizate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colaborativ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în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timp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real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Dezvoltarea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infrastructurii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AEC08E3C-162D-9EFD-2A99-341011FD873F}"/>
              </a:ext>
            </a:extLst>
          </p:cNvPr>
          <p:cNvSpPr txBox="1">
            <a:spLocks/>
          </p:cNvSpPr>
          <p:nvPr/>
        </p:nvSpPr>
        <p:spPr>
          <a:xfrm>
            <a:off x="2403764" y="45465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Dezvoltare viitoare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729</TotalTime>
  <Words>1083</Words>
  <Application>Microsoft Office PowerPoint</Application>
  <PresentationFormat>On-screen Show (16:9)</PresentationFormat>
  <Paragraphs>136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Implementare</vt:lpstr>
      <vt:lpstr>Implementare</vt:lpstr>
      <vt:lpstr>Implementare</vt:lpstr>
      <vt:lpstr>Implementare</vt:lpstr>
      <vt:lpstr>Implementare</vt:lpstr>
      <vt:lpstr>Implementare</vt:lpstr>
      <vt:lpstr>PowerPoint Presentation</vt:lpstr>
      <vt:lpstr>PowerPoint Presentation</vt:lpstr>
      <vt:lpstr>PowerPoint Presentation</vt:lpstr>
      <vt:lpstr>PowerPoint Presentation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78</cp:revision>
  <dcterms:created xsi:type="dcterms:W3CDTF">2025-05-10T19:42:31Z</dcterms:created>
  <dcterms:modified xsi:type="dcterms:W3CDTF">2025-06-29T12:37:05Z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