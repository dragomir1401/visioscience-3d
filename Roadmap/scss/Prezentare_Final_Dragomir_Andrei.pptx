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6" r:id="rId3"/>
    <p:sldId id="258" r:id="rId4"/>
    <p:sldId id="259" r:id="rId5"/>
    <p:sldId id="263" r:id="rId6"/>
    <p:sldId id="267" r:id="rId7"/>
    <p:sldId id="284" r:id="rId8"/>
    <p:sldId id="279" r:id="rId9"/>
    <p:sldId id="282" r:id="rId10"/>
    <p:sldId id="281" r:id="rId11"/>
    <p:sldId id="268" r:id="rId12"/>
    <p:sldId id="283" r:id="rId13"/>
    <p:sldId id="269" r:id="rId14"/>
    <p:sldId id="277" r:id="rId15"/>
    <p:sldId id="270" r:id="rId16"/>
    <p:sldId id="271" r:id="rId17"/>
    <p:sldId id="265" r:id="rId18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 varScale="1">
        <p:scale>
          <a:sx n="138" d="100"/>
          <a:sy n="138" d="100"/>
        </p:scale>
        <p:origin x="870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13274" y="0"/>
            <a:ext cx="8430895" cy="5143500"/>
          </a:xfrm>
          <a:custGeom>
            <a:avLst/>
            <a:gdLst/>
            <a:ahLst/>
            <a:cxnLst/>
            <a:rect l="l" t="t" r="r" b="b"/>
            <a:pathLst>
              <a:path w="8430895" h="5143500">
                <a:moveTo>
                  <a:pt x="0" y="5143499"/>
                </a:moveTo>
                <a:lnTo>
                  <a:pt x="8430724" y="5143499"/>
                </a:lnTo>
                <a:lnTo>
                  <a:pt x="8430724" y="0"/>
                </a:lnTo>
                <a:lnTo>
                  <a:pt x="0" y="0"/>
                </a:lnTo>
                <a:lnTo>
                  <a:pt x="0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713740" cy="5143500"/>
          </a:xfrm>
          <a:custGeom>
            <a:avLst/>
            <a:gdLst/>
            <a:ahLst/>
            <a:cxnLst/>
            <a:rect l="l" t="t" r="r" b="b"/>
            <a:pathLst>
              <a:path w="713740" h="5143500">
                <a:moveTo>
                  <a:pt x="713274" y="0"/>
                </a:moveTo>
                <a:lnTo>
                  <a:pt x="713274" y="5143499"/>
                </a:lnTo>
                <a:lnTo>
                  <a:pt x="0" y="5143499"/>
                </a:lnTo>
                <a:lnTo>
                  <a:pt x="0" y="0"/>
                </a:lnTo>
                <a:lnTo>
                  <a:pt x="713274" y="0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538594"/>
                </a:moveTo>
                <a:lnTo>
                  <a:pt x="717981" y="538594"/>
                </a:lnTo>
                <a:lnTo>
                  <a:pt x="717981" y="0"/>
                </a:lnTo>
                <a:lnTo>
                  <a:pt x="708456" y="0"/>
                </a:lnTo>
                <a:lnTo>
                  <a:pt x="708456" y="538594"/>
                </a:lnTo>
                <a:lnTo>
                  <a:pt x="0" y="538594"/>
                </a:lnTo>
                <a:lnTo>
                  <a:pt x="0" y="548119"/>
                </a:lnTo>
                <a:lnTo>
                  <a:pt x="708456" y="548119"/>
                </a:lnTo>
                <a:lnTo>
                  <a:pt x="708456" y="4599241"/>
                </a:lnTo>
                <a:lnTo>
                  <a:pt x="0" y="4599241"/>
                </a:lnTo>
                <a:lnTo>
                  <a:pt x="0" y="4608766"/>
                </a:lnTo>
                <a:lnTo>
                  <a:pt x="708456" y="4608766"/>
                </a:lnTo>
                <a:lnTo>
                  <a:pt x="708456" y="5143500"/>
                </a:lnTo>
                <a:lnTo>
                  <a:pt x="717981" y="5143500"/>
                </a:lnTo>
                <a:lnTo>
                  <a:pt x="717981" y="4608766"/>
                </a:lnTo>
                <a:lnTo>
                  <a:pt x="9144000" y="4608766"/>
                </a:lnTo>
                <a:lnTo>
                  <a:pt x="9144000" y="4599241"/>
                </a:lnTo>
                <a:lnTo>
                  <a:pt x="717981" y="4599241"/>
                </a:lnTo>
                <a:lnTo>
                  <a:pt x="717981" y="548119"/>
                </a:lnTo>
                <a:lnTo>
                  <a:pt x="9144000" y="548119"/>
                </a:lnTo>
                <a:lnTo>
                  <a:pt x="9144000" y="53859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547224" y="141312"/>
            <a:ext cx="494665" cy="242570"/>
          </a:xfrm>
          <a:custGeom>
            <a:avLst/>
            <a:gdLst/>
            <a:ahLst/>
            <a:cxnLst/>
            <a:rect l="l" t="t" r="r" b="b"/>
            <a:pathLst>
              <a:path w="494665" h="242570">
                <a:moveTo>
                  <a:pt x="0" y="0"/>
                </a:moveTo>
                <a:lnTo>
                  <a:pt x="494399" y="0"/>
                </a:lnTo>
              </a:path>
              <a:path w="494665" h="242570">
                <a:moveTo>
                  <a:pt x="0" y="78624"/>
                </a:moveTo>
                <a:lnTo>
                  <a:pt x="494399" y="78624"/>
                </a:lnTo>
              </a:path>
              <a:path w="494665" h="242570">
                <a:moveTo>
                  <a:pt x="0" y="159624"/>
                </a:moveTo>
                <a:lnTo>
                  <a:pt x="494399" y="159624"/>
                </a:lnTo>
              </a:path>
              <a:path w="494665" h="242570">
                <a:moveTo>
                  <a:pt x="0" y="242299"/>
                </a:moveTo>
                <a:lnTo>
                  <a:pt x="494399" y="242299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1734" y="114428"/>
            <a:ext cx="310515" cy="296545"/>
          </a:xfrm>
          <a:custGeom>
            <a:avLst/>
            <a:gdLst/>
            <a:ahLst/>
            <a:cxnLst/>
            <a:rect l="l" t="t" r="r" b="b"/>
            <a:pathLst>
              <a:path w="310515" h="296545">
                <a:moveTo>
                  <a:pt x="230712" y="296075"/>
                </a:moveTo>
                <a:lnTo>
                  <a:pt x="155074" y="191091"/>
                </a:lnTo>
                <a:lnTo>
                  <a:pt x="78438" y="296009"/>
                </a:lnTo>
                <a:lnTo>
                  <a:pt x="46288" y="272331"/>
                </a:lnTo>
                <a:lnTo>
                  <a:pt x="122858" y="167347"/>
                </a:lnTo>
                <a:lnTo>
                  <a:pt x="0" y="127660"/>
                </a:lnTo>
                <a:lnTo>
                  <a:pt x="12339" y="89843"/>
                </a:lnTo>
                <a:lnTo>
                  <a:pt x="135197" y="129526"/>
                </a:lnTo>
                <a:lnTo>
                  <a:pt x="135197" y="0"/>
                </a:lnTo>
                <a:lnTo>
                  <a:pt x="174884" y="0"/>
                </a:lnTo>
                <a:lnTo>
                  <a:pt x="174884" y="129593"/>
                </a:lnTo>
                <a:lnTo>
                  <a:pt x="297809" y="89909"/>
                </a:lnTo>
                <a:lnTo>
                  <a:pt x="310148" y="127727"/>
                </a:lnTo>
                <a:lnTo>
                  <a:pt x="187223" y="167413"/>
                </a:lnTo>
                <a:lnTo>
                  <a:pt x="262858" y="272397"/>
                </a:lnTo>
                <a:lnTo>
                  <a:pt x="230712" y="296075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21763" y="2109216"/>
            <a:ext cx="2503804" cy="375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577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6325" y="1211172"/>
            <a:ext cx="3640454" cy="3508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1975" y="1334997"/>
            <a:ext cx="3590290" cy="308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538587"/>
            <a:ext cx="9144000" cy="9525"/>
          </a:xfrm>
          <a:custGeom>
            <a:avLst/>
            <a:gdLst/>
            <a:ahLst/>
            <a:cxnLst/>
            <a:rect l="l" t="t" r="r" b="b"/>
            <a:pathLst>
              <a:path w="9144000" h="9525">
                <a:moveTo>
                  <a:pt x="0" y="952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9524"/>
                </a:lnTo>
                <a:lnTo>
                  <a:pt x="0" y="952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  <a:lnTo>
                  <a:pt x="694601" y="0"/>
                </a:lnTo>
                <a:lnTo>
                  <a:pt x="694601" y="544224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11970" y="566580"/>
            <a:ext cx="4520058" cy="5384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20505" y="1258076"/>
            <a:ext cx="5336540" cy="288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209800" y="1859618"/>
            <a:ext cx="48006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spc="-185" dirty="0" err="1">
                <a:latin typeface="+mj-lt"/>
              </a:rPr>
              <a:t>VisioScience</a:t>
            </a:r>
            <a:r>
              <a:rPr lang="en-US" sz="2400" b="1" spc="-185" dirty="0">
                <a:latin typeface="+mj-lt"/>
              </a:rPr>
              <a:t> 3D </a:t>
            </a:r>
            <a:r>
              <a:rPr lang="en-US" sz="2400" spc="-185" dirty="0">
                <a:latin typeface="+mj-lt"/>
              </a:rPr>
              <a:t>- </a:t>
            </a:r>
            <a:r>
              <a:rPr lang="en-US" sz="2400" spc="-185" dirty="0" err="1">
                <a:latin typeface="+mj-lt"/>
              </a:rPr>
              <a:t>Platformă</a:t>
            </a:r>
            <a:r>
              <a:rPr lang="en-US" sz="2400" spc="-185" dirty="0">
                <a:latin typeface="+mj-lt"/>
              </a:rPr>
              <a:t> Web </a:t>
            </a:r>
            <a:r>
              <a:rPr lang="en-US" sz="2400" spc="-185" dirty="0" err="1">
                <a:latin typeface="+mj-lt"/>
              </a:rPr>
              <a:t>pentru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Învățare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prin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Vizualizări</a:t>
            </a:r>
            <a:r>
              <a:rPr lang="en-US" sz="2400" spc="-185" dirty="0">
                <a:latin typeface="+mj-lt"/>
              </a:rPr>
              <a:t> 3D</a:t>
            </a:r>
            <a:br>
              <a:rPr lang="en-US" sz="2400" spc="-185" dirty="0">
                <a:latin typeface="+mj-lt"/>
              </a:rPr>
            </a:br>
            <a:endParaRPr sz="2400" dirty="0">
              <a:latin typeface="+mj-l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4991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400" b="1" u="none" dirty="0">
                <a:latin typeface="+mj-lt"/>
                <a:cs typeface="Times New Roman" panose="02020603050405020304" pitchFamily="18" charset="0"/>
              </a:rPr>
              <a:t>Student:</a:t>
            </a:r>
            <a:r>
              <a:rPr sz="1400" b="1" u="none" spc="8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dirty="0">
                <a:latin typeface="+mj-lt"/>
                <a:cs typeface="Times New Roman" panose="02020603050405020304" pitchFamily="18" charset="0"/>
              </a:rPr>
              <a:t>Dragomir Andrei-Mihai</a:t>
            </a:r>
          </a:p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lang="ro-RO" sz="1400" b="1" u="none" dirty="0">
                <a:latin typeface="+mj-lt"/>
                <a:cs typeface="Times New Roman" panose="02020603050405020304" pitchFamily="18" charset="0"/>
              </a:rPr>
              <a:t>Coordonator</a:t>
            </a:r>
            <a:r>
              <a:rPr sz="1400" b="1" u="none" spc="10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ro-RO" sz="1400" b="1" u="none" spc="105" dirty="0">
                <a:latin typeface="+mj-lt"/>
                <a:cs typeface="Times New Roman" panose="02020603050405020304" pitchFamily="18" charset="0"/>
              </a:rPr>
              <a:t>științific</a:t>
            </a:r>
            <a:r>
              <a:rPr sz="1400" b="1" u="none" dirty="0">
                <a:latin typeface="+mj-lt"/>
                <a:cs typeface="Times New Roman" panose="02020603050405020304" pitchFamily="18" charset="0"/>
              </a:rPr>
              <a:t>:</a:t>
            </a:r>
            <a:r>
              <a:rPr sz="1400" b="1" u="none" spc="11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spc="-145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Prof.  </a:t>
            </a:r>
            <a:r>
              <a:rPr lang="en-US" sz="1400" u="none" spc="-5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Dr.</a:t>
            </a:r>
            <a:r>
              <a:rPr lang="en-US" sz="1400" u="none" spc="11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Ing Anca</a:t>
            </a:r>
            <a:r>
              <a:rPr lang="ro-RO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-Andreea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Morar</a:t>
            </a:r>
            <a:endParaRPr sz="1400" dirty="0">
              <a:latin typeface="+mj-lt"/>
              <a:ea typeface="Microsoft Sans Serif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609913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36978" y="4754382"/>
            <a:ext cx="13017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9600" y="625448"/>
            <a:ext cx="2174349" cy="964750"/>
          </a:xfrm>
          <a:prstGeom prst="rect">
            <a:avLst/>
          </a:prstGeom>
        </p:spPr>
      </p:pic>
      <p:pic>
        <p:nvPicPr>
          <p:cNvPr id="12" name="Picture 11" descr="A logo with a building and text&#10;&#10;AI-generated content may be incorrect.">
            <a:extLst>
              <a:ext uri="{FF2B5EF4-FFF2-40B4-BE49-F238E27FC236}">
                <a16:creationId xmlns:a16="http://schemas.microsoft.com/office/drawing/2014/main" id="{15085DD7-3D0C-1FB5-A75A-DF34C762A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3300" y="551314"/>
            <a:ext cx="1107701" cy="1113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41F-D64C-10B0-7BFF-4A4057D4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2087F4B-EBFA-3A17-B49B-E82555D711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90800" y="71761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288415">
              <a:lnSpc>
                <a:spcPct val="100000"/>
              </a:lnSpc>
              <a:spcBef>
                <a:spcPts val="100"/>
              </a:spcBef>
            </a:pPr>
            <a:r>
              <a:rPr lang="en-US" b="1" spc="-130" dirty="0">
                <a:latin typeface="+mj-lt"/>
              </a:rPr>
              <a:t>Motiva</a:t>
            </a:r>
            <a:r>
              <a:rPr lang="ro-RO" b="1" spc="-130" dirty="0">
                <a:latin typeface="+mj-lt"/>
              </a:rPr>
              <a:t>ție</a:t>
            </a:r>
            <a:endParaRPr b="1" spc="-130" dirty="0">
              <a:latin typeface="+mj-l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3F052E7-B481-8651-C7FC-9BC639AE503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ACCC59E-984B-A43B-9E13-60B8B38804C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4ABAC2-A7F1-6C11-CA8B-BE48E3E888D6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EADDD00-BC5F-3FC6-873E-901DCCD5827F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A2032B-5587-837F-3897-4870C674F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A1C5CA-37BA-6D58-2BF5-A7B4BD44A9F3}"/>
              </a:ext>
            </a:extLst>
          </p:cNvPr>
          <p:cNvSpPr txBox="1"/>
          <p:nvPr/>
        </p:nvSpPr>
        <p:spPr>
          <a:xfrm>
            <a:off x="3047999" y="1809750"/>
            <a:ext cx="55637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+mn-lt"/>
              </a:rPr>
              <a:t>Nevoia</a:t>
            </a:r>
            <a:r>
              <a:rPr lang="en-US" sz="1200" dirty="0">
                <a:latin typeface="+mn-lt"/>
              </a:rPr>
              <a:t> de a </a:t>
            </a:r>
            <a:r>
              <a:rPr lang="en-US" sz="1200" dirty="0" err="1">
                <a:latin typeface="+mn-lt"/>
              </a:rPr>
              <a:t>transforma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predarea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învățarea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științelor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exacte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într</a:t>
            </a:r>
            <a:r>
              <a:rPr lang="en-US" sz="1200" dirty="0">
                <a:latin typeface="+mn-lt"/>
              </a:rPr>
              <a:t>-o </a:t>
            </a:r>
            <a:r>
              <a:rPr lang="en-US" sz="1200" dirty="0" err="1">
                <a:latin typeface="+mn-lt"/>
              </a:rPr>
              <a:t>experiență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captivantă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interactivă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accesibilă</a:t>
            </a:r>
            <a:r>
              <a:rPr lang="en-US" sz="1200" dirty="0">
                <a:latin typeface="+mn-lt"/>
              </a:rPr>
              <a:t> au </a:t>
            </a:r>
            <a:r>
              <a:rPr lang="en-US" sz="1200" dirty="0" err="1">
                <a:latin typeface="+mn-lt"/>
              </a:rPr>
              <a:t>fost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punctele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principale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în alegerea unui astfel de proiect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locul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materialelor</a:t>
            </a:r>
            <a:r>
              <a:rPr lang="en-US" sz="1200" dirty="0">
                <a:latin typeface="+mn-lt"/>
              </a:rPr>
              <a:t> statice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abstracte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platforma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oferă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simulări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dinamice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vizualizări</a:t>
            </a:r>
            <a:r>
              <a:rPr lang="en-US" sz="1200" dirty="0">
                <a:latin typeface="+mn-lt"/>
              </a:rPr>
              <a:t> 3D care </a:t>
            </a:r>
            <a:r>
              <a:rPr lang="en-US" sz="1200" dirty="0" err="1">
                <a:latin typeface="+mn-lt"/>
              </a:rPr>
              <a:t>facilitează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înțelegerea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conceptelor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complexe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geometrie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fizică</a:t>
            </a:r>
            <a:r>
              <a:rPr lang="ro-RO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chimie</a:t>
            </a:r>
            <a:r>
              <a:rPr lang="ro-RO" sz="1200" dirty="0">
                <a:latin typeface="+mn-lt"/>
              </a:rPr>
              <a:t>, informatică și astronomie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Printr</a:t>
            </a:r>
            <a:r>
              <a:rPr lang="en-US" sz="1200" dirty="0">
                <a:latin typeface="+mn-lt"/>
              </a:rPr>
              <a:t>-un </a:t>
            </a:r>
            <a:r>
              <a:rPr lang="en-US" sz="1200" dirty="0" err="1">
                <a:latin typeface="+mn-lt"/>
              </a:rPr>
              <a:t>mediu</a:t>
            </a:r>
            <a:r>
              <a:rPr lang="en-US" sz="1200" dirty="0">
                <a:latin typeface="+mn-lt"/>
              </a:rPr>
              <a:t> web </a:t>
            </a:r>
            <a:r>
              <a:rPr lang="en-US" sz="1200" dirty="0" err="1">
                <a:latin typeface="+mn-lt"/>
              </a:rPr>
              <a:t>ușor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utilizat</a:t>
            </a:r>
            <a:r>
              <a:rPr lang="ro-RO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elevii</a:t>
            </a:r>
            <a:r>
              <a:rPr lang="en-US" sz="1200" dirty="0">
                <a:latin typeface="+mn-lt"/>
              </a:rPr>
              <a:t> pot </a:t>
            </a:r>
            <a:r>
              <a:rPr lang="en-US" sz="1200" dirty="0" err="1">
                <a:latin typeface="+mn-lt"/>
              </a:rPr>
              <a:t>explora</a:t>
            </a:r>
            <a:r>
              <a:rPr lang="en-US" sz="1200" dirty="0">
                <a:latin typeface="+mn-lt"/>
              </a:rPr>
              <a:t> liber </a:t>
            </a:r>
            <a:r>
              <a:rPr lang="ro-RO" sz="1200" dirty="0">
                <a:latin typeface="+mn-lt"/>
              </a:rPr>
              <a:t>materiile </a:t>
            </a:r>
            <a:r>
              <a:rPr lang="en-US" sz="1200" dirty="0" err="1">
                <a:latin typeface="+mn-lt"/>
              </a:rPr>
              <a:t>științifice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iar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beneficiază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instrumente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rapide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creare</a:t>
            </a:r>
            <a:r>
              <a:rPr lang="en-US" sz="1200" dirty="0">
                <a:latin typeface="+mn-lt"/>
              </a:rPr>
              <a:t> de quiz-</a:t>
            </a:r>
            <a:r>
              <a:rPr lang="en-US" sz="1200" dirty="0" err="1">
                <a:latin typeface="+mn-lt"/>
              </a:rPr>
              <a:t>uri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monitorizarea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progresului</a:t>
            </a:r>
            <a:r>
              <a:rPr lang="ro-RO" sz="1200" dirty="0">
                <a:latin typeface="+mn-lt"/>
              </a:rPr>
              <a:t> elevilor lor.</a:t>
            </a:r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11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8574" y="76311"/>
            <a:ext cx="6041826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008380" algn="ctr">
              <a:lnSpc>
                <a:spcPct val="100000"/>
              </a:lnSpc>
              <a:spcBef>
                <a:spcPts val="100"/>
              </a:spcBef>
            </a:pPr>
            <a:r>
              <a:rPr lang="ro-RO" b="1" spc="-190" dirty="0">
                <a:latin typeface="+mj-lt"/>
              </a:rPr>
              <a:t>Abordări existente</a:t>
            </a:r>
            <a:endParaRPr b="1" spc="-16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68574" y="1545714"/>
            <a:ext cx="3755826" cy="2993127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400" b="1" dirty="0">
                <a:solidFill>
                  <a:srgbClr val="060609"/>
                </a:solidFill>
                <a:latin typeface="+mj-lt"/>
                <a:cs typeface="Arial"/>
              </a:rPr>
              <a:t>Phet Edu</a:t>
            </a:r>
            <a:endParaRPr lang="en-US" sz="1400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evaluare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 elevilor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Oferă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limitate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Doar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modele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informatică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sau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astronomie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sz="1400" b="1" spc="-10" dirty="0">
                <a:solidFill>
                  <a:srgbClr val="060609"/>
                </a:solidFill>
                <a:latin typeface="+mj-lt"/>
                <a:cs typeface="Arial"/>
              </a:rPr>
              <a:t>Invațămate</a:t>
            </a:r>
            <a:endParaRPr lang="en-US" sz="1400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 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Experiență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 utilizare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suboptimă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 vizuale limitate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bazate pe Flash player (nu mai este folosit actual). Conține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materiale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integrate extern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 chestionare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folosind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Kahoot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sau alte surse externe.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49874" y="1545714"/>
            <a:ext cx="3694125" cy="306763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400" b="1" spc="-10" dirty="0">
                <a:solidFill>
                  <a:srgbClr val="060609"/>
                </a:solidFill>
                <a:latin typeface="+mj-lt"/>
                <a:cs typeface="Arial"/>
              </a:rPr>
              <a:t>Mozaweb</a:t>
            </a:r>
            <a:endParaRPr lang="en-US" sz="1400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necesită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un plugin extern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acestea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Accentul se pune pe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profit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mai degrabă decât pe educația deschisă.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sz="1400" b="1" dirty="0">
                <a:solidFill>
                  <a:srgbClr val="060609"/>
                </a:solidFill>
                <a:latin typeface="+mj-lt"/>
                <a:cs typeface="Arial"/>
              </a:rPr>
              <a:t>Iqboard</a:t>
            </a:r>
            <a:endParaRPr lang="en-US" sz="1400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118110" lvl="1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educaționale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pe diverse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domenii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produs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ul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prețuri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foarte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versiunea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284€,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expert 321€).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pic>
        <p:nvPicPr>
          <p:cNvPr id="10" name="Picture 9" descr="A yellow and blue logo&#10;&#10;AI-generated content may be incorrect.">
            <a:extLst>
              <a:ext uri="{FF2B5EF4-FFF2-40B4-BE49-F238E27FC236}">
                <a16:creationId xmlns:a16="http://schemas.microsoft.com/office/drawing/2014/main" id="{DAE8CE68-55F7-294C-60A3-4A3A4DD883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705" y="1585174"/>
            <a:ext cx="419796" cy="1982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A3B345-610F-93CC-3803-A84CFE5B7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533" y="3166247"/>
            <a:ext cx="184850" cy="184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8CC04-C431-0D8E-E7E8-28C0A1C96A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816" y="1614566"/>
            <a:ext cx="198276" cy="1982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5E1B70-2E8A-0665-B4F7-54281366BB9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7269" y="3351097"/>
            <a:ext cx="251823" cy="2518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95600" y="40085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367030">
              <a:lnSpc>
                <a:spcPct val="100000"/>
              </a:lnSpc>
              <a:spcBef>
                <a:spcPts val="100"/>
              </a:spcBef>
            </a:pPr>
            <a:r>
              <a:rPr lang="ro-RO" b="1" spc="-180" dirty="0">
                <a:latin typeface="+mj-lt"/>
              </a:rPr>
              <a:t>Specificarea cerințelor</a:t>
            </a:r>
            <a:endParaRPr b="1" spc="-13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62000" y="673648"/>
            <a:ext cx="7010400" cy="4190891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Elevi</a:t>
            </a:r>
            <a:endParaRPr lang="ro-RO" sz="1600" b="1" dirty="0">
              <a:latin typeface="+mn-lt"/>
            </a:endParaRPr>
          </a:p>
          <a:p>
            <a:pPr marL="228600" indent="-228600">
              <a:buAutoNum type="arabicPeriod"/>
            </a:pPr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Înregistrare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cont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securizat</a:t>
            </a:r>
            <a:r>
              <a:rPr lang="en-US" sz="1100" dirty="0">
                <a:latin typeface="+mn-lt"/>
              </a:rPr>
              <a:t>, date </a:t>
            </a:r>
            <a:r>
              <a:rPr lang="en-US" sz="1100" dirty="0" err="1">
                <a:latin typeface="+mn-lt"/>
              </a:rPr>
              <a:t>criptate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Meniu</a:t>
            </a:r>
            <a:r>
              <a:rPr lang="en-US" sz="1100" b="1" dirty="0">
                <a:latin typeface="+mn-lt"/>
              </a:rPr>
              <a:t> 3D </a:t>
            </a:r>
            <a:r>
              <a:rPr lang="en-US" sz="1100" b="1" dirty="0" err="1">
                <a:latin typeface="+mn-lt"/>
              </a:rPr>
              <a:t>interactiv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explorare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materii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navigare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gamificată</a:t>
            </a:r>
            <a:r>
              <a:rPr lang="ro-RO" sz="1100" dirty="0">
                <a:latin typeface="+mn-lt"/>
              </a:rPr>
              <a:t>, selectare interactivă.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Module 3D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vizualizări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scene, animații, interacțiune cu ele, modificare structură elemente.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Manipulare</a:t>
            </a:r>
            <a:r>
              <a:rPr lang="en-US" sz="1100" b="1" dirty="0">
                <a:latin typeface="+mn-lt"/>
              </a:rPr>
              <a:t> scene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rotire</a:t>
            </a:r>
            <a:r>
              <a:rPr lang="en-US" sz="1100" dirty="0">
                <a:latin typeface="+mn-lt"/>
              </a:rPr>
              <a:t>, zoom,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în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timp</a:t>
            </a:r>
            <a:r>
              <a:rPr lang="en-US" sz="1100" dirty="0">
                <a:latin typeface="+mn-lt"/>
              </a:rPr>
              <a:t> real</a:t>
            </a:r>
            <a:r>
              <a:rPr lang="ro-RO" sz="1100" dirty="0">
                <a:latin typeface="+mn-lt"/>
              </a:rPr>
              <a:t>, forțe, detalii elemente, IDE 3D interactiv.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Teste &amp; </a:t>
            </a:r>
            <a:r>
              <a:rPr lang="en-US" sz="1100" b="1" dirty="0" err="1">
                <a:latin typeface="+mn-lt"/>
              </a:rPr>
              <a:t>rezultate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rezolvare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retestare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panou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scoruri</a:t>
            </a:r>
            <a:r>
              <a:rPr lang="ro-RO" sz="1100" dirty="0">
                <a:latin typeface="+mn-lt"/>
              </a:rPr>
              <a:t>, panou recompense, insigne, provocări.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Clase &amp; </a:t>
            </a:r>
            <a:r>
              <a:rPr lang="en-US" sz="1100" b="1" dirty="0" err="1">
                <a:latin typeface="+mn-lt"/>
              </a:rPr>
              <a:t>invitații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aderare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notificări</a:t>
            </a:r>
            <a:r>
              <a:rPr lang="en-US" sz="1100" dirty="0">
                <a:latin typeface="+mn-lt"/>
              </a:rPr>
              <a:t>, accept/</a:t>
            </a:r>
            <a:r>
              <a:rPr lang="en-US" sz="1100" dirty="0" err="1">
                <a:latin typeface="+mn-lt"/>
              </a:rPr>
              <a:t>respinge</a:t>
            </a:r>
            <a:r>
              <a:rPr lang="ro-RO" sz="1100" dirty="0">
                <a:latin typeface="+mn-lt"/>
              </a:rPr>
              <a:t>, acces la testele și evaluările clasei.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2. </a:t>
            </a: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Profesori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Profil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rol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profesor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gestionare</a:t>
            </a:r>
            <a:r>
              <a:rPr lang="en-US" sz="1100" dirty="0">
                <a:latin typeface="+mn-lt"/>
              </a:rPr>
              <a:t> date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Administrare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clase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creare</a:t>
            </a:r>
            <a:r>
              <a:rPr lang="ro-RO" sz="1100" dirty="0">
                <a:latin typeface="+mn-lt"/>
              </a:rPr>
              <a:t> clase de </a:t>
            </a:r>
            <a:r>
              <a:rPr lang="en-US" sz="1100" dirty="0" err="1">
                <a:latin typeface="+mn-lt"/>
              </a:rPr>
              <a:t>elevi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invitații</a:t>
            </a:r>
            <a:r>
              <a:rPr lang="ro-RO" sz="1100" dirty="0">
                <a:latin typeface="+mn-lt"/>
              </a:rPr>
              <a:t>, panou cu clasele și membrii.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Creare</a:t>
            </a:r>
            <a:r>
              <a:rPr lang="en-US" sz="1100" b="1" dirty="0">
                <a:latin typeface="+mn-lt"/>
              </a:rPr>
              <a:t> teste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structuri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parametri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evaluare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deschidere</a:t>
            </a:r>
            <a:r>
              <a:rPr lang="en-US" sz="1100" dirty="0">
                <a:latin typeface="+mn-lt"/>
              </a:rPr>
              <a:t>/</a:t>
            </a:r>
            <a:r>
              <a:rPr lang="en-US" sz="1100" dirty="0" err="1">
                <a:latin typeface="+mn-lt"/>
              </a:rPr>
              <a:t>blocare</a:t>
            </a:r>
            <a:r>
              <a:rPr lang="ro-RO" sz="1100" dirty="0">
                <a:latin typeface="+mn-lt"/>
              </a:rPr>
              <a:t> evaluări, vizualizare rezultate.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Monitorizare</a:t>
            </a:r>
            <a:r>
              <a:rPr lang="en-US" sz="1100" b="1" dirty="0">
                <a:latin typeface="+mn-lt"/>
              </a:rPr>
              <a:t> &amp; </a:t>
            </a:r>
            <a:r>
              <a:rPr lang="en-US" sz="1100" b="1" dirty="0" err="1">
                <a:latin typeface="+mn-lt"/>
              </a:rPr>
              <a:t>analiză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scoruri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statistici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filtrare</a:t>
            </a:r>
            <a:r>
              <a:rPr lang="ro-RO" sz="1100" dirty="0">
                <a:latin typeface="+mn-lt"/>
              </a:rPr>
              <a:t>, metrici de performanță per clasă, per test, per elev.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Resurse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educaționale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complet</a:t>
            </a:r>
            <a:r>
              <a:rPr lang="en-US" sz="1100" dirty="0">
                <a:latin typeface="+mn-lt"/>
              </a:rPr>
              <a:t> la </a:t>
            </a:r>
            <a:r>
              <a:rPr lang="en-US" sz="1100" dirty="0" err="1">
                <a:latin typeface="+mn-lt"/>
              </a:rPr>
              <a:t>materiale</a:t>
            </a:r>
            <a:r>
              <a:rPr lang="ro-RO" sz="1100" dirty="0">
                <a:latin typeface="+mn-lt"/>
              </a:rPr>
              <a:t>le platformei.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3. Non-</a:t>
            </a:r>
            <a:r>
              <a:rPr lang="en-US" sz="1600" b="1" dirty="0" err="1">
                <a:latin typeface="+mn-lt"/>
              </a:rPr>
              <a:t>funcționale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Platformă</a:t>
            </a:r>
            <a:r>
              <a:rPr lang="en-US" sz="1100" b="1" dirty="0">
                <a:latin typeface="+mn-lt"/>
              </a:rPr>
              <a:t> web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fără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instalare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portabilitate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ridicată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Performanță</a:t>
            </a:r>
            <a:r>
              <a:rPr lang="en-US" sz="1100" b="1" dirty="0">
                <a:latin typeface="+mn-lt"/>
              </a:rPr>
              <a:t> 3D</a:t>
            </a:r>
            <a:r>
              <a:rPr lang="en-US" sz="1100" dirty="0">
                <a:latin typeface="+mn-lt"/>
              </a:rPr>
              <a:t>: WebGL 1.0+ (ideal 2.0), ≥</a:t>
            </a:r>
            <a:r>
              <a:rPr lang="ro-RO" sz="1100" dirty="0">
                <a:latin typeface="+mn-lt"/>
              </a:rPr>
              <a:t>6</a:t>
            </a:r>
            <a:r>
              <a:rPr lang="en-US" sz="1100" dirty="0">
                <a:latin typeface="+mn-lt"/>
              </a:rPr>
              <a:t>0 fps</a:t>
            </a:r>
            <a:r>
              <a:rPr lang="ro-RO" sz="1100" dirty="0">
                <a:latin typeface="+mn-lt"/>
              </a:rPr>
              <a:t> la simulări.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Hardware minim</a:t>
            </a:r>
            <a:r>
              <a:rPr lang="en-US" sz="1100" dirty="0">
                <a:latin typeface="+mn-lt"/>
              </a:rPr>
              <a:t>: </a:t>
            </a:r>
            <a:r>
              <a:rPr lang="ro-RO" sz="1100" dirty="0">
                <a:latin typeface="+mn-lt"/>
              </a:rPr>
              <a:t>cerințe minime de rulare, minim de memorie GPU pentru modele și texturi.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UX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încărcare</a:t>
            </a:r>
            <a:r>
              <a:rPr lang="en-US" sz="1100" dirty="0">
                <a:latin typeface="+mn-lt"/>
              </a:rPr>
              <a:t> </a:t>
            </a:r>
            <a:r>
              <a:rPr lang="ro-RO" sz="1100" dirty="0">
                <a:latin typeface="+mn-lt"/>
              </a:rPr>
              <a:t>sub </a:t>
            </a:r>
            <a:r>
              <a:rPr lang="en-US" sz="1100" dirty="0">
                <a:latin typeface="+mn-lt"/>
              </a:rPr>
              <a:t>2s,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instantanee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navigare </a:t>
            </a:r>
            <a:r>
              <a:rPr lang="en-US" sz="1100" dirty="0" err="1">
                <a:latin typeface="+mn-lt"/>
              </a:rPr>
              <a:t>ghidat</a:t>
            </a:r>
            <a:r>
              <a:rPr lang="ro-RO" sz="1100" dirty="0">
                <a:latin typeface="+mn-lt"/>
              </a:rPr>
              <a:t>ă prin platformă.</a:t>
            </a:r>
            <a:endParaRPr lang="en-US" sz="1100" dirty="0">
              <a:latin typeface="+mn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/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2098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j-lt"/>
              </a:rPr>
              <a:t>Arhitectură Backend</a:t>
            </a:r>
            <a:endParaRPr b="1" dirty="0">
              <a:latin typeface="+mj-l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 descr="A diagram of a company&#10;&#10;AI-generated content may be incorrect.">
            <a:extLst>
              <a:ext uri="{FF2B5EF4-FFF2-40B4-BE49-F238E27FC236}">
                <a16:creationId xmlns:a16="http://schemas.microsoft.com/office/drawing/2014/main" id="{E2A06A30-9990-E0D5-A96C-DC306308F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485" y="588724"/>
            <a:ext cx="5943599" cy="4440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065AC-046D-984B-BA64-02A10819F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E8AF48D-A3BC-2867-053C-56991DB9003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3AAE6E-2982-F7BF-65FD-4CC6B284D1E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D18B429-C45E-E38C-4806-E7504884CBD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96B8F29-883C-913D-7EE7-C1F9DAD04F3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2EBD964-1EF4-B904-A678-B01D950F7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36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Arhitectură </a:t>
            </a:r>
            <a:r>
              <a:rPr lang="en-US" b="1" spc="-185" dirty="0" err="1">
                <a:latin typeface="+mn-lt"/>
              </a:rPr>
              <a:t>Fronten</a:t>
            </a:r>
            <a:r>
              <a:rPr lang="ro-RO" b="1" spc="-185" dirty="0">
                <a:latin typeface="+mn-lt"/>
              </a:rPr>
              <a:t>d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DCFAEB7-D7F7-11C2-D876-3D0772CF056D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83FB7F-2983-2E0C-64BC-E40C142616E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7D7088-03A4-F9E8-3212-CA0882B731EA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9146EF2-1D61-EA92-DB26-7CDDA101212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Picture 12" descr="A diagram of a flowchart&#10;&#10;AI-generated content may be incorrect.">
            <a:extLst>
              <a:ext uri="{FF2B5EF4-FFF2-40B4-BE49-F238E27FC236}">
                <a16:creationId xmlns:a16="http://schemas.microsoft.com/office/drawing/2014/main" id="{4BB2E5DB-F3B5-6113-7CD8-BB77F56BFF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0636"/>
            <a:ext cx="9144000" cy="2633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368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F34D-E565-56BF-C49A-21D124C84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36A2F-D7B9-6841-19EC-491DFC0CC37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161EEC-D9B2-F7CD-6696-6C6800DC57E2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2464274-D570-7BFA-FB80-91A232EDE34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04BBA61-C206-09C4-DE8D-ED54F13AC5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A1361AF-F048-879F-A69A-43C9F7600B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9E923DED-6916-6ECA-1802-00C103EFB27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C813A18-7801-6CAC-6544-B28190661501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893179B-C425-222C-5901-7C2D47B35B3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E455282-8FF9-B2EF-BCD1-C0050F2DC622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D3CD-BA9A-C3A9-F3D0-7B2DE978C458}"/>
              </a:ext>
            </a:extLst>
          </p:cNvPr>
          <p:cNvSpPr txBox="1"/>
          <p:nvPr/>
        </p:nvSpPr>
        <p:spPr>
          <a:xfrm>
            <a:off x="290962" y="1034830"/>
            <a:ext cx="809476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>
                <a:latin typeface="+mn-lt"/>
              </a:rPr>
              <a:t>Frontend &amp; 3D:</a:t>
            </a:r>
          </a:p>
          <a:p>
            <a:r>
              <a:rPr lang="ro-RO" sz="1400" dirty="0">
                <a:latin typeface="+mn-lt"/>
              </a:rPr>
              <a:t>  • JavaScript, React, React Three Fiber + Drei (Canvas, useGLTF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încărcare model, useFrame bucle de actualizare, useMemo caching, useLoader încărcare asset-uri, useThree contextul scenei, useState status local pentru integrare cu React).</a:t>
            </a:r>
          </a:p>
          <a:p>
            <a:r>
              <a:rPr lang="ro-RO" sz="1400" dirty="0">
                <a:latin typeface="+mn-lt"/>
              </a:rPr>
              <a:t>  • Animații: implementare în apelurile useSpring.</a:t>
            </a:r>
          </a:p>
          <a:p>
            <a:r>
              <a:rPr lang="ro-RO" sz="1400" dirty="0">
                <a:latin typeface="+mn-lt"/>
              </a:rPr>
              <a:t>  • Optimizare: lazy loading modele, frustum și oclussion culling automat.</a:t>
            </a:r>
          </a:p>
          <a:p>
            <a:r>
              <a:rPr lang="ro-RO" sz="1400" dirty="0">
                <a:latin typeface="+mn-lt"/>
              </a:rPr>
              <a:t>  • UI: Tailwind CSS, TypeScript când a fost nevoie de tipare strictă.</a:t>
            </a:r>
          </a:p>
          <a:p>
            <a:endParaRPr lang="ro-RO" dirty="0">
              <a:latin typeface="+mn-lt"/>
            </a:endParaRPr>
          </a:p>
          <a:p>
            <a:r>
              <a:rPr lang="ro-RO" b="1" dirty="0">
                <a:latin typeface="+mn-lt"/>
              </a:rPr>
              <a:t>Backend: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Go microservicii (Gorilla Mux, middleware JWT de autorizare).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Serviciu de compilare cod C++ cu antet de tracing dezvoltat manual.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Observabilitate: Prometheus middleware + Grafana dashboards.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Containerizare &amp; Orchestrare: Docker + Kubernetes + Kong Ingress pentru expunere servicii.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Bază de date MongoDB cu documente - comunicare prin CRUD cu BSON/JSON.</a:t>
            </a:r>
          </a:p>
          <a:p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8773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26216-34DB-BCE9-9E51-B1AAE6A0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FCCC15D-A45F-3176-AB74-58047EEACE4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CD4F60B-A2E0-64B3-6913-92ED44E6B855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9C628F3-3730-51A6-19DE-088DDEF2CF6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8A11ED6-65E6-FD94-1617-47C928D153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B167CAF-7A61-48B2-5A16-1AE7FFECE29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FED4DF5-CA1F-1DB5-8CAD-2748EC83607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850B24C-62F1-B171-1452-32E4CDA8FF7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705EF6C-8137-2AB1-9366-FF4AEF51ADA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199B6B-FD83-4D5C-E1CF-E4C8B68A1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9150"/>
            <a:ext cx="6725886" cy="33173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4D4635-1405-330F-D5A9-F42466041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23" y="819150"/>
            <a:ext cx="2076064" cy="3317308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CB3FABFB-26D5-19AA-B125-155FB7B526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58462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0AA0D-DA21-F82B-99D5-BF3B8EB46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DA2D680-56BA-AAD3-12FC-24A957474D22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7E98F94-0ACB-14BE-1D25-30E17D19DFC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38039EB-E9EF-1790-1C74-07A114D84B75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855A919-29D1-78AE-95A4-CB55171E90F3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14FDC3C-F633-A2E2-60D6-1F4703E761A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676A8B7-794F-A910-E40A-4F883DA0B7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14E2A56-CE93-7BB5-197A-72864B64DFA2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2C0745-8D6E-EE0A-EAC7-07DA9F19F16D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C1CEC5-6A9D-9385-36EE-1BC216E3F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12" y="563699"/>
            <a:ext cx="1981288" cy="26126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0C09325-BC0E-837C-DB72-57D753F6D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0" y="2987325"/>
            <a:ext cx="2427518" cy="20884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961AB80-7DF7-2BCE-99A6-8DC05458D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9483" y="554173"/>
            <a:ext cx="2127458" cy="218189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03C70BB-4053-20C1-09A3-8FAE39B5B2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12" y="3220557"/>
            <a:ext cx="5943600" cy="176933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24828D6-28D2-D62F-383E-04E434B9EB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4167" y="592282"/>
            <a:ext cx="3606416" cy="1909279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BF2690DA-A32C-3136-C3D1-BC1498E151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61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0FB73-2152-B080-904B-729EB187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9147331-A946-E599-FDB4-92A755465B84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E943E5BD-491E-B234-CA01-0FFE6C4E8F3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395E0D6-599A-3617-0870-F0C9014414E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66E4808-5B83-959A-59C7-AFB79F02B12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FCB2484-7579-F458-8762-CA25CDAEB81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48DEB51-765A-15DB-43BE-8ABA850ADD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B4EAAE9-DB2F-97D7-147B-26F3803F6B7F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B7D5843-B5E9-5BA9-E703-EAB4BEC218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9BA44E-C27A-298B-B025-6BF38A0D6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62" y="558342"/>
            <a:ext cx="5735744" cy="24808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FF29402-FAF3-CB5C-44F3-34CDD98E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5" y="3028950"/>
            <a:ext cx="6421543" cy="211297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C0416A-B4A1-9F88-52CA-5EA9B3688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569" y="1497929"/>
            <a:ext cx="1903579" cy="3062043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5A328531-0AD2-1EB4-92A0-0E0A818316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1699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4944B-6980-9340-2DCB-5E779DF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12615F3-0FD9-9973-FBC7-4201FC0837A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6D2FD2B5-9059-D8FE-6E4A-6434AE94A39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D6C4AB8-BC8E-83A5-66E5-87D4CA93577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55BD673-D0D3-66E9-AA29-1C144F31C85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CD0DE01-344A-BA1D-0720-5F216563315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41213F-7710-A3A1-ECC1-0BB38FB9A6A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AC0F99-F91A-8E9B-89DF-97C45836759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A61CD2A-4F91-540B-22E7-01658F12A55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56216-5636-FD07-9EA0-437849B33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2" y="651722"/>
            <a:ext cx="9050016" cy="4449434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EBC61D7E-722D-8521-9851-F4CC68259B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0909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52B1F-8296-50EE-C7C8-D6133A70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C2B945-D306-17AD-3CED-2D8EAF4D3FA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97C6B8-B74B-3C8D-823A-D8743F3A140D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BF19D3B-2A03-2758-74EB-84C2F28EF32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B730068-D57A-0C3F-D3C3-16DD985AD97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E04DF35E-E49F-772C-0482-56C138925B9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9775AE6-65BB-4521-E9F1-FAE8F95EC399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E77BAFF-2FEE-C3E5-4D41-F9DFA29919AE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09263B9-28F6-39B5-CB0C-B76AF47B32B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CE3A13-EF81-0646-6680-A1A58E372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151" y="554174"/>
            <a:ext cx="3413849" cy="23412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5BA3E22-BAF9-5D6D-AF58-DFD2126C0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64" y="565863"/>
            <a:ext cx="2280913" cy="25406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087E7E-0186-2650-F020-723180D2E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7698" y="554173"/>
            <a:ext cx="2505456" cy="22466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0E8936-84BD-DAA4-6788-C49EE13DD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931" y="3298973"/>
            <a:ext cx="4333596" cy="177509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BA4769-89ED-4D4A-7633-915C89CE69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758" y="2998708"/>
            <a:ext cx="3464640" cy="2102448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AE7D283D-4785-DD8C-09A9-3800621EC0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4111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59463-9383-BB3E-35FC-C9382712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8A59429-FD58-95A3-2E0C-E2FB4F1136E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1814A390-04EE-291D-0350-BB58C3E5A7B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82BCA21-0159-9507-A6D3-CCB8B1EE56E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94DF472-D27E-B7C3-0935-C3C984AAB5C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6E33C6B3-6EA9-FE7A-A8F8-E37434A2CA1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FC30674-7B85-DE9B-574D-EF59EF80505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56E441E-53BF-D7CE-014A-570E1F2CE75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54569F4-EFF8-1737-D90C-0524BC9267C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B2EA86-1C32-B4D4-12CC-CBECEE8EBEB2}"/>
              </a:ext>
            </a:extLst>
          </p:cNvPr>
          <p:cNvSpPr txBox="1"/>
          <p:nvPr/>
        </p:nvSpPr>
        <p:spPr>
          <a:xfrm>
            <a:off x="532283" y="1428750"/>
            <a:ext cx="807943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Obiective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atinse</a:t>
            </a:r>
            <a:r>
              <a:rPr lang="en-US" sz="1400" b="1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funcționalitate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completă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performanță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bună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experienț</a:t>
            </a:r>
            <a:r>
              <a:rPr lang="ro-RO" sz="1400" dirty="0">
                <a:latin typeface="+mn-lt"/>
              </a:rPr>
              <a:t>a de utilizare interactivă.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Metodologie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Formular cu rating 1-5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utilitate</a:t>
            </a:r>
            <a:r>
              <a:rPr lang="en-US" sz="1400" dirty="0">
                <a:latin typeface="+mn-lt"/>
              </a:rPr>
              <a:t> a </a:t>
            </a:r>
            <a:r>
              <a:rPr lang="en-US" sz="1400" dirty="0" err="1">
                <a:latin typeface="+mn-lt"/>
              </a:rPr>
              <a:t>simulărilor</a:t>
            </a:r>
            <a:r>
              <a:rPr lang="en-US" sz="1400" dirty="0">
                <a:latin typeface="+mn-lt"/>
              </a:rPr>
              <a:t> 3D (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chimie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informatică</a:t>
            </a:r>
            <a:r>
              <a:rPr lang="ro-RO" sz="1400" dirty="0">
                <a:latin typeface="+mn-lt"/>
              </a:rPr>
              <a:t> au fost incluse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35 de </a:t>
            </a:r>
            <a:r>
              <a:rPr lang="en-US" sz="1400" dirty="0" err="1">
                <a:latin typeface="+mn-lt"/>
              </a:rPr>
              <a:t>răspunsuri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colectate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Rezultate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cheie</a:t>
            </a:r>
            <a:r>
              <a:rPr lang="en-US" sz="1400" b="1" dirty="0">
                <a:latin typeface="+mn-lt"/>
              </a:rPr>
              <a:t>:</a:t>
            </a: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: 71%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</a:t>
            </a:r>
            <a:r>
              <a:rPr lang="ro-RO" sz="1400" dirty="0">
                <a:latin typeface="+mn-lt"/>
              </a:rPr>
              <a:t>64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Chimie: 64%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</a:t>
            </a:r>
            <a:r>
              <a:rPr lang="ro-RO" sz="1400" dirty="0">
                <a:latin typeface="+mn-lt"/>
              </a:rPr>
              <a:t> 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68%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Informatică</a:t>
            </a:r>
            <a:r>
              <a:rPr lang="en-US" sz="1400" dirty="0">
                <a:latin typeface="+mn-lt"/>
              </a:rPr>
              <a:t>: </a:t>
            </a:r>
            <a:r>
              <a:rPr lang="ro-RO" sz="1400" dirty="0">
                <a:latin typeface="+mn-lt"/>
              </a:rPr>
              <a:t>68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65%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General: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95%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note ≥3/5 la </a:t>
            </a:r>
            <a:r>
              <a:rPr lang="en-US" sz="1400" dirty="0" err="1">
                <a:latin typeface="+mn-lt"/>
              </a:rPr>
              <a:t>toate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criteriile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4B635B11-78A0-F7B1-F5D1-647F4630F56A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73302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7976-CED6-B009-6D71-CE4C3627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61E64A9-4C28-E8FC-7FB3-C2ED575BDB4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E357A92-CBDF-09E4-5BAF-6E400F58801B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0AE8F6A-6CED-E086-E97F-302AA195E5B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337FD04-4CEB-A373-DE71-F02FF5D0120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6A617B2-524E-D8DE-3B06-2DDEEBE661D7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0A01186-B1DA-82E8-37FE-82E3FC92C56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27832B3-AAD7-7C56-4B7F-D35F5EF1163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CC78BCD-8BBE-3AFC-96E0-90A488602B76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D505BE-BEAF-AB00-9E05-CBC62D015F38}"/>
              </a:ext>
            </a:extLst>
          </p:cNvPr>
          <p:cNvSpPr txBox="1"/>
          <p:nvPr/>
        </p:nvSpPr>
        <p:spPr>
          <a:xfrm>
            <a:off x="532283" y="1428750"/>
            <a:ext cx="807943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Percepți</a:t>
            </a:r>
            <a:r>
              <a:rPr lang="ro-RO" sz="1400" b="1" dirty="0">
                <a:latin typeface="+mn-lt"/>
              </a:rPr>
              <a:t>a utilizatorilor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90% </a:t>
            </a:r>
            <a:r>
              <a:rPr lang="en-US" sz="1400" dirty="0" err="1">
                <a:latin typeface="+mn-lt"/>
              </a:rPr>
              <a:t>respondenț</a:t>
            </a:r>
            <a:r>
              <a:rPr lang="ro-RO" sz="1400" dirty="0">
                <a:latin typeface="+mn-lt"/>
              </a:rPr>
              <a:t>i</a:t>
            </a:r>
            <a:r>
              <a:rPr lang="en-US" sz="1400" dirty="0" err="1">
                <a:latin typeface="+mn-lt"/>
              </a:rPr>
              <a:t>i</a:t>
            </a:r>
            <a:r>
              <a:rPr lang="ro-RO" sz="1400" dirty="0">
                <a:latin typeface="+mn-lt"/>
              </a:rPr>
              <a:t> la formularul de feedback au fost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acord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o platformă ca VisioScience3D </a:t>
            </a:r>
            <a:r>
              <a:rPr lang="en-US" sz="1400" dirty="0" err="1">
                <a:latin typeface="+mn-lt"/>
              </a:rPr>
              <a:t>ar</a:t>
            </a:r>
            <a:r>
              <a:rPr lang="en-US" sz="1400" dirty="0">
                <a:latin typeface="+mn-lt"/>
              </a:rPr>
              <a:t> fi </a:t>
            </a:r>
            <a:r>
              <a:rPr lang="ro-RO" sz="1400" dirty="0">
                <a:latin typeface="+mn-lt"/>
              </a:rPr>
              <a:t>fost utilă și ar fi </a:t>
            </a:r>
            <a:r>
              <a:rPr lang="en-US" sz="1400" dirty="0" err="1">
                <a:latin typeface="+mn-lt"/>
              </a:rPr>
              <a:t>folosit</a:t>
            </a:r>
            <a:r>
              <a:rPr lang="ro-RO" sz="1400" dirty="0">
                <a:latin typeface="+mn-lt"/>
              </a:rPr>
              <a:t>-o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perioada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școl</a:t>
            </a:r>
            <a:r>
              <a:rPr lang="ro-RO" sz="1400" dirty="0">
                <a:latin typeface="+mn-lt"/>
              </a:rPr>
              <a:t>ii.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Metrici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tehnice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Timp </a:t>
            </a:r>
            <a:r>
              <a:rPr lang="en-US" sz="1400" dirty="0" err="1">
                <a:latin typeface="+mn-lt"/>
              </a:rPr>
              <a:t>mediu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răspuns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al </a:t>
            </a:r>
            <a:r>
              <a:rPr lang="en-US" sz="1400" dirty="0">
                <a:latin typeface="+mn-lt"/>
              </a:rPr>
              <a:t>API</a:t>
            </a:r>
            <a:r>
              <a:rPr lang="ro-RO" sz="1400" dirty="0">
                <a:latin typeface="+mn-lt"/>
              </a:rPr>
              <a:t>-ului </a:t>
            </a:r>
            <a:r>
              <a:rPr lang="en-US" sz="1400" dirty="0">
                <a:latin typeface="+mn-lt"/>
              </a:rPr>
              <a:t>&lt;250 </a:t>
            </a:r>
            <a:r>
              <a:rPr lang="en-US" sz="1400" dirty="0" err="1">
                <a:latin typeface="+mn-lt"/>
              </a:rPr>
              <a:t>ms</a:t>
            </a:r>
            <a:r>
              <a:rPr lang="ro-RO" sz="1400" dirty="0">
                <a:latin typeface="+mn-lt"/>
              </a:rPr>
              <a:t>, rate de cadre </a:t>
            </a:r>
            <a:r>
              <a:rPr lang="en-US" sz="1400" dirty="0">
                <a:latin typeface="+mn-lt"/>
              </a:rPr>
              <a:t>≥60 FPS constant</a:t>
            </a:r>
            <a:r>
              <a:rPr lang="ro-RO" sz="1400" dirty="0">
                <a:latin typeface="+mn-lt"/>
              </a:rPr>
              <a:t>, memorie folosită </a:t>
            </a:r>
            <a:r>
              <a:rPr lang="en-US" sz="1400" dirty="0">
                <a:latin typeface="+mn-lt"/>
              </a:rPr>
              <a:t>&lt;200 MB per </a:t>
            </a:r>
            <a:r>
              <a:rPr lang="en-US" sz="1400" dirty="0" err="1">
                <a:latin typeface="+mn-lt"/>
              </a:rPr>
              <a:t>scenă</a:t>
            </a:r>
            <a:r>
              <a:rPr lang="ro-RO" sz="1400" dirty="0">
                <a:latin typeface="+mn-lt"/>
              </a:rPr>
              <a:t>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Avantaj</a:t>
            </a:r>
            <a:r>
              <a:rPr lang="ro-RO" sz="1400" b="1" dirty="0">
                <a:latin typeface="+mn-lt"/>
              </a:rPr>
              <a:t>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Cost </a:t>
            </a:r>
            <a:r>
              <a:rPr lang="ro-RO" sz="1400" dirty="0">
                <a:latin typeface="+mn-lt"/>
              </a:rPr>
              <a:t>utilizare </a:t>
            </a:r>
            <a:r>
              <a:rPr lang="en-US" sz="1400" dirty="0">
                <a:latin typeface="+mn-lt"/>
              </a:rPr>
              <a:t>0 (</a:t>
            </a:r>
            <a:r>
              <a:rPr lang="en-US" sz="1400" dirty="0" err="1">
                <a:latin typeface="+mn-lt"/>
              </a:rPr>
              <a:t>față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Mozaweb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IQBoard</a:t>
            </a:r>
            <a:r>
              <a:rPr lang="ro-RO" sz="1400" dirty="0">
                <a:latin typeface="+mn-lt"/>
              </a:rPr>
              <a:t> care au cost mare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, suport extins la multiple materii, evaluare și gestionare rezultate de către profesori direct din platformă.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Concluzie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M</a:t>
            </a:r>
            <a:r>
              <a:rPr lang="en-US" sz="1400" dirty="0" err="1">
                <a:latin typeface="+mn-lt"/>
              </a:rPr>
              <a:t>etricile</a:t>
            </a:r>
            <a:r>
              <a:rPr lang="ro-RO" sz="1400" dirty="0">
                <a:latin typeface="+mn-lt"/>
              </a:rPr>
              <a:t>, avantajele și mai ales feedback-ul pozitiiv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confirmă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un potențial succes al </a:t>
            </a:r>
            <a:r>
              <a:rPr lang="en-US" sz="1400" dirty="0" err="1">
                <a:latin typeface="+mn-lt"/>
              </a:rPr>
              <a:t>platformei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8114BEA3-9087-5A39-F7DD-57B6496593C1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825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4319-F4F0-4F0D-A132-9ED43D04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CB87EAA-6784-3852-F482-CF5F42C32B7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7D7087-3F3E-092F-F1E3-35235D5F86D3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B9F7145-53FE-1BDC-853A-AFF50C3C2A5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26C2C8B-D2D6-000A-C092-82D9631C2C98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03599F3-6996-AB25-66E5-9E69E5D6DC3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6FEB18C-A473-0B61-CA1A-B5859320BCF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3E70F13-F23C-9501-6D89-1B4C7DB8CDE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C9AEDAE-AD66-F0EF-A6DA-F7FAE6B24C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FBAA4-0048-DE7D-CB6B-CA5D5B169750}"/>
              </a:ext>
            </a:extLst>
          </p:cNvPr>
          <p:cNvSpPr txBox="1"/>
          <p:nvPr/>
        </p:nvSpPr>
        <p:spPr>
          <a:xfrm>
            <a:off x="532852" y="1628493"/>
            <a:ext cx="83361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+mn-lt"/>
              </a:rPr>
              <a:t>Probleme</a:t>
            </a:r>
            <a:r>
              <a:rPr lang="en-US" sz="1400" b="1" dirty="0">
                <a:latin typeface="+mn-lt"/>
              </a:rPr>
              <a:t> </a:t>
            </a:r>
            <a:r>
              <a:rPr lang="ro-RO" sz="1400" b="1" dirty="0">
                <a:latin typeface="+mn-lt"/>
              </a:rPr>
              <a:t>întâmpinate și soluții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400" dirty="0">
                <a:latin typeface="+mn-lt"/>
              </a:rPr>
              <a:t>-</a:t>
            </a:r>
            <a:r>
              <a:rPr lang="en-US" sz="1400" b="1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Kong Ingress local: port-</a:t>
            </a:r>
            <a:r>
              <a:rPr lang="en-US" sz="1200" dirty="0" err="1">
                <a:latin typeface="+mn-lt"/>
              </a:rPr>
              <a:t>forwar</a:t>
            </a:r>
            <a:r>
              <a:rPr lang="ro-RO" sz="1200" dirty="0">
                <a:latin typeface="+mn-lt"/>
              </a:rPr>
              <a:t>d.</a:t>
            </a:r>
            <a:endParaRPr lang="en-US" sz="1200" dirty="0">
              <a:latin typeface="+mn-lt"/>
            </a:endParaRPr>
          </a:p>
          <a:p>
            <a:r>
              <a:rPr lang="en-US" sz="1200" dirty="0">
                <a:latin typeface="+mn-lt"/>
              </a:rPr>
              <a:t>- CI/CD local: GitHub Runner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local la </a:t>
            </a:r>
            <a:r>
              <a:rPr lang="en-US" sz="1200" dirty="0">
                <a:latin typeface="+mn-lt"/>
              </a:rPr>
              <a:t>cluster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r>
              <a:rPr lang="en-US" sz="1200" dirty="0">
                <a:latin typeface="+mn-lt"/>
              </a:rPr>
              <a:t>- GPU out-of-memory </a:t>
            </a:r>
            <a:r>
              <a:rPr lang="ro-RO" sz="1200" dirty="0">
                <a:latin typeface="+mn-lt"/>
              </a:rPr>
              <a:t>la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mari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mai reduse și caching.</a:t>
            </a:r>
            <a:r>
              <a:rPr lang="en-US" sz="1200" dirty="0">
                <a:latin typeface="+mn-lt"/>
              </a:rPr>
              <a:t>  </a:t>
            </a:r>
          </a:p>
          <a:p>
            <a:r>
              <a:rPr lang="en-US" sz="1200" dirty="0">
                <a:latin typeface="+mn-lt"/>
              </a:rPr>
              <a:t>- </a:t>
            </a:r>
            <a:r>
              <a:rPr lang="en-US" sz="1200" dirty="0" err="1">
                <a:latin typeface="+mn-lt"/>
              </a:rPr>
              <a:t>Parsare</a:t>
            </a:r>
            <a:r>
              <a:rPr lang="en-US" sz="1200" dirty="0">
                <a:latin typeface="+mn-lt"/>
              </a:rPr>
              <a:t> C++ </a:t>
            </a:r>
            <a:r>
              <a:rPr lang="en-US" sz="1200" dirty="0" err="1">
                <a:latin typeface="+mn-lt"/>
              </a:rPr>
              <a:t>complexă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metatrăsături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în C++ fără reflexia nativă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serializare</a:t>
            </a:r>
            <a:r>
              <a:rPr lang="en-US" sz="1200" dirty="0">
                <a:latin typeface="+mn-lt"/>
              </a:rPr>
              <a:t> JSON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</a:t>
            </a:r>
          </a:p>
          <a:p>
            <a:r>
              <a:rPr lang="en-US" sz="1200" dirty="0">
                <a:latin typeface="+mn-lt"/>
              </a:rPr>
              <a:t>- Cluster Kubernetes mare (60 GB): </a:t>
            </a:r>
            <a:r>
              <a:rPr lang="en-US" sz="1200" dirty="0" err="1">
                <a:latin typeface="+mn-lt"/>
              </a:rPr>
              <a:t>curățare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imagini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compresie</a:t>
            </a:r>
            <a:r>
              <a:rPr lang="en-US" sz="1200" dirty="0">
                <a:latin typeface="+mn-lt"/>
              </a:rPr>
              <a:t> volume</a:t>
            </a:r>
            <a:r>
              <a:rPr lang="ro-RO" sz="1200" dirty="0">
                <a:latin typeface="+mn-lt"/>
              </a:rPr>
              <a:t> regulat.</a:t>
            </a:r>
            <a:endParaRPr lang="en-US" sz="1200" dirty="0">
              <a:latin typeface="+mn-lt"/>
            </a:endParaRPr>
          </a:p>
          <a:p>
            <a:r>
              <a:rPr lang="en-US" sz="1200" dirty="0">
                <a:latin typeface="+mn-lt"/>
              </a:rPr>
              <a:t>- Populare MongoDB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Kubernetes: job</a:t>
            </a:r>
            <a:r>
              <a:rPr lang="ro-RO" sz="1200" dirty="0">
                <a:latin typeface="+mn-lt"/>
              </a:rPr>
              <a:t>-uri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Kubernetes </a:t>
            </a:r>
            <a:r>
              <a:rPr lang="en-US" sz="1200" dirty="0" err="1">
                <a:latin typeface="+mn-lt"/>
              </a:rPr>
              <a:t>dedicat</a:t>
            </a:r>
            <a:r>
              <a:rPr lang="ro-RO" sz="1200" dirty="0">
                <a:latin typeface="+mn-lt"/>
              </a:rPr>
              <a:t>e.</a:t>
            </a:r>
            <a:r>
              <a:rPr lang="en-US" sz="1200" dirty="0">
                <a:latin typeface="+mn-lt"/>
              </a:rPr>
              <a:t>  </a:t>
            </a:r>
          </a:p>
          <a:p>
            <a:endParaRPr lang="en-US" sz="1400" b="1" dirty="0">
              <a:latin typeface="+mn-lt"/>
            </a:endParaRPr>
          </a:p>
          <a:p>
            <a:r>
              <a:rPr lang="en-US" sz="1400" b="1" dirty="0" err="1">
                <a:latin typeface="+mn-lt"/>
              </a:rPr>
              <a:t>Concluzii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200" dirty="0" err="1">
                <a:latin typeface="+mn-lt"/>
              </a:rPr>
              <a:t>Soluția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finală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este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stabilă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performantă</a:t>
            </a:r>
            <a:r>
              <a:rPr lang="en-US" sz="1200" dirty="0">
                <a:latin typeface="+mn-lt"/>
              </a:rPr>
              <a:t>, cu feedback </a:t>
            </a:r>
            <a:r>
              <a:rPr lang="en-US" sz="1200" dirty="0" err="1">
                <a:latin typeface="+mn-lt"/>
              </a:rPr>
              <a:t>pozitiv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utilitate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ridicată</a:t>
            </a:r>
            <a:r>
              <a:rPr lang="ro-RO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elevi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</a:t>
            </a:r>
            <a:r>
              <a:rPr lang="ro-RO" sz="1200" dirty="0">
                <a:latin typeface="+mn-lt"/>
              </a:rPr>
              <a:t> (menționată și de utilizatorii care au testat-o în formular).</a:t>
            </a:r>
            <a:endParaRPr lang="en-US" sz="1200" dirty="0">
              <a:latin typeface="+mn-lt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331BFEC4-2C80-1AD1-6A95-CF9848F79802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Concluzii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7753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F4FA-A21E-2E64-5F6E-803566D0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D5249B2-0E05-206A-049A-A45A3134DE5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19AC741-8BEE-39D7-BAD5-F18E1406D95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3DE600F-8AD4-92B7-226C-FE5A311AE4B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AC12146-343F-A66A-8F59-D0801191B53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FBE387B5-D105-E893-32BC-548B91D1381E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3A73F98-60E4-36BC-C46E-801A195CF83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7E4C353-9E0A-68E6-656A-E58D9D91F0A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EC5D259-AA5B-AB1A-43DD-94DA60868348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125575-F970-39DD-8969-5C12A85D6D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830EEFD-EFCE-FE88-A4F1-348B31EB8FEA}"/>
              </a:ext>
            </a:extLst>
          </p:cNvPr>
          <p:cNvSpPr txBox="1"/>
          <p:nvPr/>
        </p:nvSpPr>
        <p:spPr>
          <a:xfrm>
            <a:off x="2439517" y="1733550"/>
            <a:ext cx="6172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Export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rezultate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și metrici de performanță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(CSV, PDF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alte formate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ro-RO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Rapoarte personalizate și detaliate pentru fiecare elev.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Notificări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alerte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prin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email 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 teste și invitații.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AI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explicații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sugestii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personalizate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Chat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colaborativ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în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timp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real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Dezvoltarea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infrastructurii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AEC08E3C-162D-9EFD-2A99-341011FD873F}"/>
              </a:ext>
            </a:extLst>
          </p:cNvPr>
          <p:cNvSpPr txBox="1">
            <a:spLocks/>
          </p:cNvSpPr>
          <p:nvPr/>
        </p:nvSpPr>
        <p:spPr>
          <a:xfrm>
            <a:off x="2403764" y="45465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Dezvoltare viitoare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5766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249" cy="5143500"/>
            <a:chOff x="0" y="0"/>
            <a:chExt cx="9144249" cy="5143500"/>
          </a:xfrm>
        </p:grpSpPr>
        <p:sp>
          <p:nvSpPr>
            <p:cNvPr id="3" name="object 3"/>
            <p:cNvSpPr/>
            <p:nvPr/>
          </p:nvSpPr>
          <p:spPr>
            <a:xfrm>
              <a:off x="6940799" y="0"/>
              <a:ext cx="2203450" cy="5143500"/>
            </a:xfrm>
            <a:custGeom>
              <a:avLst/>
              <a:gdLst/>
              <a:ahLst/>
              <a:cxnLst/>
              <a:rect l="l" t="t" r="r" b="b"/>
              <a:pathLst>
                <a:path w="2203450" h="5143500">
                  <a:moveTo>
                    <a:pt x="22031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2203199" y="0"/>
                  </a:lnTo>
                  <a:lnTo>
                    <a:pt x="2203199" y="5143499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538594"/>
              <a:ext cx="9144000" cy="4070350"/>
            </a:xfrm>
            <a:custGeom>
              <a:avLst/>
              <a:gdLst/>
              <a:ahLst/>
              <a:cxnLst/>
              <a:rect l="l" t="t" r="r" b="b"/>
              <a:pathLst>
                <a:path w="9144000" h="4070350">
                  <a:moveTo>
                    <a:pt x="9144000" y="4060647"/>
                  </a:moveTo>
                  <a:lnTo>
                    <a:pt x="0" y="4060647"/>
                  </a:lnTo>
                  <a:lnTo>
                    <a:pt x="0" y="4070172"/>
                  </a:lnTo>
                  <a:lnTo>
                    <a:pt x="9144000" y="4070172"/>
                  </a:lnTo>
                  <a:lnTo>
                    <a:pt x="9144000" y="4060647"/>
                  </a:lnTo>
                  <a:close/>
                </a:path>
                <a:path w="9144000" h="4070350">
                  <a:moveTo>
                    <a:pt x="9144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9144000" y="9525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13224" y="5699"/>
              <a:ext cx="8281670" cy="5132705"/>
            </a:xfrm>
            <a:custGeom>
              <a:avLst/>
              <a:gdLst/>
              <a:ahLst/>
              <a:cxnLst/>
              <a:rect l="l" t="t" r="r" b="b"/>
              <a:pathLst>
                <a:path w="8281670" h="5132705">
                  <a:moveTo>
                    <a:pt x="8281231" y="135612"/>
                  </a:moveTo>
                  <a:lnTo>
                    <a:pt x="7786831" y="135612"/>
                  </a:lnTo>
                </a:path>
                <a:path w="8281670" h="5132705">
                  <a:moveTo>
                    <a:pt x="8281231" y="214237"/>
                  </a:moveTo>
                  <a:lnTo>
                    <a:pt x="7786831" y="214237"/>
                  </a:lnTo>
                </a:path>
                <a:path w="8281670" h="5132705">
                  <a:moveTo>
                    <a:pt x="8281231" y="295237"/>
                  </a:moveTo>
                  <a:lnTo>
                    <a:pt x="7786831" y="295237"/>
                  </a:lnTo>
                </a:path>
                <a:path w="8281670" h="5132705">
                  <a:moveTo>
                    <a:pt x="8281231" y="377912"/>
                  </a:moveTo>
                  <a:lnTo>
                    <a:pt x="7786831" y="377912"/>
                  </a:lnTo>
                </a:path>
                <a:path w="8281670" h="5132705">
                  <a:moveTo>
                    <a:pt x="0" y="0"/>
                  </a:moveTo>
                  <a:lnTo>
                    <a:pt x="0" y="5132099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1479" y="4704502"/>
              <a:ext cx="369570" cy="369570"/>
            </a:xfrm>
            <a:custGeom>
              <a:avLst/>
              <a:gdLst/>
              <a:ahLst/>
              <a:cxnLst/>
              <a:rect l="l" t="t" r="r" b="b"/>
              <a:pathLst>
                <a:path w="369570" h="369570">
                  <a:moveTo>
                    <a:pt x="0" y="184499"/>
                  </a:moveTo>
                  <a:lnTo>
                    <a:pt x="6590" y="135452"/>
                  </a:lnTo>
                  <a:lnTo>
                    <a:pt x="25189" y="91379"/>
                  </a:lnTo>
                  <a:lnTo>
                    <a:pt x="54038" y="54038"/>
                  </a:lnTo>
                  <a:lnTo>
                    <a:pt x="91379" y="25189"/>
                  </a:lnTo>
                  <a:lnTo>
                    <a:pt x="135452" y="6590"/>
                  </a:lnTo>
                  <a:lnTo>
                    <a:pt x="184499" y="0"/>
                  </a:lnTo>
                  <a:lnTo>
                    <a:pt x="255105" y="14044"/>
                  </a:lnTo>
                  <a:lnTo>
                    <a:pt x="314961" y="54038"/>
                  </a:lnTo>
                  <a:lnTo>
                    <a:pt x="354955" y="113894"/>
                  </a:lnTo>
                  <a:lnTo>
                    <a:pt x="368999" y="184499"/>
                  </a:lnTo>
                  <a:lnTo>
                    <a:pt x="362409" y="233547"/>
                  </a:lnTo>
                  <a:lnTo>
                    <a:pt x="343810" y="277620"/>
                  </a:lnTo>
                  <a:lnTo>
                    <a:pt x="314961" y="314961"/>
                  </a:lnTo>
                  <a:lnTo>
                    <a:pt x="277620" y="343810"/>
                  </a:lnTo>
                  <a:lnTo>
                    <a:pt x="233547" y="362409"/>
                  </a:lnTo>
                  <a:lnTo>
                    <a:pt x="184499" y="368999"/>
                  </a:lnTo>
                  <a:lnTo>
                    <a:pt x="135452" y="362409"/>
                  </a:lnTo>
                  <a:lnTo>
                    <a:pt x="91379" y="343810"/>
                  </a:lnTo>
                  <a:lnTo>
                    <a:pt x="54038" y="314961"/>
                  </a:lnTo>
                  <a:lnTo>
                    <a:pt x="25189" y="277620"/>
                  </a:lnTo>
                  <a:lnTo>
                    <a:pt x="6590" y="233547"/>
                  </a:lnTo>
                  <a:lnTo>
                    <a:pt x="0" y="184499"/>
                  </a:lnTo>
                  <a:close/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048000" y="2114550"/>
            <a:ext cx="415174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4769">
              <a:lnSpc>
                <a:spcPct val="100000"/>
              </a:lnSpc>
              <a:spcBef>
                <a:spcPts val="100"/>
              </a:spcBef>
            </a:pPr>
            <a:r>
              <a:rPr lang="ro-RO" sz="4000" b="1" spc="-355" dirty="0">
                <a:latin typeface="+mj-lt"/>
              </a:rPr>
              <a:t>Mulțumesc!</a:t>
            </a:r>
            <a:endParaRPr sz="4000" b="1" dirty="0">
              <a:latin typeface="+mj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159" y="4779718"/>
            <a:ext cx="113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60609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799</TotalTime>
  <Words>1089</Words>
  <Application>Microsoft Office PowerPoint</Application>
  <PresentationFormat>On-screen Show (16:9)</PresentationFormat>
  <Paragraphs>136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Microsoft Sans Serif</vt:lpstr>
      <vt:lpstr>Office Theme</vt:lpstr>
      <vt:lpstr>VisioScience 3D - Platformă Web pentru Învățare prin Vizualizări 3D </vt:lpstr>
      <vt:lpstr>Motivație</vt:lpstr>
      <vt:lpstr>Abordări existente</vt:lpstr>
      <vt:lpstr>Specificarea cerințelor</vt:lpstr>
      <vt:lpstr>Arhitectură Backend</vt:lpstr>
      <vt:lpstr>Arhitectură Frontend</vt:lpstr>
      <vt:lpstr>Implementare</vt:lpstr>
      <vt:lpstr>Implementare</vt:lpstr>
      <vt:lpstr>Implementare</vt:lpstr>
      <vt:lpstr>Implementare</vt:lpstr>
      <vt:lpstr>Implementare</vt:lpstr>
      <vt:lpstr>Implementare</vt:lpstr>
      <vt:lpstr>PowerPoint Presentation</vt:lpstr>
      <vt:lpstr>PowerPoint Presentation</vt:lpstr>
      <vt:lpstr>PowerPoint Presentation</vt:lpstr>
      <vt:lpstr>PowerPoint Presentation</vt:lpstr>
      <vt:lpstr>Mulțumesc!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SCSS</dc:title>
  <cp:lastModifiedBy>Dragomir Andrei</cp:lastModifiedBy>
  <cp:revision>96</cp:revision>
  <dcterms:created xsi:type="dcterms:W3CDTF">2025-05-10T19:42:31Z</dcterms:created>
  <dcterms:modified xsi:type="dcterms:W3CDTF">2025-06-29T13:47:01Z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2025-05-10T00:00:00Z</vt:filetime>
  </property>
  <property fmtid="{D5CDD505-2E9C-101B-9397-08002B2CF9AE}" pid="3" name="Creator">
    <vt:lpwstr>Google</vt:lpwstr>
  </property>
  <property fmtid="{D5CDD505-2E9C-101B-9397-08002B2CF9AE}" pid="4" name="LastSaved">
    <vt:filetime>2025-05-10T00:00:00Z</vt:filetime>
  </property>
</Properties>
</file>