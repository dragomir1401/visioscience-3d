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138" d="100"/>
          <a:sy n="138" d="100"/>
        </p:scale>
        <p:origin x="870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185" dirty="0" err="1">
                <a:latin typeface="+mj-lt"/>
              </a:rPr>
              <a:t>VisioScience</a:t>
            </a:r>
            <a:r>
              <a:rPr lang="en-US" sz="2400" b="1" spc="-185" dirty="0">
                <a:latin typeface="+mj-lt"/>
              </a:rPr>
              <a:t> 3D </a:t>
            </a:r>
            <a:r>
              <a:rPr lang="en-US" sz="2400" spc="-185" dirty="0">
                <a:latin typeface="+mj-lt"/>
              </a:rPr>
              <a:t>- </a:t>
            </a:r>
            <a:r>
              <a:rPr lang="en-US" sz="2400" spc="-185" dirty="0" err="1">
                <a:latin typeface="+mj-lt"/>
              </a:rPr>
              <a:t>Platformă</a:t>
            </a:r>
            <a:r>
              <a:rPr lang="en-US" sz="2400" spc="-185" dirty="0">
                <a:latin typeface="+mj-lt"/>
              </a:rPr>
              <a:t> Web </a:t>
            </a:r>
            <a:r>
              <a:rPr lang="en-US" sz="2400" spc="-185" dirty="0" err="1">
                <a:latin typeface="+mj-lt"/>
              </a:rPr>
              <a:t>pentru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Învățare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prin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Vizualizări</a:t>
            </a:r>
            <a:r>
              <a:rPr lang="en-US" sz="2400" spc="-185" dirty="0">
                <a:latin typeface="+mj-lt"/>
              </a:rPr>
              <a:t> 3D</a:t>
            </a:r>
            <a:br>
              <a:rPr lang="en-US" sz="2400" spc="-185" dirty="0">
                <a:latin typeface="+mj-lt"/>
              </a:rPr>
            </a:br>
            <a:endParaRPr sz="24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4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4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4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0800" y="71761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7999" y="1809750"/>
            <a:ext cx="55637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+mn-lt"/>
              </a:rPr>
              <a:t>Nevoia</a:t>
            </a:r>
            <a:r>
              <a:rPr lang="en-US" sz="1200" dirty="0">
                <a:latin typeface="+mn-lt"/>
              </a:rPr>
              <a:t> de a </a:t>
            </a:r>
            <a:r>
              <a:rPr lang="en-US" sz="1200" dirty="0" err="1">
                <a:latin typeface="+mn-lt"/>
              </a:rPr>
              <a:t>transforma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predarea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învățarea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științelor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exacte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într</a:t>
            </a:r>
            <a:r>
              <a:rPr lang="en-US" sz="1200" dirty="0">
                <a:latin typeface="+mn-lt"/>
              </a:rPr>
              <a:t>-o </a:t>
            </a:r>
            <a:r>
              <a:rPr lang="en-US" sz="1200" dirty="0" err="1">
                <a:latin typeface="+mn-lt"/>
              </a:rPr>
              <a:t>experiență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captivantă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interactivă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accesibilă</a:t>
            </a:r>
            <a:r>
              <a:rPr lang="en-US" sz="1200" dirty="0">
                <a:latin typeface="+mn-lt"/>
              </a:rPr>
              <a:t> au </a:t>
            </a:r>
            <a:r>
              <a:rPr lang="en-US" sz="1200" dirty="0" err="1">
                <a:latin typeface="+mn-lt"/>
              </a:rPr>
              <a:t>fost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punctele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principale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în alegerea unui astfel de proiect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locul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materialelor</a:t>
            </a:r>
            <a:r>
              <a:rPr lang="en-US" sz="1200" dirty="0">
                <a:latin typeface="+mn-lt"/>
              </a:rPr>
              <a:t> statice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abstracte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platforma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oferă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simulări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dinamice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vizualizări</a:t>
            </a:r>
            <a:r>
              <a:rPr lang="en-US" sz="1200" dirty="0">
                <a:latin typeface="+mn-lt"/>
              </a:rPr>
              <a:t> 3D care </a:t>
            </a:r>
            <a:r>
              <a:rPr lang="en-US" sz="1200" dirty="0" err="1">
                <a:latin typeface="+mn-lt"/>
              </a:rPr>
              <a:t>facilitează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înțelegerea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conceptelor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complexe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geometrie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fizică</a:t>
            </a:r>
            <a:r>
              <a:rPr lang="ro-RO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chimie</a:t>
            </a:r>
            <a:r>
              <a:rPr lang="ro-RO" sz="1200" dirty="0">
                <a:latin typeface="+mn-lt"/>
              </a:rPr>
              <a:t>, informatică și astronomie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Printr</a:t>
            </a:r>
            <a:r>
              <a:rPr lang="en-US" sz="1200" dirty="0">
                <a:latin typeface="+mn-lt"/>
              </a:rPr>
              <a:t>-un </a:t>
            </a:r>
            <a:r>
              <a:rPr lang="en-US" sz="1200" dirty="0" err="1">
                <a:latin typeface="+mn-lt"/>
              </a:rPr>
              <a:t>mediu</a:t>
            </a:r>
            <a:r>
              <a:rPr lang="en-US" sz="1200" dirty="0">
                <a:latin typeface="+mn-lt"/>
              </a:rPr>
              <a:t> web </a:t>
            </a:r>
            <a:r>
              <a:rPr lang="en-US" sz="1200" dirty="0" err="1">
                <a:latin typeface="+mn-lt"/>
              </a:rPr>
              <a:t>ușor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utilizat</a:t>
            </a:r>
            <a:r>
              <a:rPr lang="ro-RO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elevii</a:t>
            </a:r>
            <a:r>
              <a:rPr lang="en-US" sz="1200" dirty="0">
                <a:latin typeface="+mn-lt"/>
              </a:rPr>
              <a:t> pot </a:t>
            </a:r>
            <a:r>
              <a:rPr lang="en-US" sz="1200" dirty="0" err="1">
                <a:latin typeface="+mn-lt"/>
              </a:rPr>
              <a:t>explora</a:t>
            </a:r>
            <a:r>
              <a:rPr lang="en-US" sz="1200" dirty="0">
                <a:latin typeface="+mn-lt"/>
              </a:rPr>
              <a:t> liber </a:t>
            </a:r>
            <a:r>
              <a:rPr lang="ro-RO" sz="1200" dirty="0">
                <a:latin typeface="+mn-lt"/>
              </a:rPr>
              <a:t>materiile </a:t>
            </a:r>
            <a:r>
              <a:rPr lang="en-US" sz="1200" dirty="0" err="1">
                <a:latin typeface="+mn-lt"/>
              </a:rPr>
              <a:t>științifice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iar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beneficiază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instrumente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rapide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creare</a:t>
            </a:r>
            <a:r>
              <a:rPr lang="en-US" sz="1200" dirty="0">
                <a:latin typeface="+mn-lt"/>
              </a:rPr>
              <a:t> de quiz-</a:t>
            </a:r>
            <a:r>
              <a:rPr lang="en-US" sz="1200" dirty="0" err="1">
                <a:latin typeface="+mn-lt"/>
              </a:rPr>
              <a:t>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monitorizarea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progresului</a:t>
            </a:r>
            <a:r>
              <a:rPr lang="ro-RO" sz="1200" dirty="0">
                <a:latin typeface="+mn-lt"/>
              </a:rPr>
              <a:t> elevilor lor.</a:t>
            </a:r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76311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8574" y="1545714"/>
            <a:ext cx="3755826" cy="2993127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 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 (nu mai este folosit actual). Conține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materiale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Kahoot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sau alte surse externe.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49874" y="1545714"/>
            <a:ext cx="3694125" cy="30676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u="sng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sz="1400" b="1" u="sng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extern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acestea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mai degrabă decât pe educația deschisă.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u="sng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sz="1400" b="1" u="sng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educaționale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pe diverse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domenii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ul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05" y="1585174"/>
            <a:ext cx="419796" cy="198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33" y="3166247"/>
            <a:ext cx="184850" cy="184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816" y="1614566"/>
            <a:ext cx="198276" cy="1982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7269" y="3351097"/>
            <a:ext cx="251823" cy="2518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95600" y="40085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673648"/>
            <a:ext cx="7010400" cy="419089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Înregistrare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cont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securizat</a:t>
            </a:r>
            <a:r>
              <a:rPr lang="en-US" sz="1100" dirty="0">
                <a:latin typeface="+mn-lt"/>
              </a:rPr>
              <a:t>, date </a:t>
            </a:r>
            <a:r>
              <a:rPr lang="en-US" sz="1100" dirty="0" err="1">
                <a:latin typeface="+mn-lt"/>
              </a:rPr>
              <a:t>criptate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Meniu</a:t>
            </a:r>
            <a:r>
              <a:rPr lang="en-US" sz="1100" b="1" dirty="0">
                <a:latin typeface="+mn-lt"/>
              </a:rPr>
              <a:t> 3D </a:t>
            </a:r>
            <a:r>
              <a:rPr lang="en-US" sz="1100" b="1" dirty="0" err="1">
                <a:latin typeface="+mn-lt"/>
              </a:rPr>
              <a:t>interactiv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explorare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materii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navigare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gamificată</a:t>
            </a:r>
            <a:r>
              <a:rPr lang="ro-RO" sz="1100" dirty="0">
                <a:latin typeface="+mn-lt"/>
              </a:rPr>
              <a:t>, selectare interactivă.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Module 3D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vizualizări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scene, animații, interacțiune cu ele, modificare structură elemente.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Manipulare</a:t>
            </a:r>
            <a:r>
              <a:rPr lang="en-US" sz="1100" b="1" dirty="0">
                <a:latin typeface="+mn-lt"/>
              </a:rPr>
              <a:t> scene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rotire</a:t>
            </a:r>
            <a:r>
              <a:rPr lang="en-US" sz="1100" dirty="0">
                <a:latin typeface="+mn-lt"/>
              </a:rPr>
              <a:t>, zoom,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în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timp</a:t>
            </a:r>
            <a:r>
              <a:rPr lang="en-US" sz="1100" dirty="0">
                <a:latin typeface="+mn-lt"/>
              </a:rPr>
              <a:t> real</a:t>
            </a:r>
            <a:r>
              <a:rPr lang="ro-RO" sz="1100" dirty="0">
                <a:latin typeface="+mn-lt"/>
              </a:rPr>
              <a:t>, forțe, detalii elemente, IDE 3D interactiv.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Teste &amp; </a:t>
            </a:r>
            <a:r>
              <a:rPr lang="en-US" sz="1100" b="1" dirty="0" err="1">
                <a:latin typeface="+mn-lt"/>
              </a:rPr>
              <a:t>rezultate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rezolvare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retestare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panou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scoruri</a:t>
            </a:r>
            <a:r>
              <a:rPr lang="ro-RO" sz="1100" dirty="0">
                <a:latin typeface="+mn-lt"/>
              </a:rPr>
              <a:t>, panou recompense, insigne, provocări.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Clase &amp; </a:t>
            </a:r>
            <a:r>
              <a:rPr lang="en-US" sz="1100" b="1" dirty="0" err="1">
                <a:latin typeface="+mn-lt"/>
              </a:rPr>
              <a:t>invitații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aderare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notificări</a:t>
            </a:r>
            <a:r>
              <a:rPr lang="en-US" sz="1100" dirty="0">
                <a:latin typeface="+mn-lt"/>
              </a:rPr>
              <a:t>, accept/</a:t>
            </a:r>
            <a:r>
              <a:rPr lang="en-US" sz="1100" dirty="0" err="1">
                <a:latin typeface="+mn-lt"/>
              </a:rPr>
              <a:t>respinge</a:t>
            </a:r>
            <a:r>
              <a:rPr lang="ro-RO" sz="11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Profil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rol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profesor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gestionare</a:t>
            </a:r>
            <a:r>
              <a:rPr lang="en-US" sz="1100" dirty="0">
                <a:latin typeface="+mn-lt"/>
              </a:rPr>
              <a:t> date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Administrare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clase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creare</a:t>
            </a:r>
            <a:r>
              <a:rPr lang="ro-RO" sz="1100" dirty="0">
                <a:latin typeface="+mn-lt"/>
              </a:rPr>
              <a:t> clase de </a:t>
            </a:r>
            <a:r>
              <a:rPr lang="en-US" sz="1100" dirty="0" err="1">
                <a:latin typeface="+mn-lt"/>
              </a:rPr>
              <a:t>elevi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invitații</a:t>
            </a:r>
            <a:r>
              <a:rPr lang="ro-RO" sz="1100" dirty="0">
                <a:latin typeface="+mn-lt"/>
              </a:rPr>
              <a:t>, panou cu clasele și membrii.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Creare</a:t>
            </a:r>
            <a:r>
              <a:rPr lang="en-US" sz="1100" b="1" dirty="0">
                <a:latin typeface="+mn-lt"/>
              </a:rPr>
              <a:t> teste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structuri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parametri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evaluare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deschidere</a:t>
            </a:r>
            <a:r>
              <a:rPr lang="en-US" sz="1100" dirty="0">
                <a:latin typeface="+mn-lt"/>
              </a:rPr>
              <a:t>/</a:t>
            </a:r>
            <a:r>
              <a:rPr lang="en-US" sz="1100" dirty="0" err="1">
                <a:latin typeface="+mn-lt"/>
              </a:rPr>
              <a:t>blocare</a:t>
            </a:r>
            <a:r>
              <a:rPr lang="ro-RO" sz="1100" dirty="0">
                <a:latin typeface="+mn-lt"/>
              </a:rPr>
              <a:t> evaluări, vizualizare rezultate.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Monitorizare</a:t>
            </a:r>
            <a:r>
              <a:rPr lang="en-US" sz="1100" b="1" dirty="0">
                <a:latin typeface="+mn-lt"/>
              </a:rPr>
              <a:t> &amp; </a:t>
            </a:r>
            <a:r>
              <a:rPr lang="en-US" sz="1100" b="1" dirty="0" err="1">
                <a:latin typeface="+mn-lt"/>
              </a:rPr>
              <a:t>analiză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scoruri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statistici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filtrare</a:t>
            </a:r>
            <a:r>
              <a:rPr lang="ro-RO" sz="1100" dirty="0">
                <a:latin typeface="+mn-lt"/>
              </a:rPr>
              <a:t>, metrici de performanță per clasă, per test, per elev.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Resurse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educaționale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complet</a:t>
            </a:r>
            <a:r>
              <a:rPr lang="en-US" sz="1100" dirty="0">
                <a:latin typeface="+mn-lt"/>
              </a:rPr>
              <a:t> la </a:t>
            </a:r>
            <a:r>
              <a:rPr lang="en-US" sz="1100" dirty="0" err="1">
                <a:latin typeface="+mn-lt"/>
              </a:rPr>
              <a:t>materiale</a:t>
            </a:r>
            <a:r>
              <a:rPr lang="ro-RO" sz="11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Platformă</a:t>
            </a:r>
            <a:r>
              <a:rPr lang="en-US" sz="1100" b="1" dirty="0">
                <a:latin typeface="+mn-lt"/>
              </a:rPr>
              <a:t> web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fără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instalare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portabilitate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ridicată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Performanță</a:t>
            </a:r>
            <a:r>
              <a:rPr lang="en-US" sz="1100" b="1" dirty="0">
                <a:latin typeface="+mn-lt"/>
              </a:rPr>
              <a:t> 3D</a:t>
            </a:r>
            <a:r>
              <a:rPr lang="en-US" sz="1100" dirty="0">
                <a:latin typeface="+mn-lt"/>
              </a:rPr>
              <a:t>: WebGL 1.0+ (ideal 2.0), ≥</a:t>
            </a:r>
            <a:r>
              <a:rPr lang="ro-RO" sz="1100" dirty="0">
                <a:latin typeface="+mn-lt"/>
              </a:rPr>
              <a:t>6</a:t>
            </a:r>
            <a:r>
              <a:rPr lang="en-US" sz="1100" dirty="0">
                <a:latin typeface="+mn-lt"/>
              </a:rPr>
              <a:t>0 fps</a:t>
            </a:r>
            <a:r>
              <a:rPr lang="ro-RO" sz="1100" dirty="0">
                <a:latin typeface="+mn-lt"/>
              </a:rPr>
              <a:t> la simulări.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Hardware minim</a:t>
            </a:r>
            <a:r>
              <a:rPr lang="en-US" sz="1100" dirty="0">
                <a:latin typeface="+mn-lt"/>
              </a:rPr>
              <a:t>: </a:t>
            </a:r>
            <a:r>
              <a:rPr lang="ro-RO" sz="1100" dirty="0">
                <a:latin typeface="+mn-lt"/>
              </a:rPr>
              <a:t>cerințe minime de rulare, minim de memorie GPU pentru modele și texturi.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UX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încărcare</a:t>
            </a:r>
            <a:r>
              <a:rPr lang="en-US" sz="1100" dirty="0">
                <a:latin typeface="+mn-lt"/>
              </a:rPr>
              <a:t> </a:t>
            </a:r>
            <a:r>
              <a:rPr lang="ro-RO" sz="1100" dirty="0">
                <a:latin typeface="+mn-lt"/>
              </a:rPr>
              <a:t>sub </a:t>
            </a:r>
            <a:r>
              <a:rPr lang="en-US" sz="1100" dirty="0">
                <a:latin typeface="+mn-lt"/>
              </a:rPr>
              <a:t>2s,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instantanee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navigare </a:t>
            </a:r>
            <a:r>
              <a:rPr lang="en-US" sz="1100" dirty="0" err="1">
                <a:latin typeface="+mn-lt"/>
              </a:rPr>
              <a:t>ghidat</a:t>
            </a:r>
            <a:r>
              <a:rPr lang="ro-RO" sz="1100" dirty="0">
                <a:latin typeface="+mn-lt"/>
              </a:rPr>
              <a:t>ă prin platformă.</a:t>
            </a:r>
            <a:endParaRPr lang="en-US" sz="11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2098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j-lt"/>
              </a:rPr>
              <a:t>Arhitectură Backend</a:t>
            </a:r>
            <a:endParaRPr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Arhitectură </a:t>
            </a:r>
            <a:r>
              <a:rPr lang="en-US" b="1" spc="-185" dirty="0" err="1">
                <a:latin typeface="+mn-lt"/>
              </a:rPr>
              <a:t>Fronten</a:t>
            </a:r>
            <a:r>
              <a:rPr lang="ro-RO" b="1" spc="-185" dirty="0">
                <a:latin typeface="+mn-lt"/>
              </a:rPr>
              <a:t>d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A1361AF-F048-879F-A69A-43C9F7600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1034830"/>
            <a:ext cx="809476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>
                <a:latin typeface="+mn-lt"/>
              </a:rPr>
              <a:t>Frontend &amp; 3D:</a:t>
            </a:r>
          </a:p>
          <a:p>
            <a:r>
              <a:rPr lang="ro-RO" sz="1400" dirty="0">
                <a:latin typeface="+mn-lt"/>
              </a:rPr>
              <a:t>  • JavaScript, React, React Three Fiber + Drei (Canvas, useGLTF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încărcare model, useFrame bucle de actualizare, useMemo caching, useLoader încărcare asset-uri, useThree contextul scenei, useState status local pentru integrare cu React).</a:t>
            </a:r>
          </a:p>
          <a:p>
            <a:r>
              <a:rPr lang="ro-RO" sz="1400" dirty="0">
                <a:latin typeface="+mn-lt"/>
              </a:rPr>
              <a:t>  • Animații: implementare în apelurile useSpring.</a:t>
            </a:r>
          </a:p>
          <a:p>
            <a:r>
              <a:rPr lang="ro-RO" sz="14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400" dirty="0">
                <a:latin typeface="+mn-lt"/>
              </a:rPr>
              <a:t>  • UI: Tailwind CSS, TypeScript când a fost nevoie de tipare strictă.</a:t>
            </a:r>
          </a:p>
          <a:p>
            <a:endParaRPr lang="ro-RO" dirty="0">
              <a:latin typeface="+mn-lt"/>
            </a:endParaRPr>
          </a:p>
          <a:p>
            <a:r>
              <a:rPr lang="ro-RO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Go microservicii (Gorilla Mux, middleware JWT de autorizare).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Bază de date MongoDB cu documente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CB3FABFB-26D5-19AA-B125-155FB7B52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8"/>
            <a:ext cx="2125242" cy="2802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604" y="3032447"/>
            <a:ext cx="2411313" cy="20745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936" y="569917"/>
            <a:ext cx="2382522" cy="244348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1" y="3341105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8316" y="592282"/>
            <a:ext cx="3742267" cy="1981200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BF2690DA-A32C-3136-C3D1-BC1498E15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5A328531-0AD2-1EB4-92A0-0E0A818316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EBC61D7E-722D-8521-9851-F4CC68259B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3"/>
            <a:ext cx="3464640" cy="23760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725" y="554173"/>
            <a:ext cx="2575429" cy="230939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73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8069" y="2945822"/>
            <a:ext cx="3581400" cy="2173301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bună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</a:t>
            </a:r>
            <a:r>
              <a:rPr lang="ro-RO" sz="1400" dirty="0">
                <a:latin typeface="+mn-lt"/>
              </a:rPr>
              <a:t>a de utilizare interactivă.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ro-RO" sz="1400" dirty="0">
                <a:latin typeface="+mn-lt"/>
              </a:rPr>
              <a:t> au fost incluse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cheie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</a:t>
            </a:r>
            <a:r>
              <a:rPr lang="ro-RO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</a:t>
            </a:r>
            <a:r>
              <a:rPr lang="ro-RO" sz="1400" b="1" dirty="0">
                <a:latin typeface="+mn-lt"/>
              </a:rPr>
              <a:t>a utilizatorilor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en-US" sz="1400" dirty="0" err="1">
                <a:latin typeface="+mn-lt"/>
              </a:rPr>
              <a:t>respondenț</a:t>
            </a:r>
            <a:r>
              <a:rPr lang="ro-RO" sz="1400" dirty="0">
                <a:latin typeface="+mn-lt"/>
              </a:rPr>
              <a:t>i</a:t>
            </a:r>
            <a:r>
              <a:rPr lang="en-US" sz="1400" dirty="0" err="1">
                <a:latin typeface="+mn-lt"/>
              </a:rPr>
              <a:t>i</a:t>
            </a:r>
            <a:r>
              <a:rPr lang="ro-RO" sz="1400" dirty="0">
                <a:latin typeface="+mn-lt"/>
              </a:rPr>
              <a:t> la formularul de feedback au fost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o platformă ca VisioScience3D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ro-RO" sz="1400" dirty="0">
                <a:latin typeface="+mn-lt"/>
              </a:rPr>
              <a:t>-o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perioada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școl</a:t>
            </a:r>
            <a:r>
              <a:rPr lang="ro-RO" sz="1400" dirty="0">
                <a:latin typeface="+mn-lt"/>
              </a:rPr>
              <a:t>ii.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al </a:t>
            </a:r>
            <a:r>
              <a:rPr lang="en-US" sz="1400" dirty="0">
                <a:latin typeface="+mn-lt"/>
              </a:rPr>
              <a:t>API</a:t>
            </a:r>
            <a:r>
              <a:rPr lang="ro-RO" sz="1400" dirty="0">
                <a:latin typeface="+mn-lt"/>
              </a:rPr>
              <a:t>-ului </a:t>
            </a:r>
            <a:r>
              <a:rPr lang="en-US" sz="1400" dirty="0">
                <a:latin typeface="+mn-lt"/>
              </a:rPr>
              <a:t>&lt;250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rate de cadre </a:t>
            </a:r>
            <a:r>
              <a:rPr lang="en-US" sz="1400" dirty="0">
                <a:latin typeface="+mn-lt"/>
              </a:rPr>
              <a:t>≥60 FPS constant</a:t>
            </a:r>
            <a:r>
              <a:rPr lang="ro-RO" sz="1400" dirty="0">
                <a:latin typeface="+mn-lt"/>
              </a:rPr>
              <a:t>, memorie folosită </a:t>
            </a:r>
            <a:r>
              <a:rPr lang="en-US" sz="1400" dirty="0">
                <a:latin typeface="+mn-lt"/>
              </a:rPr>
              <a:t>&lt;200 MB per </a:t>
            </a:r>
            <a:r>
              <a:rPr lang="en-US" sz="1400" dirty="0" err="1">
                <a:latin typeface="+mn-lt"/>
              </a:rPr>
              <a:t>scenă</a:t>
            </a:r>
            <a:r>
              <a:rPr lang="ro-RO" sz="1400" dirty="0">
                <a:latin typeface="+mn-lt"/>
              </a:rPr>
              <a:t>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ro-RO" sz="1400" b="1" dirty="0">
                <a:latin typeface="+mn-lt"/>
              </a:rPr>
              <a:t>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ro-RO" sz="1400" dirty="0">
                <a:latin typeface="+mn-lt"/>
              </a:rPr>
              <a:t>utilizare </a:t>
            </a:r>
            <a:r>
              <a:rPr lang="en-US" sz="1400" dirty="0">
                <a:latin typeface="+mn-lt"/>
              </a:rPr>
              <a:t>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ro-RO" sz="1400" dirty="0">
                <a:latin typeface="+mn-lt"/>
              </a:rPr>
              <a:t> care au cost mare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, suport extins la multiple materii, evaluare și gestionare rezultate de către profesori direct din platformă.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</a:t>
            </a:r>
            <a:r>
              <a:rPr lang="en-US" sz="1400" dirty="0" err="1">
                <a:latin typeface="+mn-lt"/>
              </a:rPr>
              <a:t>etricile</a:t>
            </a:r>
            <a:r>
              <a:rPr lang="ro-RO" sz="1400" dirty="0">
                <a:latin typeface="+mn-lt"/>
              </a:rPr>
              <a:t>, avantajele și mai ales feedback-ul pozitiiv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532852" y="1628493"/>
            <a:ext cx="83361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n-lt"/>
              </a:rPr>
              <a:t>Probleme</a:t>
            </a:r>
            <a:r>
              <a:rPr lang="en-US" sz="1400" b="1" dirty="0">
                <a:latin typeface="+mn-lt"/>
              </a:rPr>
              <a:t> </a:t>
            </a:r>
            <a:r>
              <a:rPr lang="ro-RO" sz="1400" b="1" dirty="0">
                <a:latin typeface="+mn-lt"/>
              </a:rPr>
              <a:t>întâmpinate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400" dirty="0">
                <a:latin typeface="+mn-lt"/>
              </a:rPr>
              <a:t>-</a:t>
            </a:r>
            <a:r>
              <a:rPr lang="en-US" sz="1400" b="1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Kong Ingress local: port-forward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configurare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ClusterIP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CI/CD local: GitHub Runner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cluster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GPU out-of-memory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16K×8K: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4K–8K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</a:t>
            </a:r>
            <a:r>
              <a:rPr lang="en-US" sz="1200" dirty="0" err="1">
                <a:latin typeface="+mn-lt"/>
              </a:rPr>
              <a:t>Parsare</a:t>
            </a:r>
            <a:r>
              <a:rPr lang="en-US" sz="1200" dirty="0">
                <a:latin typeface="+mn-lt"/>
              </a:rPr>
              <a:t> C++ </a:t>
            </a:r>
            <a:r>
              <a:rPr lang="en-US" sz="1200" dirty="0" err="1">
                <a:latin typeface="+mn-lt"/>
              </a:rPr>
              <a:t>complexă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metatrăsături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serializare</a:t>
            </a:r>
            <a:r>
              <a:rPr lang="en-US" sz="1200" dirty="0">
                <a:latin typeface="+mn-lt"/>
              </a:rPr>
              <a:t> JSON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</a:t>
            </a:r>
          </a:p>
          <a:p>
            <a:r>
              <a:rPr lang="en-US" sz="1200" dirty="0">
                <a:latin typeface="+mn-lt"/>
              </a:rPr>
              <a:t>- Cluster Kubernetes mare (60 GB): </a:t>
            </a:r>
            <a:r>
              <a:rPr lang="en-US" sz="1200" dirty="0" err="1">
                <a:latin typeface="+mn-lt"/>
              </a:rPr>
              <a:t>curățare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imagini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en-US" sz="1200" dirty="0">
                <a:latin typeface="+mn-lt"/>
              </a:rPr>
              <a:t> volume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Populare MongoDB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Kubernetes: job </a:t>
            </a:r>
            <a:r>
              <a:rPr lang="en-US" sz="1200" dirty="0" err="1">
                <a:latin typeface="+mn-lt"/>
              </a:rPr>
              <a:t>dedicat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pod </a:t>
            </a:r>
            <a:r>
              <a:rPr lang="en-US" sz="1200" dirty="0" err="1">
                <a:latin typeface="+mn-lt"/>
              </a:rPr>
              <a:t>specializat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endParaRPr lang="en-US" sz="1400" b="1" dirty="0">
              <a:latin typeface="+mn-lt"/>
            </a:endParaRPr>
          </a:p>
          <a:p>
            <a:r>
              <a:rPr lang="en-US" sz="1400" b="1" dirty="0" err="1">
                <a:latin typeface="+mn-lt"/>
              </a:rPr>
              <a:t>Concluzii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200" dirty="0" err="1">
                <a:latin typeface="+mn-lt"/>
              </a:rPr>
              <a:t>Soluția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finală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este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stabilă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performantă</a:t>
            </a:r>
            <a:r>
              <a:rPr lang="en-US" sz="1200" dirty="0">
                <a:latin typeface="+mn-lt"/>
              </a:rPr>
              <a:t>, cu feedback </a:t>
            </a:r>
            <a:r>
              <a:rPr lang="en-US" sz="1200" dirty="0" err="1">
                <a:latin typeface="+mn-lt"/>
              </a:rPr>
              <a:t>pozitiv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utilitate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ridicată</a:t>
            </a:r>
            <a:r>
              <a:rPr lang="ro-RO" sz="1200" dirty="0">
                <a:latin typeface="+mn-lt"/>
              </a:rPr>
              <a:t> (menționată și de utilizatorii care au testat-o în formular)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elevi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Concluzii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39517" y="1733550"/>
            <a:ext cx="617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403764" y="45465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Dezvoltare viitoare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732</TotalTime>
  <Words>1083</Words>
  <Application>Microsoft Office PowerPoint</Application>
  <PresentationFormat>On-screen Show (16:9)</PresentationFormat>
  <Paragraphs>136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78</cp:revision>
  <dcterms:created xsi:type="dcterms:W3CDTF">2025-05-10T19:42:31Z</dcterms:created>
  <dcterms:modified xsi:type="dcterms:W3CDTF">2025-06-29T12:40:12Z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