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6" r:id="rId3"/>
    <p:sldId id="258" r:id="rId4"/>
    <p:sldId id="259" r:id="rId5"/>
    <p:sldId id="263" r:id="rId6"/>
    <p:sldId id="267" r:id="rId7"/>
    <p:sldId id="268" r:id="rId8"/>
    <p:sldId id="272" r:id="rId9"/>
    <p:sldId id="273" r:id="rId10"/>
    <p:sldId id="274" r:id="rId11"/>
    <p:sldId id="275" r:id="rId12"/>
    <p:sldId id="269" r:id="rId13"/>
    <p:sldId id="277" r:id="rId14"/>
    <p:sldId id="270" r:id="rId15"/>
    <p:sldId id="271" r:id="rId16"/>
    <p:sldId id="265" r:id="rId17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38" d="100"/>
          <a:sy n="138" d="100"/>
        </p:scale>
        <p:origin x="834" y="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713274" y="0"/>
            <a:ext cx="8430895" cy="5143500"/>
          </a:xfrm>
          <a:custGeom>
            <a:avLst/>
            <a:gdLst/>
            <a:ahLst/>
            <a:cxnLst/>
            <a:rect l="l" t="t" r="r" b="b"/>
            <a:pathLst>
              <a:path w="8430895" h="5143500">
                <a:moveTo>
                  <a:pt x="0" y="5143499"/>
                </a:moveTo>
                <a:lnTo>
                  <a:pt x="8430724" y="5143499"/>
                </a:lnTo>
                <a:lnTo>
                  <a:pt x="8430724" y="0"/>
                </a:lnTo>
                <a:lnTo>
                  <a:pt x="0" y="0"/>
                </a:lnTo>
                <a:lnTo>
                  <a:pt x="0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713740" cy="5143500"/>
          </a:xfrm>
          <a:custGeom>
            <a:avLst/>
            <a:gdLst/>
            <a:ahLst/>
            <a:cxnLst/>
            <a:rect l="l" t="t" r="r" b="b"/>
            <a:pathLst>
              <a:path w="713740" h="5143500">
                <a:moveTo>
                  <a:pt x="713274" y="0"/>
                </a:moveTo>
                <a:lnTo>
                  <a:pt x="713274" y="5143499"/>
                </a:lnTo>
                <a:lnTo>
                  <a:pt x="0" y="5143499"/>
                </a:lnTo>
                <a:lnTo>
                  <a:pt x="0" y="0"/>
                </a:lnTo>
                <a:lnTo>
                  <a:pt x="713274" y="0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4000" y="538594"/>
                </a:moveTo>
                <a:lnTo>
                  <a:pt x="717981" y="538594"/>
                </a:lnTo>
                <a:lnTo>
                  <a:pt x="717981" y="0"/>
                </a:lnTo>
                <a:lnTo>
                  <a:pt x="708456" y="0"/>
                </a:lnTo>
                <a:lnTo>
                  <a:pt x="708456" y="538594"/>
                </a:lnTo>
                <a:lnTo>
                  <a:pt x="0" y="538594"/>
                </a:lnTo>
                <a:lnTo>
                  <a:pt x="0" y="548119"/>
                </a:lnTo>
                <a:lnTo>
                  <a:pt x="708456" y="548119"/>
                </a:lnTo>
                <a:lnTo>
                  <a:pt x="708456" y="4599241"/>
                </a:lnTo>
                <a:lnTo>
                  <a:pt x="0" y="4599241"/>
                </a:lnTo>
                <a:lnTo>
                  <a:pt x="0" y="4608766"/>
                </a:lnTo>
                <a:lnTo>
                  <a:pt x="708456" y="4608766"/>
                </a:lnTo>
                <a:lnTo>
                  <a:pt x="708456" y="5143500"/>
                </a:lnTo>
                <a:lnTo>
                  <a:pt x="717981" y="5143500"/>
                </a:lnTo>
                <a:lnTo>
                  <a:pt x="717981" y="4608766"/>
                </a:lnTo>
                <a:lnTo>
                  <a:pt x="9144000" y="4608766"/>
                </a:lnTo>
                <a:lnTo>
                  <a:pt x="9144000" y="4599241"/>
                </a:lnTo>
                <a:lnTo>
                  <a:pt x="717981" y="4599241"/>
                </a:lnTo>
                <a:lnTo>
                  <a:pt x="717981" y="548119"/>
                </a:lnTo>
                <a:lnTo>
                  <a:pt x="9144000" y="548119"/>
                </a:lnTo>
                <a:lnTo>
                  <a:pt x="9144000" y="53859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547224" y="141312"/>
            <a:ext cx="494665" cy="242570"/>
          </a:xfrm>
          <a:custGeom>
            <a:avLst/>
            <a:gdLst/>
            <a:ahLst/>
            <a:cxnLst/>
            <a:rect l="l" t="t" r="r" b="b"/>
            <a:pathLst>
              <a:path w="494665" h="242570">
                <a:moveTo>
                  <a:pt x="0" y="0"/>
                </a:moveTo>
                <a:lnTo>
                  <a:pt x="494399" y="0"/>
                </a:lnTo>
              </a:path>
              <a:path w="494665" h="242570">
                <a:moveTo>
                  <a:pt x="0" y="78624"/>
                </a:moveTo>
                <a:lnTo>
                  <a:pt x="494399" y="78624"/>
                </a:lnTo>
              </a:path>
              <a:path w="494665" h="242570">
                <a:moveTo>
                  <a:pt x="0" y="159624"/>
                </a:moveTo>
                <a:lnTo>
                  <a:pt x="494399" y="159624"/>
                </a:lnTo>
              </a:path>
              <a:path w="494665" h="242570">
                <a:moveTo>
                  <a:pt x="0" y="242299"/>
                </a:moveTo>
                <a:lnTo>
                  <a:pt x="494399" y="242299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91734" y="114428"/>
            <a:ext cx="310515" cy="296545"/>
          </a:xfrm>
          <a:custGeom>
            <a:avLst/>
            <a:gdLst/>
            <a:ahLst/>
            <a:cxnLst/>
            <a:rect l="l" t="t" r="r" b="b"/>
            <a:pathLst>
              <a:path w="310515" h="296545">
                <a:moveTo>
                  <a:pt x="230712" y="296075"/>
                </a:moveTo>
                <a:lnTo>
                  <a:pt x="155074" y="191091"/>
                </a:lnTo>
                <a:lnTo>
                  <a:pt x="78438" y="296009"/>
                </a:lnTo>
                <a:lnTo>
                  <a:pt x="46288" y="272331"/>
                </a:lnTo>
                <a:lnTo>
                  <a:pt x="122858" y="167347"/>
                </a:lnTo>
                <a:lnTo>
                  <a:pt x="0" y="127660"/>
                </a:lnTo>
                <a:lnTo>
                  <a:pt x="12339" y="89843"/>
                </a:lnTo>
                <a:lnTo>
                  <a:pt x="135197" y="129526"/>
                </a:lnTo>
                <a:lnTo>
                  <a:pt x="135197" y="0"/>
                </a:lnTo>
                <a:lnTo>
                  <a:pt x="174884" y="0"/>
                </a:lnTo>
                <a:lnTo>
                  <a:pt x="174884" y="129593"/>
                </a:lnTo>
                <a:lnTo>
                  <a:pt x="297809" y="89909"/>
                </a:lnTo>
                <a:lnTo>
                  <a:pt x="310148" y="127727"/>
                </a:lnTo>
                <a:lnTo>
                  <a:pt x="187223" y="167413"/>
                </a:lnTo>
                <a:lnTo>
                  <a:pt x="262858" y="272397"/>
                </a:lnTo>
                <a:lnTo>
                  <a:pt x="230712" y="296075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621763" y="2109216"/>
            <a:ext cx="2503804" cy="3759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5778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6325" y="1211172"/>
            <a:ext cx="3640454" cy="3508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021975" y="1334997"/>
            <a:ext cx="3590290" cy="3089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6060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6/26/2025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6/26/2025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6/26/2025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F3EEE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538587"/>
            <a:ext cx="9144000" cy="9525"/>
          </a:xfrm>
          <a:custGeom>
            <a:avLst/>
            <a:gdLst/>
            <a:ahLst/>
            <a:cxnLst/>
            <a:rect l="l" t="t" r="r" b="b"/>
            <a:pathLst>
              <a:path w="9144000" h="9525">
                <a:moveTo>
                  <a:pt x="0" y="9524"/>
                </a:moveTo>
                <a:lnTo>
                  <a:pt x="0" y="0"/>
                </a:lnTo>
                <a:lnTo>
                  <a:pt x="9143999" y="0"/>
                </a:lnTo>
                <a:lnTo>
                  <a:pt x="9143999" y="9524"/>
                </a:lnTo>
                <a:lnTo>
                  <a:pt x="0" y="9524"/>
                </a:lnTo>
                <a:close/>
              </a:path>
            </a:pathLst>
          </a:custGeom>
          <a:solidFill>
            <a:srgbClr val="06060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  <a:lnTo>
                  <a:pt x="694601" y="0"/>
                </a:lnTo>
                <a:lnTo>
                  <a:pt x="694601" y="544224"/>
                </a:lnTo>
                <a:close/>
              </a:path>
            </a:pathLst>
          </a:custGeom>
          <a:solidFill>
            <a:srgbClr val="EA51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449398" y="0"/>
            <a:ext cx="694690" cy="544830"/>
          </a:xfrm>
          <a:custGeom>
            <a:avLst/>
            <a:gdLst/>
            <a:ahLst/>
            <a:cxnLst/>
            <a:rect l="l" t="t" r="r" b="b"/>
            <a:pathLst>
              <a:path w="694690" h="544830">
                <a:moveTo>
                  <a:pt x="694601" y="544224"/>
                </a:moveTo>
                <a:lnTo>
                  <a:pt x="0" y="544224"/>
                </a:lnTo>
                <a:lnTo>
                  <a:pt x="0" y="0"/>
                </a:lnTo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11970" y="566580"/>
            <a:ext cx="4520058" cy="5384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60609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20505" y="1258076"/>
            <a:ext cx="5336540" cy="288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 u="sng">
                <a:solidFill>
                  <a:srgbClr val="060609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6/26/2025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nvatamate.com/" TargetMode="External"/><Relationship Id="rId7" Type="http://schemas.openxmlformats.org/officeDocument/2006/relationships/image" Target="../media/image7.jpeg"/><Relationship Id="rId2" Type="http://schemas.openxmlformats.org/officeDocument/2006/relationships/hyperlink" Target="https://phet.colorado.edu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2209800" y="1859618"/>
            <a:ext cx="4724400" cy="102848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2300" b="1" spc="-185" dirty="0" err="1">
                <a:latin typeface="+mj-lt"/>
              </a:rPr>
              <a:t>VisioScience</a:t>
            </a:r>
            <a:r>
              <a:rPr lang="en-US" sz="2300" b="1" spc="-185" dirty="0">
                <a:latin typeface="+mj-lt"/>
              </a:rPr>
              <a:t> 3D </a:t>
            </a:r>
            <a:r>
              <a:rPr lang="en-US" sz="2300" spc="-185" dirty="0">
                <a:latin typeface="+mj-lt"/>
              </a:rPr>
              <a:t>- </a:t>
            </a:r>
            <a:r>
              <a:rPr lang="en-US" sz="2300" spc="-185" dirty="0" err="1">
                <a:latin typeface="+mj-lt"/>
              </a:rPr>
              <a:t>Platformă</a:t>
            </a:r>
            <a:r>
              <a:rPr lang="en-US" sz="2300" spc="-185" dirty="0">
                <a:latin typeface="+mj-lt"/>
              </a:rPr>
              <a:t> Web </a:t>
            </a:r>
            <a:r>
              <a:rPr lang="en-US" sz="2300" spc="-185" dirty="0" err="1">
                <a:latin typeface="+mj-lt"/>
              </a:rPr>
              <a:t>pentru</a:t>
            </a:r>
            <a:r>
              <a:rPr lang="en-US" sz="2300" spc="-185" dirty="0">
                <a:latin typeface="+mj-lt"/>
              </a:rPr>
              <a:t> </a:t>
            </a:r>
            <a:r>
              <a:rPr lang="en-US" sz="2300" spc="-185" dirty="0" err="1">
                <a:latin typeface="+mj-lt"/>
              </a:rPr>
              <a:t>Învățare</a:t>
            </a:r>
            <a:r>
              <a:rPr lang="en-US" sz="2300" spc="-185" dirty="0">
                <a:latin typeface="+mj-lt"/>
              </a:rPr>
              <a:t> </a:t>
            </a:r>
            <a:r>
              <a:rPr lang="en-US" sz="2300" spc="-185" dirty="0" err="1">
                <a:latin typeface="+mj-lt"/>
              </a:rPr>
              <a:t>prin</a:t>
            </a:r>
            <a:r>
              <a:rPr lang="en-US" sz="2300" spc="-185" dirty="0">
                <a:latin typeface="+mj-lt"/>
              </a:rPr>
              <a:t> </a:t>
            </a:r>
            <a:r>
              <a:rPr lang="en-US" sz="2300" spc="-185" dirty="0" err="1">
                <a:latin typeface="+mj-lt"/>
              </a:rPr>
              <a:t>Vizualizări</a:t>
            </a:r>
            <a:r>
              <a:rPr lang="en-US" sz="2300" spc="-185" dirty="0">
                <a:latin typeface="+mj-lt"/>
              </a:rPr>
              <a:t> 3D</a:t>
            </a:r>
            <a:br>
              <a:rPr lang="en-US" sz="2300" spc="-185" dirty="0">
                <a:latin typeface="+mj-lt"/>
              </a:rPr>
            </a:br>
            <a:endParaRPr sz="2000" dirty="0">
              <a:latin typeface="+mj-l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ubTitle" idx="4"/>
          </p:nvPr>
        </p:nvSpPr>
        <p:spPr>
          <a:xfrm>
            <a:off x="1290800" y="3280762"/>
            <a:ext cx="4507230" cy="4991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sz="1400" b="1" u="none" dirty="0">
                <a:latin typeface="+mj-lt"/>
                <a:cs typeface="Times New Roman" panose="02020603050405020304" pitchFamily="18" charset="0"/>
              </a:rPr>
              <a:t>Student:</a:t>
            </a:r>
            <a:r>
              <a:rPr sz="1400" b="1" u="none" spc="8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200" u="none" dirty="0">
                <a:latin typeface="+mj-lt"/>
                <a:cs typeface="Times New Roman" panose="02020603050405020304" pitchFamily="18" charset="0"/>
              </a:rPr>
              <a:t>Dragomir Andrei-Mihai</a:t>
            </a:r>
          </a:p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lang="ro-RO" sz="1400" b="1" u="none" dirty="0">
                <a:latin typeface="+mj-lt"/>
                <a:cs typeface="Times New Roman" panose="02020603050405020304" pitchFamily="18" charset="0"/>
              </a:rPr>
              <a:t>Coordonator</a:t>
            </a:r>
            <a:r>
              <a:rPr sz="1400" b="1" u="none" spc="105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ro-RO" sz="1400" b="1" u="none" spc="105" dirty="0">
                <a:latin typeface="+mj-lt"/>
                <a:cs typeface="Times New Roman" panose="02020603050405020304" pitchFamily="18" charset="0"/>
              </a:rPr>
              <a:t>științific</a:t>
            </a:r>
            <a:r>
              <a:rPr sz="1400" b="1" u="none" dirty="0">
                <a:latin typeface="+mj-lt"/>
                <a:cs typeface="Times New Roman" panose="02020603050405020304" pitchFamily="18" charset="0"/>
              </a:rPr>
              <a:t>:</a:t>
            </a:r>
            <a:r>
              <a:rPr sz="1400" b="1" u="none" spc="11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sz="1200" u="none" spc="-145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Prof.  </a:t>
            </a:r>
            <a:r>
              <a:rPr lang="en-US" sz="1200" u="none" spc="-5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Dr.</a:t>
            </a:r>
            <a:r>
              <a:rPr lang="en-US" sz="1200" u="none" spc="11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2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Ing Anca</a:t>
            </a:r>
            <a:r>
              <a:rPr lang="ro-RO" sz="12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-Andreea</a:t>
            </a:r>
            <a:r>
              <a:rPr lang="en-US" sz="1200" u="none" spc="-30" dirty="0">
                <a:latin typeface="+mj-lt"/>
                <a:ea typeface="Microsoft Sans Serif" panose="020B0604020202020204" pitchFamily="34" charset="0"/>
                <a:cs typeface="Times New Roman" panose="02020603050405020304" pitchFamily="18" charset="0"/>
              </a:rPr>
              <a:t> Morar</a:t>
            </a:r>
            <a:endParaRPr sz="1200" dirty="0">
              <a:latin typeface="+mj-lt"/>
              <a:ea typeface="Microsoft Sans Serif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8609913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736978" y="4754382"/>
            <a:ext cx="13017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98030" y="630643"/>
            <a:ext cx="2174349" cy="964750"/>
          </a:xfrm>
          <a:prstGeom prst="rect">
            <a:avLst/>
          </a:prstGeom>
        </p:spPr>
      </p:pic>
      <p:pic>
        <p:nvPicPr>
          <p:cNvPr id="12" name="Picture 11" descr="A logo with a building and text&#10;&#10;AI-generated content may be incorrect.">
            <a:extLst>
              <a:ext uri="{FF2B5EF4-FFF2-40B4-BE49-F238E27FC236}">
                <a16:creationId xmlns:a16="http://schemas.microsoft.com/office/drawing/2014/main" id="{15085DD7-3D0C-1FB5-A75A-DF34C762A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556509"/>
            <a:ext cx="1107701" cy="11130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2941F-D64C-10B0-7BFF-4A4057D41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2087F4B-EBFA-3A17-B49B-E82555D711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33600" y="514350"/>
            <a:ext cx="4520058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288415">
              <a:lnSpc>
                <a:spcPct val="100000"/>
              </a:lnSpc>
              <a:spcBef>
                <a:spcPts val="100"/>
              </a:spcBef>
            </a:pPr>
            <a:r>
              <a:rPr lang="en-US" b="1" spc="-130" dirty="0">
                <a:latin typeface="+mj-lt"/>
              </a:rPr>
              <a:t>Motiva</a:t>
            </a:r>
            <a:r>
              <a:rPr lang="ro-RO" b="1" spc="-130" dirty="0">
                <a:latin typeface="+mj-lt"/>
              </a:rPr>
              <a:t>ție</a:t>
            </a:r>
            <a:endParaRPr b="1" spc="-130" dirty="0">
              <a:latin typeface="+mj-l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3F052E7-B481-8651-C7FC-9BC639AE503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DACCC59E-984B-A43B-9E13-60B8B38804C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C4ABAC2-A7F1-6C11-CA8B-BE48E3E888D6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EADDD00-BC5F-3FC6-873E-901DCCD5827F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7A2032B-5587-837F-3897-4870C674F5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A1C5CA-37BA-6D58-2BF5-A7B4BD44A9F3}"/>
              </a:ext>
            </a:extLst>
          </p:cNvPr>
          <p:cNvSpPr txBox="1"/>
          <p:nvPr/>
        </p:nvSpPr>
        <p:spPr>
          <a:xfrm>
            <a:off x="3048000" y="1809750"/>
            <a:ext cx="51054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latin typeface="+mn-lt"/>
              </a:rPr>
              <a:t>Motivația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e dată de nevoia </a:t>
            </a:r>
            <a:r>
              <a:rPr lang="en-US" sz="1200" dirty="0">
                <a:latin typeface="+mn-lt"/>
              </a:rPr>
              <a:t>de a </a:t>
            </a:r>
            <a:r>
              <a:rPr lang="en-US" sz="1200" dirty="0" err="1">
                <a:latin typeface="+mn-lt"/>
              </a:rPr>
              <a:t>transforma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predarea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învățarea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științelor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exacte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într</a:t>
            </a:r>
            <a:r>
              <a:rPr lang="en-US" sz="1200" dirty="0">
                <a:latin typeface="+mn-lt"/>
              </a:rPr>
              <a:t>-o </a:t>
            </a:r>
            <a:r>
              <a:rPr lang="en-US" sz="1200" dirty="0" err="1">
                <a:latin typeface="+mn-lt"/>
              </a:rPr>
              <a:t>experiență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mai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captivantă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interactivă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accesibilă</a:t>
            </a:r>
            <a:r>
              <a:rPr lang="en-US" sz="1200" dirty="0">
                <a:latin typeface="+mn-lt"/>
              </a:rPr>
              <a:t>. </a:t>
            </a:r>
            <a:r>
              <a:rPr lang="en-US" sz="1200" dirty="0" err="1">
                <a:latin typeface="+mn-lt"/>
              </a:rPr>
              <a:t>În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locul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materialelor</a:t>
            </a:r>
            <a:r>
              <a:rPr lang="en-US" sz="1200" dirty="0">
                <a:latin typeface="+mn-lt"/>
              </a:rPr>
              <a:t> statice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abstracte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platforma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oferă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simulări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dinamice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vizualizări</a:t>
            </a:r>
            <a:r>
              <a:rPr lang="en-US" sz="1200" dirty="0">
                <a:latin typeface="+mn-lt"/>
              </a:rPr>
              <a:t> 3D care </a:t>
            </a:r>
            <a:r>
              <a:rPr lang="en-US" sz="1200" dirty="0" err="1">
                <a:latin typeface="+mn-lt"/>
              </a:rPr>
              <a:t>facilitează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înțelegerea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conceptelor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complexe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geometrie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fizică</a:t>
            </a:r>
            <a:r>
              <a:rPr lang="ro-RO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chimie</a:t>
            </a:r>
            <a:r>
              <a:rPr lang="ro-RO" sz="1200" dirty="0">
                <a:latin typeface="+mn-lt"/>
              </a:rPr>
              <a:t>, informatică și astronomie</a:t>
            </a:r>
            <a:r>
              <a:rPr lang="en-US" sz="1200" dirty="0">
                <a:latin typeface="+mn-lt"/>
              </a:rPr>
              <a:t>. </a:t>
            </a:r>
            <a:r>
              <a:rPr lang="en-US" sz="1200" dirty="0" err="1">
                <a:latin typeface="+mn-lt"/>
              </a:rPr>
              <a:t>Printr</a:t>
            </a:r>
            <a:r>
              <a:rPr lang="en-US" sz="1200" dirty="0">
                <a:latin typeface="+mn-lt"/>
              </a:rPr>
              <a:t>-un </a:t>
            </a:r>
            <a:r>
              <a:rPr lang="en-US" sz="1200" dirty="0" err="1">
                <a:latin typeface="+mn-lt"/>
              </a:rPr>
              <a:t>mediu</a:t>
            </a:r>
            <a:r>
              <a:rPr lang="en-US" sz="1200" dirty="0">
                <a:latin typeface="+mn-lt"/>
              </a:rPr>
              <a:t> web </a:t>
            </a:r>
            <a:r>
              <a:rPr lang="en-US" sz="1200" dirty="0" err="1">
                <a:latin typeface="+mn-lt"/>
              </a:rPr>
              <a:t>ușor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utilizat</a:t>
            </a:r>
            <a:r>
              <a:rPr lang="ro-RO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elevii</a:t>
            </a:r>
            <a:r>
              <a:rPr lang="en-US" sz="1200" dirty="0">
                <a:latin typeface="+mn-lt"/>
              </a:rPr>
              <a:t> pot </a:t>
            </a:r>
            <a:r>
              <a:rPr lang="en-US" sz="1200" dirty="0" err="1">
                <a:latin typeface="+mn-lt"/>
              </a:rPr>
              <a:t>explora</a:t>
            </a:r>
            <a:r>
              <a:rPr lang="en-US" sz="1200" dirty="0">
                <a:latin typeface="+mn-lt"/>
              </a:rPr>
              <a:t> liber </a:t>
            </a:r>
            <a:r>
              <a:rPr lang="en-US" sz="1200" dirty="0" err="1">
                <a:latin typeface="+mn-lt"/>
              </a:rPr>
              <a:t>conceptele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științifice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iar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profesorii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beneficiază</a:t>
            </a:r>
            <a:r>
              <a:rPr lang="en-US" sz="1200" dirty="0">
                <a:latin typeface="+mn-lt"/>
              </a:rPr>
              <a:t> de </a:t>
            </a:r>
            <a:r>
              <a:rPr lang="en-US" sz="1200" dirty="0" err="1">
                <a:latin typeface="+mn-lt"/>
              </a:rPr>
              <a:t>instrumente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rapide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creare</a:t>
            </a:r>
            <a:r>
              <a:rPr lang="en-US" sz="1200" dirty="0">
                <a:latin typeface="+mn-lt"/>
              </a:rPr>
              <a:t> de quiz-</a:t>
            </a:r>
            <a:r>
              <a:rPr lang="en-US" sz="1200" dirty="0" err="1">
                <a:latin typeface="+mn-lt"/>
              </a:rPr>
              <a:t>uri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monitorizarea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progresului</a:t>
            </a:r>
            <a:r>
              <a:rPr lang="en-US" sz="1200" dirty="0">
                <a:latin typeface="+mn-lt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056110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8574" y="566580"/>
            <a:ext cx="6041826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1008380" algn="ctr">
              <a:lnSpc>
                <a:spcPct val="100000"/>
              </a:lnSpc>
              <a:spcBef>
                <a:spcPts val="100"/>
              </a:spcBef>
            </a:pPr>
            <a:r>
              <a:rPr lang="ro-RO" b="1" spc="-190" dirty="0">
                <a:latin typeface="+mj-lt"/>
              </a:rPr>
              <a:t>Abordări existente</a:t>
            </a:r>
            <a:endParaRPr b="1" spc="-16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68574" y="1545714"/>
            <a:ext cx="3755826" cy="262379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en-US" sz="1400" b="1" dirty="0">
                <a:solidFill>
                  <a:srgbClr val="060609"/>
                </a:solidFill>
                <a:latin typeface="+mj-lt"/>
                <a:cs typeface="Arial"/>
                <a:hlinkClick r:id="rId2"/>
              </a:rPr>
              <a:t>phet.colorado.edu</a:t>
            </a:r>
            <a:endParaRPr lang="en-US" sz="1400" b="1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ro-RO"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Limitări</a:t>
            </a: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:</a:t>
            </a:r>
            <a:endParaRPr sz="1200" dirty="0">
              <a:latin typeface="+mj-lt"/>
              <a:cs typeface="Microsoft Sans Serif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Nu 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evaluare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Oferă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limitate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9"/>
              </a:spcBef>
              <a:buChar char="●"/>
              <a:tabLst>
                <a:tab pos="469265" algn="l"/>
              </a:tabLst>
            </a:pP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Doar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modele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nu are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suport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informatică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sau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astronomie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sz="12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r>
              <a:rPr lang="en-US" sz="1400" b="1" spc="-10" dirty="0">
                <a:solidFill>
                  <a:srgbClr val="060609"/>
                </a:solidFill>
                <a:latin typeface="+mj-lt"/>
                <a:cs typeface="Arial"/>
                <a:hlinkClick r:id="rId3"/>
              </a:rPr>
              <a:t>invatamate.com</a:t>
            </a:r>
            <a:endParaRPr lang="en-US" sz="1400" b="1" spc="-10" dirty="0">
              <a:solidFill>
                <a:srgbClr val="060609"/>
              </a:solidFill>
              <a:latin typeface="+mj-lt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ro-RO"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Limitări </a:t>
            </a: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:</a:t>
            </a:r>
            <a:endParaRPr sz="1200" dirty="0">
              <a:latin typeface="+mj-lt"/>
              <a:cs typeface="Microsoft Sans Serif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Experiență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suboptimă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265" indent="-320040">
              <a:lnSpc>
                <a:spcPct val="100000"/>
              </a:lnSpc>
              <a:spcBef>
                <a:spcPts val="215"/>
              </a:spcBef>
              <a:buChar char="●"/>
              <a:tabLst>
                <a:tab pos="469265" algn="l"/>
              </a:tabLst>
            </a:pP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 vizuale limitate și concentrare pe materiale și chestionare externe integrate în Kahoot.</a:t>
            </a:r>
            <a:endParaRPr sz="12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49874" y="1545714"/>
            <a:ext cx="3694125" cy="306763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lang="en-US" sz="1400" b="1" u="sng" spc="-10" dirty="0">
                <a:solidFill>
                  <a:srgbClr val="060609"/>
                </a:solidFill>
                <a:latin typeface="+mj-lt"/>
                <a:cs typeface="Arial"/>
              </a:rPr>
              <a:t>mozaweb.com </a:t>
            </a:r>
          </a:p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Limitations:</a:t>
            </a:r>
            <a:endParaRPr sz="1200" dirty="0">
              <a:latin typeface="+mj-lt"/>
              <a:cs typeface="Microsoft Sans Serif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bună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selecție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dar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necesită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un plugin extern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acestea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469900" marR="5080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Accentul se pune pe </a:t>
            </a:r>
            <a:r>
              <a:rPr lang="ro-RO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profit</a:t>
            </a:r>
            <a:r>
              <a:rPr lang="it-IT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mai degrabă decât pe educația deschisă.</a:t>
            </a:r>
            <a:endParaRPr lang="ro-RO" sz="1200" dirty="0">
              <a:solidFill>
                <a:srgbClr val="060609"/>
              </a:solidFill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>
              <a:lnSpc>
                <a:spcPct val="100000"/>
              </a:lnSpc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935"/>
              </a:spcBef>
              <a:buClr>
                <a:srgbClr val="060609"/>
              </a:buClr>
              <a:buFont typeface="Microsoft Sans Serif"/>
              <a:buChar char="●"/>
            </a:pPr>
            <a:endParaRPr sz="1200" dirty="0">
              <a:latin typeface="+mj-lt"/>
              <a:cs typeface="Microsoft Sans Serif"/>
            </a:endParaRPr>
          </a:p>
          <a:p>
            <a:pPr marL="12700">
              <a:lnSpc>
                <a:spcPct val="100000"/>
              </a:lnSpc>
            </a:pPr>
            <a:r>
              <a:rPr lang="en-US" sz="1400" b="1" u="sng" dirty="0">
                <a:solidFill>
                  <a:srgbClr val="060609"/>
                </a:solidFill>
                <a:latin typeface="+mj-lt"/>
                <a:cs typeface="Arial"/>
              </a:rPr>
              <a:t>iqboard.ro</a:t>
            </a:r>
          </a:p>
          <a:p>
            <a:pPr marL="12700">
              <a:lnSpc>
                <a:spcPct val="100000"/>
              </a:lnSpc>
            </a:pPr>
            <a:r>
              <a:rPr sz="1200" spc="-10" dirty="0">
                <a:solidFill>
                  <a:srgbClr val="060609"/>
                </a:solidFill>
                <a:latin typeface="+mj-lt"/>
                <a:cs typeface="Microsoft Sans Serif"/>
              </a:rPr>
              <a:t>Limitations:</a:t>
            </a:r>
            <a:endParaRPr sz="1200" dirty="0">
              <a:latin typeface="+mj-lt"/>
              <a:cs typeface="Microsoft Sans Serif"/>
            </a:endParaRPr>
          </a:p>
          <a:p>
            <a:pPr marL="469900" marR="118110" lvl="1" indent="-320675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O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bună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selecție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elemente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vizuale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2D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și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3D pe diverse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teme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dar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produse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separate cu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prețuri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foarte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mari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(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versiunea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de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bază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284€,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cea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en-US" sz="1200" dirty="0" err="1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pentru</a:t>
            </a:r>
            <a:r>
              <a:rPr lang="en-US" sz="1200" dirty="0">
                <a:solidFill>
                  <a:srgbClr val="060609"/>
                </a:solidFill>
                <a:latin typeface="+mj-lt"/>
                <a:ea typeface="Microsoft Sans Serif" panose="020B0604020202020204" pitchFamily="34" charset="0"/>
                <a:cs typeface="Microsoft Sans Serif" panose="020B0604020202020204" pitchFamily="34" charset="0"/>
              </a:rPr>
              <a:t> expert 321€).</a:t>
            </a:r>
            <a:endParaRPr sz="1200" dirty="0">
              <a:latin typeface="+mj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pic>
        <p:nvPicPr>
          <p:cNvPr id="10" name="Picture 9" descr="A yellow and blue logo&#10;&#10;AI-generated content may be incorrect.">
            <a:extLst>
              <a:ext uri="{FF2B5EF4-FFF2-40B4-BE49-F238E27FC236}">
                <a16:creationId xmlns:a16="http://schemas.microsoft.com/office/drawing/2014/main" id="{DAE8CE68-55F7-294C-60A3-4A3A4DD883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568" y="1554373"/>
            <a:ext cx="547238" cy="25846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A3B345-610F-93CC-3803-A84CFE5B70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343" y="3489981"/>
            <a:ext cx="242463" cy="24246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B8CC04-C431-0D8E-E7E8-28C0A1C96AB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1545714"/>
            <a:ext cx="280554" cy="2805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B5E1B70-2E8A-0665-B4F7-54281366BB9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631" y="3279504"/>
            <a:ext cx="323416" cy="323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311970" y="566580"/>
            <a:ext cx="4520058" cy="456464"/>
          </a:xfrm>
          <a:prstGeom prst="rect">
            <a:avLst/>
          </a:prstGeom>
        </p:spPr>
        <p:txBody>
          <a:bodyPr vert="horz" wrap="square" lIns="0" tIns="71049" rIns="0" bIns="0" rtlCol="0">
            <a:spAutoFit/>
          </a:bodyPr>
          <a:lstStyle/>
          <a:p>
            <a:pPr marL="367030">
              <a:lnSpc>
                <a:spcPct val="100000"/>
              </a:lnSpc>
              <a:spcBef>
                <a:spcPts val="100"/>
              </a:spcBef>
            </a:pPr>
            <a:r>
              <a:rPr lang="ro-RO" b="1" spc="-180" dirty="0">
                <a:latin typeface="+mj-lt"/>
              </a:rPr>
              <a:t>Specificarea cerințelor</a:t>
            </a:r>
            <a:endParaRPr b="1" spc="-135" dirty="0">
              <a:latin typeface="+mj-lt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38200" y="1075811"/>
            <a:ext cx="7010400" cy="3929281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228600" indent="-228600">
              <a:buAutoNum type="arabicPeriod"/>
            </a:pPr>
            <a:r>
              <a:rPr lang="ro-RO" sz="1200" b="1" dirty="0">
                <a:latin typeface="+mn-lt"/>
              </a:rPr>
              <a:t>Cerințe </a:t>
            </a:r>
            <a:r>
              <a:rPr lang="en-US" sz="1200" b="1" dirty="0">
                <a:latin typeface="+mn-lt"/>
              </a:rPr>
              <a:t>Funcționale – </a:t>
            </a:r>
            <a:r>
              <a:rPr lang="en-US" sz="1200" b="1" dirty="0" err="1">
                <a:latin typeface="+mn-lt"/>
              </a:rPr>
              <a:t>Elevi</a:t>
            </a:r>
            <a:endParaRPr lang="ro-RO" sz="1200" b="1" dirty="0">
              <a:latin typeface="+mn-lt"/>
            </a:endParaRPr>
          </a:p>
          <a:p>
            <a:pPr marL="228600" indent="-228600">
              <a:buAutoNum type="arabicPeriod"/>
            </a:pPr>
            <a:endParaRPr lang="en-US" sz="1200" b="1" dirty="0">
              <a:latin typeface="+mn-lt"/>
            </a:endParaRPr>
          </a:p>
          <a:p>
            <a:r>
              <a:rPr lang="en-US" sz="1000" b="1" dirty="0" err="1">
                <a:latin typeface="+mn-lt"/>
              </a:rPr>
              <a:t>Autentificare</a:t>
            </a:r>
            <a:r>
              <a:rPr lang="ro-RO" sz="1000" b="1" dirty="0">
                <a:latin typeface="+mn-lt"/>
              </a:rPr>
              <a:t>/</a:t>
            </a:r>
            <a:r>
              <a:rPr lang="en-US" sz="1000" b="1" dirty="0" err="1">
                <a:latin typeface="+mn-lt"/>
              </a:rPr>
              <a:t>Înregistrare</a:t>
            </a:r>
            <a:r>
              <a:rPr lang="en-US" sz="1000" dirty="0">
                <a:latin typeface="+mn-lt"/>
              </a:rPr>
              <a:t>: </a:t>
            </a:r>
            <a:r>
              <a:rPr lang="en-US" sz="1000" dirty="0" err="1">
                <a:latin typeface="+mn-lt"/>
              </a:rPr>
              <a:t>cont</a:t>
            </a:r>
            <a:r>
              <a:rPr lang="en-US" sz="1000" dirty="0">
                <a:latin typeface="+mn-lt"/>
              </a:rPr>
              <a:t> </a:t>
            </a:r>
            <a:r>
              <a:rPr lang="en-US" sz="1000" dirty="0" err="1">
                <a:latin typeface="+mn-lt"/>
              </a:rPr>
              <a:t>securizat</a:t>
            </a:r>
            <a:r>
              <a:rPr lang="en-US" sz="1000" dirty="0">
                <a:latin typeface="+mn-lt"/>
              </a:rPr>
              <a:t>, date </a:t>
            </a:r>
            <a:r>
              <a:rPr lang="en-US" sz="1000" dirty="0" err="1">
                <a:latin typeface="+mn-lt"/>
              </a:rPr>
              <a:t>criptate</a:t>
            </a:r>
            <a:endParaRPr lang="en-US" sz="1000" dirty="0">
              <a:latin typeface="+mn-lt"/>
            </a:endParaRPr>
          </a:p>
          <a:p>
            <a:r>
              <a:rPr lang="en-US" sz="1000" b="1" dirty="0" err="1">
                <a:latin typeface="+mn-lt"/>
              </a:rPr>
              <a:t>Meniu</a:t>
            </a:r>
            <a:r>
              <a:rPr lang="en-US" sz="1000" b="1" dirty="0">
                <a:latin typeface="+mn-lt"/>
              </a:rPr>
              <a:t> 3D </a:t>
            </a:r>
            <a:r>
              <a:rPr lang="en-US" sz="1000" b="1" dirty="0" err="1">
                <a:latin typeface="+mn-lt"/>
              </a:rPr>
              <a:t>interactiv</a:t>
            </a:r>
            <a:r>
              <a:rPr lang="en-US" sz="1000" dirty="0">
                <a:latin typeface="+mn-lt"/>
              </a:rPr>
              <a:t>: </a:t>
            </a:r>
            <a:r>
              <a:rPr lang="en-US" sz="1000" dirty="0" err="1">
                <a:latin typeface="+mn-lt"/>
              </a:rPr>
              <a:t>explorare</a:t>
            </a:r>
            <a:r>
              <a:rPr lang="en-US" sz="1000" dirty="0">
                <a:latin typeface="+mn-lt"/>
              </a:rPr>
              <a:t> </a:t>
            </a:r>
            <a:r>
              <a:rPr lang="en-US" sz="1000" dirty="0" err="1">
                <a:latin typeface="+mn-lt"/>
              </a:rPr>
              <a:t>materii</a:t>
            </a:r>
            <a:r>
              <a:rPr lang="en-US" sz="1000" dirty="0">
                <a:latin typeface="+mn-lt"/>
              </a:rPr>
              <a:t>, </a:t>
            </a:r>
            <a:r>
              <a:rPr lang="en-US" sz="1000" dirty="0" err="1">
                <a:latin typeface="+mn-lt"/>
              </a:rPr>
              <a:t>navigare</a:t>
            </a:r>
            <a:r>
              <a:rPr lang="en-US" sz="1000" dirty="0">
                <a:latin typeface="+mn-lt"/>
              </a:rPr>
              <a:t> </a:t>
            </a:r>
            <a:r>
              <a:rPr lang="en-US" sz="1000" dirty="0" err="1">
                <a:latin typeface="+mn-lt"/>
              </a:rPr>
              <a:t>gamificată</a:t>
            </a:r>
            <a:r>
              <a:rPr lang="ro-RO" sz="1000" dirty="0">
                <a:latin typeface="+mn-lt"/>
              </a:rPr>
              <a:t>, selectare interactivă</a:t>
            </a:r>
            <a:endParaRPr lang="en-US" sz="1000" dirty="0">
              <a:latin typeface="+mn-lt"/>
            </a:endParaRPr>
          </a:p>
          <a:p>
            <a:r>
              <a:rPr lang="en-US" sz="1000" b="1" dirty="0">
                <a:latin typeface="+mn-lt"/>
              </a:rPr>
              <a:t>Module 3D</a:t>
            </a:r>
            <a:r>
              <a:rPr lang="en-US" sz="1000" dirty="0">
                <a:latin typeface="+mn-lt"/>
              </a:rPr>
              <a:t>: </a:t>
            </a:r>
            <a:r>
              <a:rPr lang="en-US" sz="1000" dirty="0" err="1">
                <a:latin typeface="+mn-lt"/>
              </a:rPr>
              <a:t>vizualizări</a:t>
            </a:r>
            <a:r>
              <a:rPr lang="en-US" sz="1000" dirty="0">
                <a:latin typeface="+mn-lt"/>
              </a:rPr>
              <a:t>, </a:t>
            </a:r>
            <a:r>
              <a:rPr lang="ro-RO" sz="1000" dirty="0">
                <a:latin typeface="+mn-lt"/>
              </a:rPr>
              <a:t>scene, animații, interacțiune cu ele, modificare structură, elemente</a:t>
            </a:r>
            <a:endParaRPr lang="en-US" sz="1000" dirty="0">
              <a:latin typeface="+mn-lt"/>
            </a:endParaRPr>
          </a:p>
          <a:p>
            <a:r>
              <a:rPr lang="en-US" sz="1000" b="1" dirty="0" err="1">
                <a:latin typeface="+mn-lt"/>
              </a:rPr>
              <a:t>Manipulare</a:t>
            </a:r>
            <a:r>
              <a:rPr lang="en-US" sz="1000" b="1" dirty="0">
                <a:latin typeface="+mn-lt"/>
              </a:rPr>
              <a:t> scene</a:t>
            </a:r>
            <a:r>
              <a:rPr lang="en-US" sz="1000" dirty="0">
                <a:latin typeface="+mn-lt"/>
              </a:rPr>
              <a:t>: </a:t>
            </a:r>
            <a:r>
              <a:rPr lang="en-US" sz="1000" dirty="0" err="1">
                <a:latin typeface="+mn-lt"/>
              </a:rPr>
              <a:t>rotire</a:t>
            </a:r>
            <a:r>
              <a:rPr lang="en-US" sz="1000" dirty="0">
                <a:latin typeface="+mn-lt"/>
              </a:rPr>
              <a:t>, zoom, </a:t>
            </a:r>
            <a:r>
              <a:rPr lang="en-US" sz="1000" dirty="0" err="1">
                <a:latin typeface="+mn-lt"/>
              </a:rPr>
              <a:t>interacțiuni</a:t>
            </a:r>
            <a:r>
              <a:rPr lang="en-US" sz="1000" dirty="0">
                <a:latin typeface="+mn-lt"/>
              </a:rPr>
              <a:t> </a:t>
            </a:r>
            <a:r>
              <a:rPr lang="en-US" sz="1000" dirty="0" err="1">
                <a:latin typeface="+mn-lt"/>
              </a:rPr>
              <a:t>în</a:t>
            </a:r>
            <a:r>
              <a:rPr lang="en-US" sz="1000" dirty="0">
                <a:latin typeface="+mn-lt"/>
              </a:rPr>
              <a:t> </a:t>
            </a:r>
            <a:r>
              <a:rPr lang="en-US" sz="1000" dirty="0" err="1">
                <a:latin typeface="+mn-lt"/>
              </a:rPr>
              <a:t>timp</a:t>
            </a:r>
            <a:r>
              <a:rPr lang="en-US" sz="1000" dirty="0">
                <a:latin typeface="+mn-lt"/>
              </a:rPr>
              <a:t> real</a:t>
            </a:r>
            <a:r>
              <a:rPr lang="ro-RO" sz="1000" dirty="0">
                <a:latin typeface="+mn-lt"/>
              </a:rPr>
              <a:t>, forțe, detalii elemente, cod interactiv</a:t>
            </a:r>
            <a:endParaRPr lang="en-US" sz="1000" dirty="0">
              <a:latin typeface="+mn-lt"/>
            </a:endParaRPr>
          </a:p>
          <a:p>
            <a:r>
              <a:rPr lang="en-US" sz="1000" b="1" dirty="0">
                <a:latin typeface="+mn-lt"/>
              </a:rPr>
              <a:t>Teste &amp; </a:t>
            </a:r>
            <a:r>
              <a:rPr lang="en-US" sz="1000" b="1" dirty="0" err="1">
                <a:latin typeface="+mn-lt"/>
              </a:rPr>
              <a:t>rezultate</a:t>
            </a:r>
            <a:r>
              <a:rPr lang="en-US" sz="1000" dirty="0">
                <a:latin typeface="+mn-lt"/>
              </a:rPr>
              <a:t>: </a:t>
            </a:r>
            <a:r>
              <a:rPr lang="en-US" sz="1000" dirty="0" err="1">
                <a:latin typeface="+mn-lt"/>
              </a:rPr>
              <a:t>acces</a:t>
            </a:r>
            <a:r>
              <a:rPr lang="en-US" sz="1000" dirty="0">
                <a:latin typeface="+mn-lt"/>
              </a:rPr>
              <a:t>, </a:t>
            </a:r>
            <a:r>
              <a:rPr lang="en-US" sz="1000" dirty="0" err="1">
                <a:latin typeface="+mn-lt"/>
              </a:rPr>
              <a:t>rezolvare</a:t>
            </a:r>
            <a:r>
              <a:rPr lang="en-US" sz="1000" dirty="0">
                <a:latin typeface="+mn-lt"/>
              </a:rPr>
              <a:t>, </a:t>
            </a:r>
            <a:r>
              <a:rPr lang="en-US" sz="1000" dirty="0" err="1">
                <a:latin typeface="+mn-lt"/>
              </a:rPr>
              <a:t>retestare</a:t>
            </a:r>
            <a:r>
              <a:rPr lang="en-US" sz="1000" dirty="0">
                <a:latin typeface="+mn-lt"/>
              </a:rPr>
              <a:t>, </a:t>
            </a:r>
            <a:r>
              <a:rPr lang="en-US" sz="1000" dirty="0" err="1">
                <a:latin typeface="+mn-lt"/>
              </a:rPr>
              <a:t>panou</a:t>
            </a:r>
            <a:r>
              <a:rPr lang="en-US" sz="1000" dirty="0">
                <a:latin typeface="+mn-lt"/>
              </a:rPr>
              <a:t> </a:t>
            </a:r>
            <a:r>
              <a:rPr lang="en-US" sz="1000" dirty="0" err="1">
                <a:latin typeface="+mn-lt"/>
              </a:rPr>
              <a:t>scoruri</a:t>
            </a:r>
            <a:r>
              <a:rPr lang="ro-RO" sz="1000" dirty="0">
                <a:latin typeface="+mn-lt"/>
              </a:rPr>
              <a:t>, panou recompense, insigne, provocări</a:t>
            </a:r>
            <a:endParaRPr lang="en-US" sz="1000" dirty="0">
              <a:latin typeface="+mn-lt"/>
            </a:endParaRPr>
          </a:p>
          <a:p>
            <a:r>
              <a:rPr lang="en-US" sz="1000" b="1" dirty="0">
                <a:latin typeface="+mn-lt"/>
              </a:rPr>
              <a:t>Clase &amp; </a:t>
            </a:r>
            <a:r>
              <a:rPr lang="en-US" sz="1000" b="1" dirty="0" err="1">
                <a:latin typeface="+mn-lt"/>
              </a:rPr>
              <a:t>invitații</a:t>
            </a:r>
            <a:r>
              <a:rPr lang="en-US" sz="1000" dirty="0">
                <a:latin typeface="+mn-lt"/>
              </a:rPr>
              <a:t>: </a:t>
            </a:r>
            <a:r>
              <a:rPr lang="en-US" sz="1000" dirty="0" err="1">
                <a:latin typeface="+mn-lt"/>
              </a:rPr>
              <a:t>aderare</a:t>
            </a:r>
            <a:r>
              <a:rPr lang="en-US" sz="1000" dirty="0">
                <a:latin typeface="+mn-lt"/>
              </a:rPr>
              <a:t>, </a:t>
            </a:r>
            <a:r>
              <a:rPr lang="en-US" sz="1000" dirty="0" err="1">
                <a:latin typeface="+mn-lt"/>
              </a:rPr>
              <a:t>notificări</a:t>
            </a:r>
            <a:r>
              <a:rPr lang="en-US" sz="1000" dirty="0">
                <a:latin typeface="+mn-lt"/>
              </a:rPr>
              <a:t>, accept/</a:t>
            </a:r>
            <a:r>
              <a:rPr lang="en-US" sz="1000" dirty="0" err="1">
                <a:latin typeface="+mn-lt"/>
              </a:rPr>
              <a:t>respinge</a:t>
            </a:r>
            <a:r>
              <a:rPr lang="ro-RO" sz="1000" dirty="0">
                <a:latin typeface="+mn-lt"/>
              </a:rPr>
              <a:t>, acces la testele și evaluările clasei</a:t>
            </a:r>
          </a:p>
          <a:p>
            <a:endParaRPr lang="en-US" sz="1000" dirty="0">
              <a:latin typeface="+mn-lt"/>
            </a:endParaRPr>
          </a:p>
          <a:p>
            <a:r>
              <a:rPr lang="en-US" sz="1200" b="1" dirty="0">
                <a:latin typeface="+mn-lt"/>
              </a:rPr>
              <a:t>2. Funcționale – </a:t>
            </a:r>
            <a:r>
              <a:rPr lang="en-US" sz="1200" b="1" dirty="0" err="1">
                <a:latin typeface="+mn-lt"/>
              </a:rPr>
              <a:t>Profesori</a:t>
            </a:r>
            <a:endParaRPr lang="ro-RO" sz="12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r>
              <a:rPr lang="en-US" sz="1000" b="1" dirty="0" err="1">
                <a:latin typeface="+mn-lt"/>
              </a:rPr>
              <a:t>Autentificare</a:t>
            </a:r>
            <a:r>
              <a:rPr lang="ro-RO" sz="1000" b="1" dirty="0">
                <a:latin typeface="+mn-lt"/>
              </a:rPr>
              <a:t>/</a:t>
            </a:r>
            <a:r>
              <a:rPr lang="en-US" sz="1000" b="1" dirty="0" err="1">
                <a:latin typeface="+mn-lt"/>
              </a:rPr>
              <a:t>Profil</a:t>
            </a:r>
            <a:r>
              <a:rPr lang="en-US" sz="1000" dirty="0">
                <a:latin typeface="+mn-lt"/>
              </a:rPr>
              <a:t>: </a:t>
            </a:r>
            <a:r>
              <a:rPr lang="en-US" sz="1000" dirty="0" err="1">
                <a:latin typeface="+mn-lt"/>
              </a:rPr>
              <a:t>rol</a:t>
            </a:r>
            <a:r>
              <a:rPr lang="en-US" sz="1000" dirty="0">
                <a:latin typeface="+mn-lt"/>
              </a:rPr>
              <a:t> </a:t>
            </a:r>
            <a:r>
              <a:rPr lang="en-US" sz="1000" dirty="0" err="1">
                <a:latin typeface="+mn-lt"/>
              </a:rPr>
              <a:t>profesor</a:t>
            </a:r>
            <a:r>
              <a:rPr lang="en-US" sz="1000" dirty="0">
                <a:latin typeface="+mn-lt"/>
              </a:rPr>
              <a:t>, </a:t>
            </a:r>
            <a:r>
              <a:rPr lang="en-US" sz="1000" dirty="0" err="1">
                <a:latin typeface="+mn-lt"/>
              </a:rPr>
              <a:t>gestionare</a:t>
            </a:r>
            <a:r>
              <a:rPr lang="en-US" sz="1000" dirty="0">
                <a:latin typeface="+mn-lt"/>
              </a:rPr>
              <a:t> date</a:t>
            </a:r>
          </a:p>
          <a:p>
            <a:r>
              <a:rPr lang="en-US" sz="1000" b="1" dirty="0" err="1">
                <a:latin typeface="+mn-lt"/>
              </a:rPr>
              <a:t>Administrare</a:t>
            </a:r>
            <a:r>
              <a:rPr lang="en-US" sz="1000" b="1" dirty="0">
                <a:latin typeface="+mn-lt"/>
              </a:rPr>
              <a:t> </a:t>
            </a:r>
            <a:r>
              <a:rPr lang="en-US" sz="1000" b="1" dirty="0" err="1">
                <a:latin typeface="+mn-lt"/>
              </a:rPr>
              <a:t>clase</a:t>
            </a:r>
            <a:r>
              <a:rPr lang="en-US" sz="1000" dirty="0">
                <a:latin typeface="+mn-lt"/>
              </a:rPr>
              <a:t>: </a:t>
            </a:r>
            <a:r>
              <a:rPr lang="en-US" sz="1000" dirty="0" err="1">
                <a:latin typeface="+mn-lt"/>
              </a:rPr>
              <a:t>creare</a:t>
            </a:r>
            <a:r>
              <a:rPr lang="ro-RO" sz="1000" dirty="0">
                <a:latin typeface="+mn-lt"/>
              </a:rPr>
              <a:t> clase de </a:t>
            </a:r>
            <a:r>
              <a:rPr lang="en-US" sz="1000" dirty="0" err="1">
                <a:latin typeface="+mn-lt"/>
              </a:rPr>
              <a:t>elevi</a:t>
            </a:r>
            <a:r>
              <a:rPr lang="en-US" sz="1000" dirty="0">
                <a:latin typeface="+mn-lt"/>
              </a:rPr>
              <a:t>, </a:t>
            </a:r>
            <a:r>
              <a:rPr lang="en-US" sz="1000" dirty="0" err="1">
                <a:latin typeface="+mn-lt"/>
              </a:rPr>
              <a:t>invitații</a:t>
            </a:r>
            <a:r>
              <a:rPr lang="ro-RO" sz="1000" dirty="0">
                <a:latin typeface="+mn-lt"/>
              </a:rPr>
              <a:t>, panou cu clasele și membrii</a:t>
            </a:r>
            <a:endParaRPr lang="en-US" sz="1000" dirty="0">
              <a:latin typeface="+mn-lt"/>
            </a:endParaRPr>
          </a:p>
          <a:p>
            <a:r>
              <a:rPr lang="en-US" sz="1000" b="1" dirty="0" err="1">
                <a:latin typeface="+mn-lt"/>
              </a:rPr>
              <a:t>Creare</a:t>
            </a:r>
            <a:r>
              <a:rPr lang="en-US" sz="1000" b="1" dirty="0">
                <a:latin typeface="+mn-lt"/>
              </a:rPr>
              <a:t> teste</a:t>
            </a:r>
            <a:r>
              <a:rPr lang="en-US" sz="1000" dirty="0">
                <a:latin typeface="+mn-lt"/>
              </a:rPr>
              <a:t>: </a:t>
            </a:r>
            <a:r>
              <a:rPr lang="en-US" sz="1000" dirty="0" err="1">
                <a:latin typeface="+mn-lt"/>
              </a:rPr>
              <a:t>structuri</a:t>
            </a:r>
            <a:r>
              <a:rPr lang="en-US" sz="1000" dirty="0">
                <a:latin typeface="+mn-lt"/>
              </a:rPr>
              <a:t>, </a:t>
            </a:r>
            <a:r>
              <a:rPr lang="en-US" sz="1000" dirty="0" err="1">
                <a:latin typeface="+mn-lt"/>
              </a:rPr>
              <a:t>parametri</a:t>
            </a:r>
            <a:r>
              <a:rPr lang="en-US" sz="1000" dirty="0">
                <a:latin typeface="+mn-lt"/>
              </a:rPr>
              <a:t> </a:t>
            </a:r>
            <a:r>
              <a:rPr lang="en-US" sz="1000" dirty="0" err="1">
                <a:latin typeface="+mn-lt"/>
              </a:rPr>
              <a:t>evaluare</a:t>
            </a:r>
            <a:r>
              <a:rPr lang="en-US" sz="1000" dirty="0">
                <a:latin typeface="+mn-lt"/>
              </a:rPr>
              <a:t>, </a:t>
            </a:r>
            <a:r>
              <a:rPr lang="en-US" sz="1000" dirty="0" err="1">
                <a:latin typeface="+mn-lt"/>
              </a:rPr>
              <a:t>deschidere</a:t>
            </a:r>
            <a:r>
              <a:rPr lang="en-US" sz="1000" dirty="0">
                <a:latin typeface="+mn-lt"/>
              </a:rPr>
              <a:t>/</a:t>
            </a:r>
            <a:r>
              <a:rPr lang="en-US" sz="1000" dirty="0" err="1">
                <a:latin typeface="+mn-lt"/>
              </a:rPr>
              <a:t>blocare</a:t>
            </a:r>
            <a:r>
              <a:rPr lang="ro-RO" sz="1000" dirty="0">
                <a:latin typeface="+mn-lt"/>
              </a:rPr>
              <a:t>, vizualizare rezultate</a:t>
            </a:r>
            <a:endParaRPr lang="en-US" sz="1000" dirty="0">
              <a:latin typeface="+mn-lt"/>
            </a:endParaRPr>
          </a:p>
          <a:p>
            <a:r>
              <a:rPr lang="en-US" sz="1000" b="1" dirty="0" err="1">
                <a:latin typeface="+mn-lt"/>
              </a:rPr>
              <a:t>Monitorizare</a:t>
            </a:r>
            <a:r>
              <a:rPr lang="en-US" sz="1000" b="1" dirty="0">
                <a:latin typeface="+mn-lt"/>
              </a:rPr>
              <a:t> &amp; </a:t>
            </a:r>
            <a:r>
              <a:rPr lang="en-US" sz="1000" b="1" dirty="0" err="1">
                <a:latin typeface="+mn-lt"/>
              </a:rPr>
              <a:t>analiză</a:t>
            </a:r>
            <a:r>
              <a:rPr lang="en-US" sz="1000" dirty="0">
                <a:latin typeface="+mn-lt"/>
              </a:rPr>
              <a:t>: </a:t>
            </a:r>
            <a:r>
              <a:rPr lang="en-US" sz="1000" dirty="0" err="1">
                <a:latin typeface="+mn-lt"/>
              </a:rPr>
              <a:t>scoruri</a:t>
            </a:r>
            <a:r>
              <a:rPr lang="en-US" sz="1000" dirty="0">
                <a:latin typeface="+mn-lt"/>
              </a:rPr>
              <a:t>, </a:t>
            </a:r>
            <a:r>
              <a:rPr lang="en-US" sz="1000" dirty="0" err="1">
                <a:latin typeface="+mn-lt"/>
              </a:rPr>
              <a:t>statistici</a:t>
            </a:r>
            <a:r>
              <a:rPr lang="en-US" sz="1000" dirty="0">
                <a:latin typeface="+mn-lt"/>
              </a:rPr>
              <a:t>, </a:t>
            </a:r>
            <a:r>
              <a:rPr lang="en-US" sz="1000" dirty="0" err="1">
                <a:latin typeface="+mn-lt"/>
              </a:rPr>
              <a:t>filtrare</a:t>
            </a:r>
            <a:r>
              <a:rPr lang="ro-RO" sz="1000" dirty="0">
                <a:latin typeface="+mn-lt"/>
              </a:rPr>
              <a:t>, metrici de performanță per clasă, per test, per elevi</a:t>
            </a:r>
            <a:endParaRPr lang="en-US" sz="1000" dirty="0">
              <a:latin typeface="+mn-lt"/>
            </a:endParaRPr>
          </a:p>
          <a:p>
            <a:r>
              <a:rPr lang="en-US" sz="1000" b="1" dirty="0" err="1">
                <a:latin typeface="+mn-lt"/>
              </a:rPr>
              <a:t>Resurse</a:t>
            </a:r>
            <a:r>
              <a:rPr lang="en-US" sz="1000" b="1" dirty="0">
                <a:latin typeface="+mn-lt"/>
              </a:rPr>
              <a:t> </a:t>
            </a:r>
            <a:r>
              <a:rPr lang="en-US" sz="1000" b="1" dirty="0" err="1">
                <a:latin typeface="+mn-lt"/>
              </a:rPr>
              <a:t>educaționale</a:t>
            </a:r>
            <a:r>
              <a:rPr lang="en-US" sz="1000" dirty="0">
                <a:latin typeface="+mn-lt"/>
              </a:rPr>
              <a:t>: </a:t>
            </a:r>
            <a:r>
              <a:rPr lang="en-US" sz="1000" dirty="0" err="1">
                <a:latin typeface="+mn-lt"/>
              </a:rPr>
              <a:t>acces</a:t>
            </a:r>
            <a:r>
              <a:rPr lang="en-US" sz="1000" dirty="0">
                <a:latin typeface="+mn-lt"/>
              </a:rPr>
              <a:t> </a:t>
            </a:r>
            <a:r>
              <a:rPr lang="en-US" sz="1000" dirty="0" err="1">
                <a:latin typeface="+mn-lt"/>
              </a:rPr>
              <a:t>complet</a:t>
            </a:r>
            <a:r>
              <a:rPr lang="en-US" sz="1000" dirty="0">
                <a:latin typeface="+mn-lt"/>
              </a:rPr>
              <a:t> la </a:t>
            </a:r>
            <a:r>
              <a:rPr lang="en-US" sz="1000" dirty="0" err="1">
                <a:latin typeface="+mn-lt"/>
              </a:rPr>
              <a:t>materiale</a:t>
            </a:r>
            <a:endParaRPr lang="ro-RO" sz="1000" dirty="0">
              <a:latin typeface="+mn-lt"/>
            </a:endParaRPr>
          </a:p>
          <a:p>
            <a:endParaRPr lang="en-US" sz="1000" dirty="0">
              <a:latin typeface="+mn-lt"/>
            </a:endParaRPr>
          </a:p>
          <a:p>
            <a:r>
              <a:rPr lang="en-US" sz="1200" b="1" dirty="0">
                <a:latin typeface="+mn-lt"/>
              </a:rPr>
              <a:t>3. Non-</a:t>
            </a:r>
            <a:r>
              <a:rPr lang="en-US" sz="1200" b="1" dirty="0" err="1">
                <a:latin typeface="+mn-lt"/>
              </a:rPr>
              <a:t>funcționale</a:t>
            </a:r>
            <a:endParaRPr lang="ro-RO" sz="1200" b="1" dirty="0">
              <a:latin typeface="+mn-lt"/>
            </a:endParaRPr>
          </a:p>
          <a:p>
            <a:endParaRPr lang="en-US" sz="1200" b="1" dirty="0">
              <a:latin typeface="+mn-lt"/>
            </a:endParaRPr>
          </a:p>
          <a:p>
            <a:r>
              <a:rPr lang="en-US" sz="1000" b="1" dirty="0" err="1">
                <a:latin typeface="+mn-lt"/>
              </a:rPr>
              <a:t>Platformă</a:t>
            </a:r>
            <a:r>
              <a:rPr lang="en-US" sz="1000" b="1" dirty="0">
                <a:latin typeface="+mn-lt"/>
              </a:rPr>
              <a:t> web</a:t>
            </a:r>
            <a:r>
              <a:rPr lang="en-US" sz="1000" dirty="0">
                <a:latin typeface="+mn-lt"/>
              </a:rPr>
              <a:t>: </a:t>
            </a:r>
            <a:r>
              <a:rPr lang="en-US" sz="1000" dirty="0" err="1">
                <a:latin typeface="+mn-lt"/>
              </a:rPr>
              <a:t>fără</a:t>
            </a:r>
            <a:r>
              <a:rPr lang="en-US" sz="1000" dirty="0">
                <a:latin typeface="+mn-lt"/>
              </a:rPr>
              <a:t> </a:t>
            </a:r>
            <a:r>
              <a:rPr lang="en-US" sz="1000" dirty="0" err="1">
                <a:latin typeface="+mn-lt"/>
              </a:rPr>
              <a:t>instalare</a:t>
            </a:r>
            <a:r>
              <a:rPr lang="en-US" sz="1000" dirty="0">
                <a:latin typeface="+mn-lt"/>
              </a:rPr>
              <a:t>, </a:t>
            </a:r>
            <a:r>
              <a:rPr lang="en-US" sz="1000" dirty="0" err="1">
                <a:latin typeface="+mn-lt"/>
              </a:rPr>
              <a:t>portabilitate</a:t>
            </a:r>
            <a:r>
              <a:rPr lang="en-US" sz="1000" dirty="0">
                <a:latin typeface="+mn-lt"/>
              </a:rPr>
              <a:t> </a:t>
            </a:r>
            <a:r>
              <a:rPr lang="en-US" sz="1000" dirty="0" err="1">
                <a:latin typeface="+mn-lt"/>
              </a:rPr>
              <a:t>ridicată</a:t>
            </a:r>
            <a:endParaRPr lang="en-US" sz="1000" dirty="0">
              <a:latin typeface="+mn-lt"/>
            </a:endParaRPr>
          </a:p>
          <a:p>
            <a:r>
              <a:rPr lang="en-US" sz="1000" b="1" dirty="0" err="1">
                <a:latin typeface="+mn-lt"/>
              </a:rPr>
              <a:t>Performanță</a:t>
            </a:r>
            <a:r>
              <a:rPr lang="en-US" sz="1000" b="1" dirty="0">
                <a:latin typeface="+mn-lt"/>
              </a:rPr>
              <a:t> 3D</a:t>
            </a:r>
            <a:r>
              <a:rPr lang="en-US" sz="1000" dirty="0">
                <a:latin typeface="+mn-lt"/>
              </a:rPr>
              <a:t>: WebGL 1.0+ (ideal 2.0), ≥</a:t>
            </a:r>
            <a:r>
              <a:rPr lang="ro-RO" sz="1000" dirty="0">
                <a:latin typeface="+mn-lt"/>
              </a:rPr>
              <a:t>6</a:t>
            </a:r>
            <a:r>
              <a:rPr lang="en-US" sz="1000" dirty="0">
                <a:latin typeface="+mn-lt"/>
              </a:rPr>
              <a:t>0 fps</a:t>
            </a:r>
            <a:r>
              <a:rPr lang="ro-RO" sz="1000" dirty="0">
                <a:latin typeface="+mn-lt"/>
              </a:rPr>
              <a:t> la simulări</a:t>
            </a:r>
            <a:endParaRPr lang="en-US" sz="1000" dirty="0">
              <a:latin typeface="+mn-lt"/>
            </a:endParaRPr>
          </a:p>
          <a:p>
            <a:r>
              <a:rPr lang="en-US" sz="1000" b="1" dirty="0">
                <a:latin typeface="+mn-lt"/>
              </a:rPr>
              <a:t>Hardware minim</a:t>
            </a:r>
            <a:r>
              <a:rPr lang="en-US" sz="1000" dirty="0">
                <a:latin typeface="+mn-lt"/>
              </a:rPr>
              <a:t>: </a:t>
            </a:r>
            <a:r>
              <a:rPr lang="ro-RO" sz="1000" dirty="0">
                <a:latin typeface="+mn-lt"/>
              </a:rPr>
              <a:t>cerințe minime de rulare, minim de memorie GPU pentru scene și texturi</a:t>
            </a:r>
            <a:endParaRPr lang="en-US" sz="1000" dirty="0">
              <a:latin typeface="+mn-lt"/>
            </a:endParaRPr>
          </a:p>
          <a:p>
            <a:r>
              <a:rPr lang="en-US" sz="1000" b="1" dirty="0" err="1">
                <a:latin typeface="+mn-lt"/>
              </a:rPr>
              <a:t>Rețea</a:t>
            </a:r>
            <a:r>
              <a:rPr lang="en-US" sz="1000" dirty="0">
                <a:latin typeface="+mn-lt"/>
              </a:rPr>
              <a:t>: bandwidth ≥1 Mbps</a:t>
            </a:r>
            <a:r>
              <a:rPr lang="ro-RO" sz="1000" dirty="0">
                <a:latin typeface="+mn-lt"/>
              </a:rPr>
              <a:t> pentru experiența optima în toată platforma</a:t>
            </a:r>
            <a:endParaRPr lang="en-US" sz="1000" dirty="0">
              <a:latin typeface="+mn-lt"/>
            </a:endParaRPr>
          </a:p>
          <a:p>
            <a:r>
              <a:rPr lang="en-US" sz="1000" b="1" dirty="0">
                <a:latin typeface="+mn-lt"/>
              </a:rPr>
              <a:t>UX</a:t>
            </a:r>
            <a:r>
              <a:rPr lang="en-US" sz="1000" dirty="0">
                <a:latin typeface="+mn-lt"/>
              </a:rPr>
              <a:t>: </a:t>
            </a:r>
            <a:r>
              <a:rPr lang="en-US" sz="1000" dirty="0" err="1">
                <a:latin typeface="+mn-lt"/>
              </a:rPr>
              <a:t>încărcare</a:t>
            </a:r>
            <a:r>
              <a:rPr lang="en-US" sz="1000" dirty="0">
                <a:latin typeface="+mn-lt"/>
              </a:rPr>
              <a:t> </a:t>
            </a:r>
            <a:r>
              <a:rPr lang="ro-RO" sz="1000" dirty="0">
                <a:latin typeface="+mn-lt"/>
              </a:rPr>
              <a:t>sub </a:t>
            </a:r>
            <a:r>
              <a:rPr lang="en-US" sz="1000" dirty="0">
                <a:latin typeface="+mn-lt"/>
              </a:rPr>
              <a:t>2 s, </a:t>
            </a:r>
            <a:r>
              <a:rPr lang="en-US" sz="1000" dirty="0" err="1">
                <a:latin typeface="+mn-lt"/>
              </a:rPr>
              <a:t>interacțiuni</a:t>
            </a:r>
            <a:r>
              <a:rPr lang="en-US" sz="1000" dirty="0">
                <a:latin typeface="+mn-lt"/>
              </a:rPr>
              <a:t> </a:t>
            </a:r>
            <a:r>
              <a:rPr lang="en-US" sz="1000" dirty="0" err="1">
                <a:latin typeface="+mn-lt"/>
              </a:rPr>
              <a:t>instantanee</a:t>
            </a:r>
            <a:r>
              <a:rPr lang="en-US" sz="1000" dirty="0">
                <a:latin typeface="+mn-lt"/>
              </a:rPr>
              <a:t>, feedback </a:t>
            </a:r>
            <a:r>
              <a:rPr lang="en-US" sz="1000" dirty="0" err="1">
                <a:latin typeface="+mn-lt"/>
              </a:rPr>
              <a:t>vizual</a:t>
            </a:r>
            <a:r>
              <a:rPr lang="en-US" sz="1000" dirty="0">
                <a:latin typeface="+mn-lt"/>
              </a:rPr>
              <a:t> </a:t>
            </a:r>
            <a:r>
              <a:rPr lang="en-US" sz="1000" dirty="0" err="1">
                <a:latin typeface="+mn-lt"/>
              </a:rPr>
              <a:t>ghidat</a:t>
            </a:r>
            <a:endParaRPr lang="en-US" sz="1000" dirty="0">
              <a:latin typeface="+mn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/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524000" y="566580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sz="3000" spc="-185" dirty="0"/>
              <a:t>Arhitectură backend</a:t>
            </a:r>
            <a:endParaRPr sz="3000" dirty="0"/>
          </a:p>
        </p:txBody>
      </p:sp>
      <p:sp>
        <p:nvSpPr>
          <p:cNvPr id="7" name="object 7"/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2" name="Picture 11" descr="A diagram of a company&#10;&#10;AI-generated content may be incorrect.">
            <a:extLst>
              <a:ext uri="{FF2B5EF4-FFF2-40B4-BE49-F238E27FC236}">
                <a16:creationId xmlns:a16="http://schemas.microsoft.com/office/drawing/2014/main" id="{E2A06A30-9990-E0D5-A96C-DC306308F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4659" y="1160604"/>
            <a:ext cx="4801397" cy="36957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065AC-046D-984B-BA64-02A10819F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7E8AF48D-A3BC-2867-053C-56991DB9003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93AAE6E-2982-F7BF-65FD-4CC6B284D1E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D18B429-C45E-E38C-4806-E7504884CBDA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96B8F29-883C-913D-7EE7-C1F9DAD04F3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2EBD964-1EF4-B904-A678-B01D950F7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4000" y="566580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>
              <a:lnSpc>
                <a:spcPct val="100000"/>
              </a:lnSpc>
              <a:spcBef>
                <a:spcPts val="100"/>
              </a:spcBef>
            </a:pPr>
            <a:r>
              <a:rPr lang="ro-RO" sz="3000" spc="-185" dirty="0"/>
              <a:t>Arhitectură </a:t>
            </a:r>
            <a:r>
              <a:rPr lang="en-US" sz="3000" spc="-185" dirty="0" err="1"/>
              <a:t>Fronten</a:t>
            </a:r>
            <a:r>
              <a:rPr lang="ro-RO" sz="3000" spc="-185" dirty="0"/>
              <a:t>d</a:t>
            </a:r>
            <a:endParaRPr sz="3000" dirty="0"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DCFAEB7-D7F7-11C2-D876-3D0772CF056D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083FB7F-2983-2E0C-64BC-E40C142616E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57D7088-03A4-F9E8-3212-CA0882B731EA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9146EF2-1D61-EA92-DB26-7CDDA1012129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13" name="Picture 12" descr="A diagram of a flowchart&#10;&#10;AI-generated content may be incorrect.">
            <a:extLst>
              <a:ext uri="{FF2B5EF4-FFF2-40B4-BE49-F238E27FC236}">
                <a16:creationId xmlns:a16="http://schemas.microsoft.com/office/drawing/2014/main" id="{4BB2E5DB-F3B5-6113-7CD8-BB77F56BFF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09750"/>
            <a:ext cx="9144000" cy="248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368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4944B-6980-9340-2DCB-5E779DFF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912615F3-0FD9-9973-FBC7-4201FC0837A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6D2FD2B5-9059-D8FE-6E4A-6434AE94A39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D6C4AB8-BC8E-83A5-66E5-87D4CA93577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55BD673-D0D3-66E9-AA29-1C144F31C856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161A8851-9834-C365-8D8B-D550AEB5C7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0600" y="558770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 algn="ctr">
              <a:lnSpc>
                <a:spcPct val="100000"/>
              </a:lnSpc>
              <a:spcBef>
                <a:spcPts val="100"/>
              </a:spcBef>
            </a:pPr>
            <a:r>
              <a:rPr lang="ro-RO" sz="3000" dirty="0"/>
              <a:t>Implementare</a:t>
            </a:r>
            <a:endParaRPr sz="3000" dirty="0"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CD0DE01-344A-BA1D-0720-5F216563315A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D41213F-7710-A3A1-ECC1-0BB38FB9A6A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8AC0F99-F91A-8E9B-89DF-97C45836759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A61CD2A-4F91-540B-22E7-01658F12A55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pic>
        <p:nvPicPr>
          <p:cNvPr id="23" name="Picture 22" descr="A screenshot of a video game">
            <a:extLst>
              <a:ext uri="{FF2B5EF4-FFF2-40B4-BE49-F238E27FC236}">
                <a16:creationId xmlns:a16="http://schemas.microsoft.com/office/drawing/2014/main" id="{08F91543-88C5-94A1-9ED3-E316C8FB5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141581"/>
            <a:ext cx="6705600" cy="3834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909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CA0A7-FAAD-E66B-AF83-58F62B6C2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6C0892BB-A405-6A7A-C577-BA2083F3FEEF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AC49DCC8-7322-78CA-0156-96CF6A185FF0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23E24626-823A-FC7F-5479-E06BE9CB80B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8DA5E85E-89AC-D4EC-41B4-B32FC53AE25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E0006A6-61E7-FC49-4F53-6E2B0D3972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0600" y="558770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 algn="ctr">
              <a:lnSpc>
                <a:spcPct val="100000"/>
              </a:lnSpc>
              <a:spcBef>
                <a:spcPts val="100"/>
              </a:spcBef>
            </a:pPr>
            <a:r>
              <a:rPr lang="ro-RO" sz="3000" dirty="0"/>
              <a:t>Implementare</a:t>
            </a:r>
            <a:endParaRPr sz="3000" dirty="0"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9C6E55EF-3CE8-D9AD-49BB-D1415078C2BC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1F6CB9B-C4B3-9D5F-7AF9-723D5F3BC569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B61BE544-A869-67A0-56CC-3A2A484C1A0D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0B15C15-3929-45EE-2B12-BF89D293C018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560196-AD8B-E5AC-51B3-68AF4A20D9FD}"/>
              </a:ext>
            </a:extLst>
          </p:cNvPr>
          <p:cNvSpPr txBox="1"/>
          <p:nvPr/>
        </p:nvSpPr>
        <p:spPr>
          <a:xfrm>
            <a:off x="609600" y="1428750"/>
            <a:ext cx="464820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Canvas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We wrap every 3D scene in a Canvas from @react-three/fiber, configuring camera, lighting, and performance.</a:t>
            </a:r>
          </a:p>
          <a:p>
            <a:pPr lvl="5"/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lvl="5"/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lvl="5"/>
            <a:r>
              <a:rPr lang="en-US" sz="1400" b="1" dirty="0">
                <a:latin typeface="Arial" panose="020B0604020202020204" pitchFamily="34" charset="0"/>
                <a:ea typeface="Microsoft Sans Serif" panose="020B0604020202020204" pitchFamily="34" charset="0"/>
                <a:cs typeface="Arial" panose="020B0604020202020204" pitchFamily="34" charset="0"/>
              </a:rPr>
              <a:t>GLTF conversion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GLB files are converted to React-ready hooks via gltf.pmnd.rs, giving us </a:t>
            </a:r>
            <a:r>
              <a:rPr lang="en-US" sz="1200" b="1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useGLTF</a:t>
            </a: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() components.</a:t>
            </a:r>
          </a:p>
          <a:p>
            <a:pPr lvl="4"/>
            <a:endParaRPr lang="en-US" sz="1200" b="1" dirty="0">
              <a:latin typeface="Arial" panose="020B0604020202020204" pitchFamily="34" charset="0"/>
              <a:ea typeface="Microsoft Sans Serif" panose="020B0604020202020204" pitchFamily="34" charset="0"/>
              <a:cs typeface="Arial" panose="020B0604020202020204" pitchFamily="34" charset="0"/>
            </a:endParaRPr>
          </a:p>
          <a:p>
            <a:pPr lvl="4"/>
            <a:endParaRPr lang="en-US" sz="1200" b="1" dirty="0">
              <a:latin typeface="Arial" panose="020B0604020202020204" pitchFamily="34" charset="0"/>
              <a:ea typeface="Microsoft Sans Serif" panose="020B0604020202020204" pitchFamily="34" charset="0"/>
              <a:cs typeface="Arial" panose="020B0604020202020204" pitchFamily="34" charset="0"/>
            </a:endParaRPr>
          </a:p>
          <a:p>
            <a:pPr lvl="4"/>
            <a:r>
              <a:rPr lang="en-US" sz="1400" b="1" dirty="0">
                <a:latin typeface="Arial" panose="020B0604020202020204" pitchFamily="34" charset="0"/>
                <a:ea typeface="Microsoft Sans Serif" panose="020B0604020202020204" pitchFamily="34" charset="0"/>
                <a:cs typeface="Arial" panose="020B0604020202020204" pitchFamily="34" charset="0"/>
              </a:rPr>
              <a:t>Animations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We use react-spring/three for continuous animations.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285750" lvl="5" indent="-285750">
              <a:buFont typeface="Arial" panose="020B0604020202020204" pitchFamily="34" charset="0"/>
              <a:buChar char="•"/>
            </a:pPr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lvl="5"/>
            <a:r>
              <a:rPr lang="en-US" sz="1400" b="1" dirty="0">
                <a:latin typeface="Arial" panose="020B0604020202020204" pitchFamily="34" charset="0"/>
                <a:ea typeface="Microsoft Sans Serif" panose="020B0604020202020204" pitchFamily="34" charset="0"/>
                <a:cs typeface="Arial" panose="020B0604020202020204" pitchFamily="34" charset="0"/>
              </a:rPr>
              <a:t>Physics &amp; Controls 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For physics-like behavior (drag inertia, damping) we compute deltas manually in </a:t>
            </a:r>
            <a:r>
              <a:rPr lang="en-US" sz="1200" b="1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useFrame</a:t>
            </a: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</a:p>
        </p:txBody>
      </p:sp>
      <p:pic>
        <p:nvPicPr>
          <p:cNvPr id="23" name="Picture 22" descr="A screenshot of a video game">
            <a:extLst>
              <a:ext uri="{FF2B5EF4-FFF2-40B4-BE49-F238E27FC236}">
                <a16:creationId xmlns:a16="http://schemas.microsoft.com/office/drawing/2014/main" id="{FD16BEBA-AA05-5304-B168-05C6DF530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1206" y="1709313"/>
            <a:ext cx="4300081" cy="2459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861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8281C-C979-4F52-628B-493CF7CCF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8ECD1CDF-5B88-D117-2912-3545BF144B1F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6CCB5C05-410E-03BF-4F94-D423A9147567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65F720B7-C479-81B2-91C0-3E0FC0618075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55EFCD7B-6188-251A-DD1A-330647790D2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F70BE569-4665-3DA1-54CB-FD43598090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0600" y="558770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 algn="ctr">
              <a:lnSpc>
                <a:spcPct val="100000"/>
              </a:lnSpc>
              <a:spcBef>
                <a:spcPts val="100"/>
              </a:spcBef>
            </a:pPr>
            <a:r>
              <a:rPr lang="ro-RO" sz="3000" dirty="0"/>
              <a:t>Implementare</a:t>
            </a:r>
            <a:endParaRPr sz="3000" dirty="0"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7A3615E-C328-869A-180E-E3E750CC71A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198016C-C67E-8B14-5672-182210FB92D7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2E58F9A1-5866-18E8-24D7-6F6D8B35ECC0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2B96AA4D-EC64-0C51-1A44-4BA42A4DB913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3614D7-95BB-0994-ECD6-B308BF0F819C}"/>
              </a:ext>
            </a:extLst>
          </p:cNvPr>
          <p:cNvSpPr txBox="1"/>
          <p:nvPr/>
        </p:nvSpPr>
        <p:spPr>
          <a:xfrm>
            <a:off x="609600" y="1428750"/>
            <a:ext cx="464820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Canvas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We wrap every 3D scene in a Canvas from @react-three/fiber, configuring camera, lighting, and performance.</a:t>
            </a:r>
          </a:p>
          <a:p>
            <a:pPr lvl="5"/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lvl="5"/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lvl="5"/>
            <a:r>
              <a:rPr lang="en-US" sz="1400" b="1" dirty="0">
                <a:latin typeface="Arial" panose="020B0604020202020204" pitchFamily="34" charset="0"/>
                <a:ea typeface="Microsoft Sans Serif" panose="020B0604020202020204" pitchFamily="34" charset="0"/>
                <a:cs typeface="Arial" panose="020B0604020202020204" pitchFamily="34" charset="0"/>
              </a:rPr>
              <a:t>GLTF conversion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GLB files are converted to React-ready hooks via gltf.pmnd.rs, giving us </a:t>
            </a:r>
            <a:r>
              <a:rPr lang="en-US" sz="1200" b="1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useGLTF</a:t>
            </a: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() components.</a:t>
            </a:r>
          </a:p>
          <a:p>
            <a:pPr lvl="4"/>
            <a:endParaRPr lang="en-US" sz="1200" b="1" dirty="0">
              <a:latin typeface="Arial" panose="020B0604020202020204" pitchFamily="34" charset="0"/>
              <a:ea typeface="Microsoft Sans Serif" panose="020B0604020202020204" pitchFamily="34" charset="0"/>
              <a:cs typeface="Arial" panose="020B0604020202020204" pitchFamily="34" charset="0"/>
            </a:endParaRPr>
          </a:p>
          <a:p>
            <a:pPr lvl="4"/>
            <a:endParaRPr lang="en-US" sz="1200" b="1" dirty="0">
              <a:latin typeface="Arial" panose="020B0604020202020204" pitchFamily="34" charset="0"/>
              <a:ea typeface="Microsoft Sans Serif" panose="020B0604020202020204" pitchFamily="34" charset="0"/>
              <a:cs typeface="Arial" panose="020B0604020202020204" pitchFamily="34" charset="0"/>
            </a:endParaRPr>
          </a:p>
          <a:p>
            <a:pPr lvl="4"/>
            <a:r>
              <a:rPr lang="en-US" sz="1400" b="1" dirty="0">
                <a:latin typeface="Arial" panose="020B0604020202020204" pitchFamily="34" charset="0"/>
                <a:ea typeface="Microsoft Sans Serif" panose="020B0604020202020204" pitchFamily="34" charset="0"/>
                <a:cs typeface="Arial" panose="020B0604020202020204" pitchFamily="34" charset="0"/>
              </a:rPr>
              <a:t>Animations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We use react-spring/three for continuous animations.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285750" lvl="5" indent="-285750">
              <a:buFont typeface="Arial" panose="020B0604020202020204" pitchFamily="34" charset="0"/>
              <a:buChar char="•"/>
            </a:pPr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lvl="5"/>
            <a:r>
              <a:rPr lang="en-US" sz="1400" b="1" dirty="0">
                <a:latin typeface="Arial" panose="020B0604020202020204" pitchFamily="34" charset="0"/>
                <a:ea typeface="Microsoft Sans Serif" panose="020B0604020202020204" pitchFamily="34" charset="0"/>
                <a:cs typeface="Arial" panose="020B0604020202020204" pitchFamily="34" charset="0"/>
              </a:rPr>
              <a:t>Physics &amp; Controls 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For physics-like behavior (drag inertia, damping) we compute deltas manually in </a:t>
            </a:r>
            <a:r>
              <a:rPr lang="en-US" sz="1200" b="1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useFrame</a:t>
            </a: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</a:p>
        </p:txBody>
      </p:sp>
      <p:pic>
        <p:nvPicPr>
          <p:cNvPr id="23" name="Picture 22" descr="A screenshot of a video game">
            <a:extLst>
              <a:ext uri="{FF2B5EF4-FFF2-40B4-BE49-F238E27FC236}">
                <a16:creationId xmlns:a16="http://schemas.microsoft.com/office/drawing/2014/main" id="{BFC10A25-E95C-FA24-0D12-0E1C300DFA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1206" y="1709313"/>
            <a:ext cx="4300081" cy="2459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116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50242-4E4B-47C4-57B4-D6B3BBD3A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87CDCAB1-C6A2-6046-E4E7-743871884EA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F53F82EA-4361-2085-07F7-34224699776D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8654597-48BC-82F0-CB91-02B7132B66E3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CB358EF-E301-C978-83CB-7BC4B2D5E27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51B1F85-2AC6-DE10-D789-07ADF257C3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0600" y="558770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 algn="ctr">
              <a:lnSpc>
                <a:spcPct val="100000"/>
              </a:lnSpc>
              <a:spcBef>
                <a:spcPts val="100"/>
              </a:spcBef>
            </a:pPr>
            <a:r>
              <a:rPr lang="ro-RO" sz="3000" dirty="0"/>
              <a:t>Implementare</a:t>
            </a:r>
            <a:endParaRPr sz="3000" dirty="0"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0EDE473-4D6F-BBC4-5554-79BE2BE11231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17D261F-7A4B-3491-898A-5045DD58FB8F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A712522F-ED50-33E3-7E21-52DD7CD93EBC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6CF1312E-97FA-63D1-61A4-6BA838A2881E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BB2557-9877-2650-F8F0-1EF9BDAD7BB8}"/>
              </a:ext>
            </a:extLst>
          </p:cNvPr>
          <p:cNvSpPr txBox="1"/>
          <p:nvPr/>
        </p:nvSpPr>
        <p:spPr>
          <a:xfrm>
            <a:off x="609600" y="1428750"/>
            <a:ext cx="464820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Canvas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We wrap every 3D scene in a Canvas from @react-three/fiber, configuring camera, lighting, and performance.</a:t>
            </a:r>
          </a:p>
          <a:p>
            <a:pPr lvl="5"/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lvl="5"/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lvl="5"/>
            <a:r>
              <a:rPr lang="en-US" sz="1400" b="1" dirty="0">
                <a:latin typeface="Arial" panose="020B0604020202020204" pitchFamily="34" charset="0"/>
                <a:ea typeface="Microsoft Sans Serif" panose="020B0604020202020204" pitchFamily="34" charset="0"/>
                <a:cs typeface="Arial" panose="020B0604020202020204" pitchFamily="34" charset="0"/>
              </a:rPr>
              <a:t>GLTF conversion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GLB files are converted to React-ready hooks via gltf.pmnd.rs, giving us </a:t>
            </a:r>
            <a:r>
              <a:rPr lang="en-US" sz="1200" b="1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useGLTF</a:t>
            </a: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() components.</a:t>
            </a:r>
          </a:p>
          <a:p>
            <a:pPr lvl="4"/>
            <a:endParaRPr lang="en-US" sz="1200" b="1" dirty="0">
              <a:latin typeface="Arial" panose="020B0604020202020204" pitchFamily="34" charset="0"/>
              <a:ea typeface="Microsoft Sans Serif" panose="020B0604020202020204" pitchFamily="34" charset="0"/>
              <a:cs typeface="Arial" panose="020B0604020202020204" pitchFamily="34" charset="0"/>
            </a:endParaRPr>
          </a:p>
          <a:p>
            <a:pPr lvl="4"/>
            <a:endParaRPr lang="en-US" sz="1200" b="1" dirty="0">
              <a:latin typeface="Arial" panose="020B0604020202020204" pitchFamily="34" charset="0"/>
              <a:ea typeface="Microsoft Sans Serif" panose="020B0604020202020204" pitchFamily="34" charset="0"/>
              <a:cs typeface="Arial" panose="020B0604020202020204" pitchFamily="34" charset="0"/>
            </a:endParaRPr>
          </a:p>
          <a:p>
            <a:pPr lvl="4"/>
            <a:r>
              <a:rPr lang="en-US" sz="1400" b="1" dirty="0">
                <a:latin typeface="Arial" panose="020B0604020202020204" pitchFamily="34" charset="0"/>
                <a:ea typeface="Microsoft Sans Serif" panose="020B0604020202020204" pitchFamily="34" charset="0"/>
                <a:cs typeface="Arial" panose="020B0604020202020204" pitchFamily="34" charset="0"/>
              </a:rPr>
              <a:t>Animations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We use react-spring/three for continuous animations.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285750" lvl="5" indent="-285750">
              <a:buFont typeface="Arial" panose="020B0604020202020204" pitchFamily="34" charset="0"/>
              <a:buChar char="•"/>
            </a:pPr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lvl="5"/>
            <a:r>
              <a:rPr lang="en-US" sz="1400" b="1" dirty="0">
                <a:latin typeface="Arial" panose="020B0604020202020204" pitchFamily="34" charset="0"/>
                <a:ea typeface="Microsoft Sans Serif" panose="020B0604020202020204" pitchFamily="34" charset="0"/>
                <a:cs typeface="Arial" panose="020B0604020202020204" pitchFamily="34" charset="0"/>
              </a:rPr>
              <a:t>Physics &amp; Controls 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For physics-like behavior (drag inertia, damping) we compute deltas manually in </a:t>
            </a:r>
            <a:r>
              <a:rPr lang="en-US" sz="1200" b="1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useFrame</a:t>
            </a: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</a:p>
        </p:txBody>
      </p:sp>
      <p:pic>
        <p:nvPicPr>
          <p:cNvPr id="23" name="Picture 22" descr="A screenshot of a video game">
            <a:extLst>
              <a:ext uri="{FF2B5EF4-FFF2-40B4-BE49-F238E27FC236}">
                <a16:creationId xmlns:a16="http://schemas.microsoft.com/office/drawing/2014/main" id="{B0059ABA-43EC-3230-447A-1EE022CA16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1206" y="1709313"/>
            <a:ext cx="4300081" cy="2459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555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149B1-B225-07ED-AA05-6F4819121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0ED46017-BE2B-6A3B-EFEC-9163357907D3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0BC0080-B0FA-BEB7-6AE4-43181DB6E473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9DACBD57-77C9-8EFC-3AED-024F5BA75E3B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704884D-871A-7CB1-9942-7B1ACB0A423D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C6C74B4B-EB88-CD70-A918-2F55DBCEEA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0600" y="558770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 algn="ctr">
              <a:lnSpc>
                <a:spcPct val="100000"/>
              </a:lnSpc>
              <a:spcBef>
                <a:spcPts val="100"/>
              </a:spcBef>
            </a:pPr>
            <a:r>
              <a:rPr lang="ro-RO" sz="3000" dirty="0"/>
              <a:t>Implementare</a:t>
            </a:r>
            <a:endParaRPr sz="3000" dirty="0"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C277BDB-4BCC-752D-150D-36D5496122FE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FB86DC26-43E8-1622-6101-6CB18EC66011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D9DAC8A-09F8-2E94-939D-9D31AAC77E1C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 dirty="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6D8B923-A4C7-18AD-AF02-2C73DDFB37A3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630BFD-08BC-0902-0E7F-2DABE139A9EF}"/>
              </a:ext>
            </a:extLst>
          </p:cNvPr>
          <p:cNvSpPr txBox="1"/>
          <p:nvPr/>
        </p:nvSpPr>
        <p:spPr>
          <a:xfrm>
            <a:off x="609600" y="1428750"/>
            <a:ext cx="464820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Canvas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We wrap every 3D scene in a Canvas from @react-three/fiber, configuring camera, lighting, and performance.</a:t>
            </a:r>
          </a:p>
          <a:p>
            <a:pPr lvl="5"/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lvl="5"/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lvl="5"/>
            <a:r>
              <a:rPr lang="en-US" sz="1400" b="1" dirty="0">
                <a:latin typeface="Arial" panose="020B0604020202020204" pitchFamily="34" charset="0"/>
                <a:ea typeface="Microsoft Sans Serif" panose="020B0604020202020204" pitchFamily="34" charset="0"/>
                <a:cs typeface="Arial" panose="020B0604020202020204" pitchFamily="34" charset="0"/>
              </a:rPr>
              <a:t>GLTF conversion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GLB files are converted to React-ready hooks via gltf.pmnd.rs, giving us </a:t>
            </a:r>
            <a:r>
              <a:rPr lang="en-US" sz="1200" b="1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useGLTF</a:t>
            </a: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() components.</a:t>
            </a:r>
          </a:p>
          <a:p>
            <a:pPr lvl="4"/>
            <a:endParaRPr lang="en-US" sz="1200" b="1" dirty="0">
              <a:latin typeface="Arial" panose="020B0604020202020204" pitchFamily="34" charset="0"/>
              <a:ea typeface="Microsoft Sans Serif" panose="020B0604020202020204" pitchFamily="34" charset="0"/>
              <a:cs typeface="Arial" panose="020B0604020202020204" pitchFamily="34" charset="0"/>
            </a:endParaRPr>
          </a:p>
          <a:p>
            <a:pPr lvl="4"/>
            <a:endParaRPr lang="en-US" sz="1200" b="1" dirty="0">
              <a:latin typeface="Arial" panose="020B0604020202020204" pitchFamily="34" charset="0"/>
              <a:ea typeface="Microsoft Sans Serif" panose="020B0604020202020204" pitchFamily="34" charset="0"/>
              <a:cs typeface="Arial" panose="020B0604020202020204" pitchFamily="34" charset="0"/>
            </a:endParaRPr>
          </a:p>
          <a:p>
            <a:pPr lvl="4"/>
            <a:r>
              <a:rPr lang="en-US" sz="1400" b="1" dirty="0">
                <a:latin typeface="Arial" panose="020B0604020202020204" pitchFamily="34" charset="0"/>
                <a:ea typeface="Microsoft Sans Serif" panose="020B0604020202020204" pitchFamily="34" charset="0"/>
                <a:cs typeface="Arial" panose="020B0604020202020204" pitchFamily="34" charset="0"/>
              </a:rPr>
              <a:t>Animations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We use react-spring/three for continuous animations.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285750" lvl="5" indent="-285750">
              <a:buFont typeface="Arial" panose="020B0604020202020204" pitchFamily="34" charset="0"/>
              <a:buChar char="•"/>
            </a:pPr>
            <a:endParaRPr lang="en-US" sz="12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lvl="5"/>
            <a:r>
              <a:rPr lang="en-US" sz="1400" b="1" dirty="0">
                <a:latin typeface="Arial" panose="020B0604020202020204" pitchFamily="34" charset="0"/>
                <a:ea typeface="Microsoft Sans Serif" panose="020B0604020202020204" pitchFamily="34" charset="0"/>
                <a:cs typeface="Arial" panose="020B0604020202020204" pitchFamily="34" charset="0"/>
              </a:rPr>
              <a:t>Physics &amp; Controls 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For physics-like behavior (drag inertia, damping) we compute deltas manually in </a:t>
            </a:r>
            <a:r>
              <a:rPr lang="en-US" sz="1200" b="1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useFrame</a:t>
            </a:r>
            <a:r>
              <a:rPr lang="en-US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.</a:t>
            </a:r>
          </a:p>
        </p:txBody>
      </p:sp>
      <p:pic>
        <p:nvPicPr>
          <p:cNvPr id="23" name="Picture 22" descr="A screenshot of a video game">
            <a:extLst>
              <a:ext uri="{FF2B5EF4-FFF2-40B4-BE49-F238E27FC236}">
                <a16:creationId xmlns:a16="http://schemas.microsoft.com/office/drawing/2014/main" id="{E8FB18CD-C745-2DFD-9F26-9E84690A8F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1206" y="1709313"/>
            <a:ext cx="4300081" cy="2459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552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59463-9383-BB3E-35FC-C93827120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8A59429-FD58-95A3-2E0C-E2FB4F1136E6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1814A390-04EE-291D-0350-BB58C3E5A7BF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82BCA21-0159-9507-A6D3-CCB8B1EE56E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94DF472-D27E-B7C3-0935-C3C984AAB5C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87072166-2E05-B3A2-E317-863BDD8E65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0600" y="558770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 algn="ctr">
              <a:lnSpc>
                <a:spcPct val="100000"/>
              </a:lnSpc>
              <a:spcBef>
                <a:spcPts val="100"/>
              </a:spcBef>
            </a:pPr>
            <a:r>
              <a:rPr lang="ro-RO" sz="3000" b="1" dirty="0">
                <a:latin typeface="+mj-lt"/>
              </a:rPr>
              <a:t>Evaluare</a:t>
            </a:r>
            <a:endParaRPr sz="3000" b="1" dirty="0">
              <a:latin typeface="+mj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E33C6B3-6EA9-FE7A-A8F8-E37434A2CA18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1FC30674-7B85-DE9B-574D-EF59EF80505C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56E441E-53BF-D7CE-014A-570E1F2CE75B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54569F4-EFF8-1737-D90C-0524BC9267C5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B2EA86-1C32-B4D4-12CC-CBECEE8EBEB2}"/>
              </a:ext>
            </a:extLst>
          </p:cNvPr>
          <p:cNvSpPr txBox="1"/>
          <p:nvPr/>
        </p:nvSpPr>
        <p:spPr>
          <a:xfrm>
            <a:off x="532283" y="1428750"/>
            <a:ext cx="807943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Obiective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atinse</a:t>
            </a:r>
            <a:r>
              <a:rPr lang="en-US" sz="1400" b="1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funcționalitate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completă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performanță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ridicată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experiență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utilizator</a:t>
            </a:r>
            <a:r>
              <a:rPr lang="ro-RO" sz="1400" dirty="0">
                <a:latin typeface="+mn-lt"/>
              </a:rPr>
              <a:t> foarte bună</a:t>
            </a:r>
            <a:endParaRPr lang="en-US" sz="1400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Metodologie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Formular cu rating 1-5 </a:t>
            </a:r>
            <a:r>
              <a:rPr lang="en-US" sz="1400" dirty="0" err="1">
                <a:latin typeface="+mn-lt"/>
              </a:rPr>
              <a:t>pentru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utilitate</a:t>
            </a:r>
            <a:r>
              <a:rPr lang="en-US" sz="1400" dirty="0">
                <a:latin typeface="+mn-lt"/>
              </a:rPr>
              <a:t> a </a:t>
            </a:r>
            <a:r>
              <a:rPr lang="en-US" sz="1400" dirty="0" err="1">
                <a:latin typeface="+mn-lt"/>
              </a:rPr>
              <a:t>simulărilor</a:t>
            </a:r>
            <a:r>
              <a:rPr lang="en-US" sz="1400" dirty="0">
                <a:latin typeface="+mn-lt"/>
              </a:rPr>
              <a:t> 3D (</a:t>
            </a:r>
            <a:r>
              <a:rPr lang="en-US" sz="1400" dirty="0" err="1">
                <a:latin typeface="+mn-lt"/>
              </a:rPr>
              <a:t>fizică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chimie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informatică</a:t>
            </a:r>
            <a:r>
              <a:rPr lang="en-US" sz="1400" dirty="0">
                <a:latin typeface="+mn-lt"/>
              </a:rPr>
              <a:t>)</a:t>
            </a:r>
            <a:r>
              <a:rPr lang="ro-RO" sz="1400" dirty="0">
                <a:latin typeface="+mn-lt"/>
              </a:rPr>
              <a:t>.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35 de </a:t>
            </a:r>
            <a:r>
              <a:rPr lang="en-US" sz="1400" dirty="0" err="1">
                <a:latin typeface="+mn-lt"/>
              </a:rPr>
              <a:t>răspunsuri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colectate</a:t>
            </a:r>
            <a:r>
              <a:rPr lang="ro-RO" sz="1400" dirty="0">
                <a:latin typeface="+mn-lt"/>
              </a:rPr>
              <a:t>.</a:t>
            </a:r>
            <a:endParaRPr lang="en-US" sz="1400" dirty="0">
              <a:latin typeface="+mn-lt"/>
            </a:endParaRPr>
          </a:p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Rezultate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cheie</a:t>
            </a:r>
            <a:r>
              <a:rPr lang="en-US" sz="1400" b="1" dirty="0">
                <a:latin typeface="+mn-lt"/>
              </a:rPr>
              <a:t>:</a:t>
            </a: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Fizică</a:t>
            </a:r>
            <a:r>
              <a:rPr lang="en-US" sz="1400" dirty="0">
                <a:latin typeface="+mn-lt"/>
              </a:rPr>
              <a:t>: 71% </a:t>
            </a:r>
            <a:r>
              <a:rPr lang="ro-RO" sz="1400" dirty="0">
                <a:latin typeface="+mn-lt"/>
              </a:rPr>
              <a:t>au dat </a:t>
            </a:r>
            <a:r>
              <a:rPr lang="en-US" sz="1400" dirty="0">
                <a:latin typeface="+mn-lt"/>
              </a:rPr>
              <a:t>nota 5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</a:t>
            </a:r>
            <a:r>
              <a:rPr lang="ro-RO" sz="1400" dirty="0">
                <a:latin typeface="+mn-lt"/>
              </a:rPr>
              <a:t>64</a:t>
            </a:r>
            <a:r>
              <a:rPr lang="en-US" sz="1400" dirty="0">
                <a:latin typeface="+mn-lt"/>
              </a:rPr>
              <a:t>% nota 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utilitate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Chimie: 64% </a:t>
            </a:r>
            <a:r>
              <a:rPr lang="ro-RO" sz="1400" dirty="0">
                <a:latin typeface="+mn-lt"/>
              </a:rPr>
              <a:t>au dat </a:t>
            </a:r>
            <a:r>
              <a:rPr lang="en-US" sz="1400" dirty="0">
                <a:latin typeface="+mn-lt"/>
              </a:rPr>
              <a:t>nota 5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68% nota 5 </a:t>
            </a:r>
            <a:r>
              <a:rPr lang="ro-RO" sz="1400" dirty="0">
                <a:latin typeface="+mn-lt"/>
              </a:rPr>
              <a:t>la </a:t>
            </a:r>
            <a:r>
              <a:rPr lang="en-US" sz="1400" dirty="0" err="1">
                <a:latin typeface="+mn-lt"/>
              </a:rPr>
              <a:t>utilitate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Informatică</a:t>
            </a:r>
            <a:r>
              <a:rPr lang="en-US" sz="1400" dirty="0">
                <a:latin typeface="+mn-lt"/>
              </a:rPr>
              <a:t>: </a:t>
            </a:r>
            <a:r>
              <a:rPr lang="ro-RO" sz="1400" dirty="0">
                <a:latin typeface="+mn-lt"/>
              </a:rPr>
              <a:t>68</a:t>
            </a:r>
            <a:r>
              <a:rPr lang="en-US" sz="1400" dirty="0">
                <a:latin typeface="+mn-lt"/>
              </a:rPr>
              <a:t>% </a:t>
            </a:r>
            <a:r>
              <a:rPr lang="ro-RO" sz="1400" dirty="0">
                <a:latin typeface="+mn-lt"/>
              </a:rPr>
              <a:t>au dat </a:t>
            </a:r>
            <a:r>
              <a:rPr lang="en-US" sz="1400" dirty="0">
                <a:latin typeface="+mn-lt"/>
              </a:rPr>
              <a:t>nota 5 </a:t>
            </a:r>
            <a:r>
              <a:rPr lang="en-US" sz="1400" dirty="0" err="1">
                <a:latin typeface="+mn-lt"/>
              </a:rPr>
              <a:t>interactivitate</a:t>
            </a:r>
            <a:r>
              <a:rPr lang="en-US" sz="1400" dirty="0">
                <a:latin typeface="+mn-lt"/>
              </a:rPr>
              <a:t>, 65% nota 5 </a:t>
            </a:r>
            <a:r>
              <a:rPr lang="en-US" sz="1400" dirty="0" err="1">
                <a:latin typeface="+mn-lt"/>
              </a:rPr>
              <a:t>utilitate</a:t>
            </a:r>
            <a:endParaRPr lang="en-US" sz="1400" dirty="0">
              <a:latin typeface="+mn-lt"/>
            </a:endParaRPr>
          </a:p>
          <a:p>
            <a:pPr lvl="2"/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General: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95% </a:t>
            </a:r>
            <a:r>
              <a:rPr lang="ro-RO" sz="1400" dirty="0">
                <a:latin typeface="+mn-lt"/>
              </a:rPr>
              <a:t>au dat </a:t>
            </a:r>
            <a:r>
              <a:rPr lang="en-US" sz="1400" dirty="0">
                <a:latin typeface="+mn-lt"/>
              </a:rPr>
              <a:t>note ≥3/5 la </a:t>
            </a:r>
            <a:r>
              <a:rPr lang="en-US" sz="1400" dirty="0" err="1">
                <a:latin typeface="+mn-lt"/>
              </a:rPr>
              <a:t>toate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criteriile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3302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7976-CED6-B009-6D71-CE4C36279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561E64A9-4C28-E8FC-7FB3-C2ED575BDB48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2E357A92-CBDF-09E4-5BAF-6E400F58801B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0AE8F6A-6CED-E086-E97F-302AA195E5BE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337FD04-4CEB-A373-DE71-F02FF5D01201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3296D850-6250-5EF0-C4F2-4E39AEAD65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0600" y="558770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 algn="ctr">
              <a:lnSpc>
                <a:spcPct val="100000"/>
              </a:lnSpc>
              <a:spcBef>
                <a:spcPts val="100"/>
              </a:spcBef>
            </a:pPr>
            <a:r>
              <a:rPr lang="ro-RO" sz="3000" b="1" dirty="0">
                <a:latin typeface="+mj-lt"/>
              </a:rPr>
              <a:t>Evaluare</a:t>
            </a:r>
            <a:endParaRPr sz="3000" b="1" dirty="0">
              <a:latin typeface="+mj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96A617B2-524E-D8DE-3B06-2DDEEBE661D7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0A01186-B1DA-82E8-37FE-82E3FC92C56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27832B3-AAD7-7C56-4B7F-D35F5EF1163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CC78BCD-8BBE-3AFC-96E0-90A488602B76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D505BE-BEAF-AB00-9E05-CBC62D015F38}"/>
              </a:ext>
            </a:extLst>
          </p:cNvPr>
          <p:cNvSpPr txBox="1"/>
          <p:nvPr/>
        </p:nvSpPr>
        <p:spPr>
          <a:xfrm>
            <a:off x="532283" y="1428750"/>
            <a:ext cx="807943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Percepție</a:t>
            </a:r>
            <a:r>
              <a:rPr lang="en-US" sz="1400" b="1" dirty="0">
                <a:latin typeface="+mn-lt"/>
              </a:rPr>
              <a:t> de </a:t>
            </a:r>
            <a:r>
              <a:rPr lang="en-US" sz="1400" b="1" dirty="0" err="1">
                <a:latin typeface="+mn-lt"/>
              </a:rPr>
              <a:t>utilitate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Peste</a:t>
            </a:r>
            <a:r>
              <a:rPr lang="en-US" sz="1400" dirty="0">
                <a:latin typeface="+mn-lt"/>
              </a:rPr>
              <a:t> 90% </a:t>
            </a:r>
            <a:r>
              <a:rPr lang="en-US" sz="1400" dirty="0" err="1">
                <a:latin typeface="+mn-lt"/>
              </a:rPr>
              <a:t>respondenți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acord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că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ar</a:t>
            </a:r>
            <a:r>
              <a:rPr lang="en-US" sz="1400" dirty="0">
                <a:latin typeface="+mn-lt"/>
              </a:rPr>
              <a:t> fi </a:t>
            </a:r>
            <a:r>
              <a:rPr lang="ro-RO" sz="1400" dirty="0">
                <a:latin typeface="+mn-lt"/>
              </a:rPr>
              <a:t>fost utilă și ar fi </a:t>
            </a:r>
            <a:r>
              <a:rPr lang="en-US" sz="1400" dirty="0" err="1">
                <a:latin typeface="+mn-lt"/>
              </a:rPr>
              <a:t>folosit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platforma</a:t>
            </a:r>
            <a:r>
              <a:rPr lang="en-US" sz="1400" dirty="0">
                <a:latin typeface="+mn-lt"/>
              </a:rPr>
              <a:t> la </a:t>
            </a:r>
            <a:r>
              <a:rPr lang="en-US" sz="1400" dirty="0" err="1">
                <a:latin typeface="+mn-lt"/>
              </a:rPr>
              <a:t>școală</a:t>
            </a:r>
            <a:endParaRPr lang="en-US" sz="14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Metrici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tehnice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Timp </a:t>
            </a:r>
            <a:r>
              <a:rPr lang="en-US" sz="1400" dirty="0" err="1">
                <a:latin typeface="+mn-lt"/>
              </a:rPr>
              <a:t>mediu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răspuns</a:t>
            </a:r>
            <a:r>
              <a:rPr lang="en-US" sz="1400" dirty="0">
                <a:latin typeface="+mn-lt"/>
              </a:rPr>
              <a:t> API &lt;250 </a:t>
            </a:r>
            <a:r>
              <a:rPr lang="en-US" sz="1400" dirty="0" err="1">
                <a:latin typeface="+mn-lt"/>
              </a:rPr>
              <a:t>ms</a:t>
            </a:r>
            <a:r>
              <a:rPr lang="ro-RO" sz="1400" dirty="0">
                <a:latin typeface="+mn-lt"/>
              </a:rPr>
              <a:t>, </a:t>
            </a:r>
            <a:r>
              <a:rPr lang="en-US" sz="1400" dirty="0">
                <a:latin typeface="+mn-lt"/>
              </a:rPr>
              <a:t>≥60 FPS constant</a:t>
            </a:r>
            <a:r>
              <a:rPr lang="ro-RO" sz="1400" dirty="0">
                <a:latin typeface="+mn-lt"/>
              </a:rPr>
              <a:t>, </a:t>
            </a:r>
            <a:r>
              <a:rPr lang="en-US" sz="1400" dirty="0">
                <a:latin typeface="+mn-lt"/>
              </a:rPr>
              <a:t>&lt;200 MB per </a:t>
            </a:r>
            <a:r>
              <a:rPr lang="en-US" sz="1400" dirty="0" err="1">
                <a:latin typeface="+mn-lt"/>
              </a:rPr>
              <a:t>scenă</a:t>
            </a:r>
            <a:endParaRPr lang="en-US" sz="14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Avantaj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competitiv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Cost </a:t>
            </a:r>
            <a:r>
              <a:rPr lang="en-US" sz="1400" dirty="0" err="1">
                <a:latin typeface="+mn-lt"/>
              </a:rPr>
              <a:t>licențiere</a:t>
            </a:r>
            <a:r>
              <a:rPr lang="en-US" sz="1400" dirty="0">
                <a:latin typeface="+mn-lt"/>
              </a:rPr>
              <a:t> 0 (</a:t>
            </a:r>
            <a:r>
              <a:rPr lang="en-US" sz="1400" dirty="0" err="1">
                <a:latin typeface="+mn-lt"/>
              </a:rPr>
              <a:t>față</a:t>
            </a:r>
            <a:r>
              <a:rPr lang="en-US" sz="1400" dirty="0">
                <a:latin typeface="+mn-lt"/>
              </a:rPr>
              <a:t> de </a:t>
            </a:r>
            <a:r>
              <a:rPr lang="en-US" sz="1400" dirty="0" err="1">
                <a:latin typeface="+mn-lt"/>
              </a:rPr>
              <a:t>Mozaweb</a:t>
            </a:r>
            <a:r>
              <a:rPr lang="en-US" sz="1400" dirty="0">
                <a:latin typeface="+mn-lt"/>
              </a:rPr>
              <a:t>, </a:t>
            </a:r>
            <a:r>
              <a:rPr lang="en-US" sz="1400" dirty="0" err="1">
                <a:latin typeface="+mn-lt"/>
              </a:rPr>
              <a:t>IQBoard</a:t>
            </a:r>
            <a:r>
              <a:rPr lang="en-US" sz="1400" dirty="0">
                <a:latin typeface="+mn-lt"/>
              </a:rPr>
              <a:t>)</a:t>
            </a:r>
            <a:r>
              <a:rPr lang="ro-RO" sz="1400" dirty="0">
                <a:latin typeface="+mn-lt"/>
              </a:rPr>
              <a:t> și suport extins la multe materii.</a:t>
            </a:r>
            <a:endParaRPr lang="en-US" sz="1400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Concluzie</a:t>
            </a:r>
            <a:r>
              <a:rPr lang="en-US" sz="1400" b="1" dirty="0">
                <a:latin typeface="+mn-lt"/>
              </a:rPr>
              <a:t>:</a:t>
            </a:r>
            <a:r>
              <a:rPr lang="ro-RO" sz="1400" b="1" dirty="0">
                <a:latin typeface="+mn-lt"/>
              </a:rPr>
              <a:t> </a:t>
            </a:r>
            <a:r>
              <a:rPr lang="en-US" sz="1400" dirty="0">
                <a:latin typeface="+mn-lt"/>
              </a:rPr>
              <a:t>Feedback-ul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metricile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confirmă</a:t>
            </a:r>
            <a:r>
              <a:rPr lang="en-US" sz="1400" dirty="0">
                <a:latin typeface="+mn-lt"/>
              </a:rPr>
              <a:t> </a:t>
            </a:r>
            <a:r>
              <a:rPr lang="ro-RO" sz="1400" dirty="0">
                <a:latin typeface="+mn-lt"/>
              </a:rPr>
              <a:t>un potențial succes al </a:t>
            </a:r>
            <a:r>
              <a:rPr lang="en-US" sz="1400" dirty="0" err="1">
                <a:latin typeface="+mn-lt"/>
              </a:rPr>
              <a:t>platformei</a:t>
            </a:r>
            <a:r>
              <a:rPr lang="ro-RO" sz="1400" dirty="0">
                <a:latin typeface="+mn-lt"/>
              </a:rPr>
              <a:t> la lansare</a:t>
            </a:r>
            <a:endParaRPr lang="en-US" sz="14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3825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14319-F4F0-4F0D-A132-9ED43D04F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CB87EAA-6784-3852-F482-CF5F42C32B70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B47D7087-3F3E-092F-F1E3-35235D5F86D3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B9F7145-53FE-1BDC-853A-AFF50C3C2A54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26C2C8B-D2D6-000A-C092-82D9631C2C98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F815CDF7-5507-4D93-0CB9-1EBD614A57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0600" y="558770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 algn="ctr">
              <a:lnSpc>
                <a:spcPct val="100000"/>
              </a:lnSpc>
              <a:spcBef>
                <a:spcPts val="100"/>
              </a:spcBef>
            </a:pPr>
            <a:r>
              <a:rPr lang="ro-RO" sz="3000" b="1" dirty="0">
                <a:latin typeface="+mj-lt"/>
              </a:rPr>
              <a:t>Concluzii</a:t>
            </a:r>
            <a:endParaRPr sz="3000" b="1" dirty="0">
              <a:latin typeface="+mj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03599F3-6996-AB25-66E5-9E69E5D6DC33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D6FEB18C-A473-0B61-CA1A-B5859320BCFA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3E70F13-F23C-9501-6D89-1B4C7DB8CDE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C9AEDAE-AD66-F0EF-A6DA-F7FAE6B24CE7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0FBAA4-0048-DE7D-CB6B-CA5D5B169750}"/>
              </a:ext>
            </a:extLst>
          </p:cNvPr>
          <p:cNvSpPr txBox="1"/>
          <p:nvPr/>
        </p:nvSpPr>
        <p:spPr>
          <a:xfrm>
            <a:off x="532852" y="1628493"/>
            <a:ext cx="83361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latin typeface="+mn-lt"/>
              </a:rPr>
              <a:t>Probleme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și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soluții</a:t>
            </a:r>
            <a:r>
              <a:rPr lang="en-US" sz="1400" b="1" dirty="0">
                <a:latin typeface="+mn-lt"/>
              </a:rPr>
              <a:t>:</a:t>
            </a:r>
          </a:p>
          <a:p>
            <a:r>
              <a:rPr lang="en-US" sz="1400" dirty="0">
                <a:latin typeface="+mn-lt"/>
              </a:rPr>
              <a:t>-</a:t>
            </a:r>
            <a:r>
              <a:rPr lang="en-US" sz="1400" b="1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</a:t>
            </a:r>
            <a:r>
              <a:rPr lang="en-US" sz="1200" dirty="0">
                <a:latin typeface="+mn-lt"/>
              </a:rPr>
              <a:t> Kong Ingress local: port-forward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configurare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ClusterIP</a:t>
            </a:r>
            <a:r>
              <a:rPr lang="en-US" sz="1200" dirty="0">
                <a:latin typeface="+mn-lt"/>
              </a:rPr>
              <a:t>  </a:t>
            </a:r>
          </a:p>
          <a:p>
            <a:r>
              <a:rPr lang="en-US" sz="1200" dirty="0">
                <a:latin typeface="+mn-lt"/>
              </a:rPr>
              <a:t>- CI/CD local: GitHub Runner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acces</a:t>
            </a:r>
            <a:r>
              <a:rPr lang="en-US" sz="1200" dirty="0">
                <a:latin typeface="+mn-lt"/>
              </a:rPr>
              <a:t> cluster  </a:t>
            </a:r>
          </a:p>
          <a:p>
            <a:r>
              <a:rPr lang="en-US" sz="1200" dirty="0">
                <a:latin typeface="+mn-lt"/>
              </a:rPr>
              <a:t>- GPU out-of-memory </a:t>
            </a:r>
            <a:r>
              <a:rPr lang="en-US" sz="1200" dirty="0" err="1">
                <a:latin typeface="+mn-lt"/>
              </a:rPr>
              <a:t>texturi</a:t>
            </a:r>
            <a:r>
              <a:rPr lang="en-US" sz="1200" dirty="0">
                <a:latin typeface="+mn-lt"/>
              </a:rPr>
              <a:t> 16K×8K: </a:t>
            </a:r>
            <a:r>
              <a:rPr lang="en-US" sz="1200" dirty="0" err="1">
                <a:latin typeface="+mn-lt"/>
              </a:rPr>
              <a:t>texturi</a:t>
            </a:r>
            <a:r>
              <a:rPr lang="en-US" sz="1200" dirty="0">
                <a:latin typeface="+mn-lt"/>
              </a:rPr>
              <a:t> 4K–8K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compresie</a:t>
            </a:r>
            <a:r>
              <a:rPr lang="en-US" sz="1200" dirty="0">
                <a:latin typeface="+mn-lt"/>
              </a:rPr>
              <a:t>  </a:t>
            </a:r>
          </a:p>
          <a:p>
            <a:r>
              <a:rPr lang="en-US" sz="1200" dirty="0">
                <a:latin typeface="+mn-lt"/>
              </a:rPr>
              <a:t>- </a:t>
            </a:r>
            <a:r>
              <a:rPr lang="en-US" sz="1200" dirty="0" err="1">
                <a:latin typeface="+mn-lt"/>
              </a:rPr>
              <a:t>Parsare</a:t>
            </a:r>
            <a:r>
              <a:rPr lang="en-US" sz="1200" dirty="0">
                <a:latin typeface="+mn-lt"/>
              </a:rPr>
              <a:t> C++ </a:t>
            </a:r>
            <a:r>
              <a:rPr lang="en-US" sz="1200" dirty="0" err="1">
                <a:latin typeface="+mn-lt"/>
              </a:rPr>
              <a:t>complexă</a:t>
            </a:r>
            <a:r>
              <a:rPr lang="en-US" sz="1200" dirty="0">
                <a:latin typeface="+mn-lt"/>
              </a:rPr>
              <a:t>: </a:t>
            </a:r>
            <a:r>
              <a:rPr lang="en-US" sz="1200" dirty="0" err="1">
                <a:latin typeface="+mn-lt"/>
              </a:rPr>
              <a:t>metatrăsături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serializare</a:t>
            </a:r>
            <a:r>
              <a:rPr lang="en-US" sz="1200" dirty="0">
                <a:latin typeface="+mn-lt"/>
              </a:rPr>
              <a:t> JSON  </a:t>
            </a:r>
          </a:p>
          <a:p>
            <a:r>
              <a:rPr lang="en-US" sz="1200" dirty="0">
                <a:latin typeface="+mn-lt"/>
              </a:rPr>
              <a:t>- Cluster Kubernetes mare (60 GB): </a:t>
            </a:r>
            <a:r>
              <a:rPr lang="en-US" sz="1200" dirty="0" err="1">
                <a:latin typeface="+mn-lt"/>
              </a:rPr>
              <a:t>curățare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imagini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compresie</a:t>
            </a:r>
            <a:r>
              <a:rPr lang="en-US" sz="1200" dirty="0">
                <a:latin typeface="+mn-lt"/>
              </a:rPr>
              <a:t> volume  </a:t>
            </a:r>
          </a:p>
          <a:p>
            <a:r>
              <a:rPr lang="en-US" sz="1200" dirty="0">
                <a:latin typeface="+mn-lt"/>
              </a:rPr>
              <a:t>- Populare MongoDB </a:t>
            </a:r>
            <a:r>
              <a:rPr lang="en-US" sz="1200" dirty="0" err="1">
                <a:latin typeface="+mn-lt"/>
              </a:rPr>
              <a:t>în</a:t>
            </a:r>
            <a:r>
              <a:rPr lang="en-US" sz="1200" dirty="0">
                <a:latin typeface="+mn-lt"/>
              </a:rPr>
              <a:t> Kubernetes: job </a:t>
            </a:r>
            <a:r>
              <a:rPr lang="en-US" sz="1200" dirty="0" err="1">
                <a:latin typeface="+mn-lt"/>
              </a:rPr>
              <a:t>dedicat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pod </a:t>
            </a:r>
            <a:r>
              <a:rPr lang="en-US" sz="1200" dirty="0" err="1">
                <a:latin typeface="+mn-lt"/>
              </a:rPr>
              <a:t>specializat</a:t>
            </a:r>
            <a:r>
              <a:rPr lang="en-US" sz="1200" dirty="0">
                <a:latin typeface="+mn-lt"/>
              </a:rPr>
              <a:t>  </a:t>
            </a:r>
          </a:p>
          <a:p>
            <a:endParaRPr lang="en-US" sz="1400" b="1" dirty="0">
              <a:latin typeface="+mn-lt"/>
            </a:endParaRPr>
          </a:p>
          <a:p>
            <a:r>
              <a:rPr lang="en-US" sz="1400" b="1" dirty="0" err="1">
                <a:latin typeface="+mn-lt"/>
              </a:rPr>
              <a:t>Concluzii</a:t>
            </a:r>
            <a:r>
              <a:rPr lang="en-US" sz="1400" b="1" dirty="0">
                <a:latin typeface="+mn-lt"/>
              </a:rPr>
              <a:t>:</a:t>
            </a:r>
          </a:p>
          <a:p>
            <a:r>
              <a:rPr lang="en-US" sz="1200" dirty="0" err="1">
                <a:latin typeface="+mn-lt"/>
              </a:rPr>
              <a:t>Soluția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finală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este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stabilă</a:t>
            </a:r>
            <a:r>
              <a:rPr lang="en-US" sz="1200" dirty="0">
                <a:latin typeface="+mn-lt"/>
              </a:rPr>
              <a:t>, </a:t>
            </a:r>
            <a:r>
              <a:rPr lang="en-US" sz="1200" dirty="0" err="1">
                <a:latin typeface="+mn-lt"/>
              </a:rPr>
              <a:t>performantă</a:t>
            </a:r>
            <a:r>
              <a:rPr lang="en-US" sz="1200" dirty="0">
                <a:latin typeface="+mn-lt"/>
              </a:rPr>
              <a:t>, cu feedback </a:t>
            </a:r>
            <a:r>
              <a:rPr lang="en-US" sz="1200" dirty="0" err="1">
                <a:latin typeface="+mn-lt"/>
              </a:rPr>
              <a:t>pozitiv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utilitate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ridicată</a:t>
            </a:r>
            <a:r>
              <a:rPr lang="ro-RO" sz="1200" dirty="0">
                <a:latin typeface="+mn-lt"/>
              </a:rPr>
              <a:t> (menționată și de posibili utilizatori) </a:t>
            </a:r>
            <a:r>
              <a:rPr lang="en-US" sz="1200" dirty="0" err="1">
                <a:latin typeface="+mn-lt"/>
              </a:rPr>
              <a:t>pentru</a:t>
            </a:r>
            <a:r>
              <a:rPr lang="en-US" sz="1200" dirty="0">
                <a:latin typeface="+mn-lt"/>
              </a:rPr>
              <a:t> </a:t>
            </a:r>
            <a:r>
              <a:rPr lang="ro-RO" sz="1200" dirty="0">
                <a:latin typeface="+mn-lt"/>
              </a:rPr>
              <a:t>elevi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și</a:t>
            </a:r>
            <a:r>
              <a:rPr lang="en-US" sz="1200" dirty="0">
                <a:latin typeface="+mn-lt"/>
              </a:rPr>
              <a:t> </a:t>
            </a:r>
            <a:r>
              <a:rPr lang="en-US" sz="1200" dirty="0" err="1">
                <a:latin typeface="+mn-lt"/>
              </a:rPr>
              <a:t>profesori</a:t>
            </a:r>
            <a:r>
              <a:rPr lang="ro-RO" sz="1200" dirty="0">
                <a:latin typeface="+mn-lt"/>
              </a:rPr>
              <a:t>.</a:t>
            </a:r>
            <a:endParaRPr lang="en-US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577530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4F4FA-A21E-2E64-5F6E-803566D00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D5249B2-0E05-206A-049A-A45A3134DE5F}"/>
              </a:ext>
            </a:extLst>
          </p:cNvPr>
          <p:cNvGrpSpPr/>
          <p:nvPr/>
        </p:nvGrpSpPr>
        <p:grpSpPr>
          <a:xfrm>
            <a:off x="0" y="-4762"/>
            <a:ext cx="9149080" cy="554355"/>
            <a:chOff x="0" y="-4762"/>
            <a:chExt cx="9149080" cy="55435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19AC741-8BEE-39D7-BAD5-F18E1406D958}"/>
                </a:ext>
              </a:extLst>
            </p:cNvPr>
            <p:cNvSpPr/>
            <p:nvPr/>
          </p:nvSpPr>
          <p:spPr>
            <a:xfrm>
              <a:off x="0" y="538587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9524"/>
                  </a:moveTo>
                  <a:lnTo>
                    <a:pt x="0" y="0"/>
                  </a:lnTo>
                  <a:lnTo>
                    <a:pt x="9143999" y="0"/>
                  </a:lnTo>
                  <a:lnTo>
                    <a:pt x="9143999" y="9524"/>
                  </a:lnTo>
                  <a:lnTo>
                    <a:pt x="0" y="9524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3DE600F-8AD4-92B7-226C-FE5A311AE4B0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  <a:lnTo>
                    <a:pt x="694601" y="0"/>
                  </a:lnTo>
                  <a:lnTo>
                    <a:pt x="694601" y="544224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AC12146-343F-A66A-8F59-D0801191B539}"/>
                </a:ext>
              </a:extLst>
            </p:cNvPr>
            <p:cNvSpPr/>
            <p:nvPr/>
          </p:nvSpPr>
          <p:spPr>
            <a:xfrm>
              <a:off x="8449398" y="0"/>
              <a:ext cx="694690" cy="544830"/>
            </a:xfrm>
            <a:custGeom>
              <a:avLst/>
              <a:gdLst/>
              <a:ahLst/>
              <a:cxnLst/>
              <a:rect l="l" t="t" r="r" b="b"/>
              <a:pathLst>
                <a:path w="694690" h="544830">
                  <a:moveTo>
                    <a:pt x="694601" y="544224"/>
                  </a:moveTo>
                  <a:lnTo>
                    <a:pt x="0" y="544224"/>
                  </a:lnTo>
                  <a:lnTo>
                    <a:pt x="0" y="0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78F93460-17FD-E1C1-EE87-7B0490CF85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0600" y="558770"/>
            <a:ext cx="5791200" cy="530843"/>
          </a:xfrm>
          <a:prstGeom prst="rect">
            <a:avLst/>
          </a:prstGeom>
        </p:spPr>
        <p:txBody>
          <a:bodyPr vert="horz" wrap="square" lIns="0" tIns="68509" rIns="0" bIns="0" rtlCol="0">
            <a:spAutoFit/>
          </a:bodyPr>
          <a:lstStyle/>
          <a:p>
            <a:pPr marL="1083945" algn="ctr">
              <a:lnSpc>
                <a:spcPct val="100000"/>
              </a:lnSpc>
              <a:spcBef>
                <a:spcPts val="100"/>
              </a:spcBef>
            </a:pPr>
            <a:r>
              <a:rPr lang="ro-RO" sz="3000" b="1" dirty="0">
                <a:latin typeface="+mj-lt"/>
              </a:rPr>
              <a:t>Dezvoltare viitoare</a:t>
            </a:r>
            <a:endParaRPr sz="3000" b="1" dirty="0">
              <a:latin typeface="+mj-l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BE387B5-D105-E893-32BC-548B91D1381E}"/>
              </a:ext>
            </a:extLst>
          </p:cNvPr>
          <p:cNvSpPr/>
          <p:nvPr/>
        </p:nvSpPr>
        <p:spPr>
          <a:xfrm>
            <a:off x="163282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0" y="184499"/>
                </a:moveTo>
                <a:lnTo>
                  <a:pt x="6590" y="135452"/>
                </a:lnTo>
                <a:lnTo>
                  <a:pt x="25189" y="91379"/>
                </a:lnTo>
                <a:lnTo>
                  <a:pt x="54038" y="54038"/>
                </a:lnTo>
                <a:lnTo>
                  <a:pt x="91379" y="25189"/>
                </a:lnTo>
                <a:lnTo>
                  <a:pt x="135452" y="6590"/>
                </a:lnTo>
                <a:lnTo>
                  <a:pt x="184500" y="0"/>
                </a:lnTo>
                <a:lnTo>
                  <a:pt x="255105" y="14044"/>
                </a:lnTo>
                <a:lnTo>
                  <a:pt x="314961" y="54038"/>
                </a:lnTo>
                <a:lnTo>
                  <a:pt x="354955" y="113894"/>
                </a:lnTo>
                <a:lnTo>
                  <a:pt x="369000" y="184499"/>
                </a:lnTo>
                <a:lnTo>
                  <a:pt x="362409" y="233547"/>
                </a:lnTo>
                <a:lnTo>
                  <a:pt x="343810" y="277620"/>
                </a:lnTo>
                <a:lnTo>
                  <a:pt x="314961" y="314961"/>
                </a:lnTo>
                <a:lnTo>
                  <a:pt x="277620" y="343810"/>
                </a:lnTo>
                <a:lnTo>
                  <a:pt x="233547" y="362409"/>
                </a:lnTo>
                <a:lnTo>
                  <a:pt x="184500" y="368999"/>
                </a:lnTo>
                <a:lnTo>
                  <a:pt x="135452" y="362409"/>
                </a:lnTo>
                <a:lnTo>
                  <a:pt x="91379" y="343810"/>
                </a:lnTo>
                <a:lnTo>
                  <a:pt x="54038" y="314961"/>
                </a:lnTo>
                <a:lnTo>
                  <a:pt x="25189" y="277620"/>
                </a:lnTo>
                <a:lnTo>
                  <a:pt x="6590" y="233547"/>
                </a:lnTo>
                <a:lnTo>
                  <a:pt x="0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03A73F98-60E4-36BC-C46E-801A195CF836}"/>
              </a:ext>
            </a:extLst>
          </p:cNvPr>
          <p:cNvSpPr/>
          <p:nvPr/>
        </p:nvSpPr>
        <p:spPr>
          <a:xfrm>
            <a:off x="8611717" y="4704502"/>
            <a:ext cx="369570" cy="369570"/>
          </a:xfrm>
          <a:custGeom>
            <a:avLst/>
            <a:gdLst/>
            <a:ahLst/>
            <a:cxnLst/>
            <a:rect l="l" t="t" r="r" b="b"/>
            <a:pathLst>
              <a:path w="369570" h="369570">
                <a:moveTo>
                  <a:pt x="368999" y="184499"/>
                </a:moveTo>
                <a:lnTo>
                  <a:pt x="362409" y="135452"/>
                </a:lnTo>
                <a:lnTo>
                  <a:pt x="343810" y="91379"/>
                </a:lnTo>
                <a:lnTo>
                  <a:pt x="314961" y="54038"/>
                </a:lnTo>
                <a:lnTo>
                  <a:pt x="277620" y="25189"/>
                </a:lnTo>
                <a:lnTo>
                  <a:pt x="233547" y="6590"/>
                </a:lnTo>
                <a:lnTo>
                  <a:pt x="184499" y="0"/>
                </a:lnTo>
                <a:lnTo>
                  <a:pt x="113894" y="14044"/>
                </a:lnTo>
                <a:lnTo>
                  <a:pt x="54038" y="54038"/>
                </a:lnTo>
                <a:lnTo>
                  <a:pt x="14044" y="113894"/>
                </a:lnTo>
                <a:lnTo>
                  <a:pt x="0" y="184499"/>
                </a:lnTo>
                <a:lnTo>
                  <a:pt x="6590" y="233547"/>
                </a:lnTo>
                <a:lnTo>
                  <a:pt x="25189" y="277620"/>
                </a:lnTo>
                <a:lnTo>
                  <a:pt x="54038" y="314961"/>
                </a:lnTo>
                <a:lnTo>
                  <a:pt x="91379" y="343810"/>
                </a:lnTo>
                <a:lnTo>
                  <a:pt x="135452" y="362409"/>
                </a:lnTo>
                <a:lnTo>
                  <a:pt x="184499" y="368999"/>
                </a:lnTo>
                <a:lnTo>
                  <a:pt x="233547" y="362409"/>
                </a:lnTo>
                <a:lnTo>
                  <a:pt x="277620" y="343810"/>
                </a:lnTo>
                <a:lnTo>
                  <a:pt x="314961" y="314961"/>
                </a:lnTo>
                <a:lnTo>
                  <a:pt x="343810" y="277620"/>
                </a:lnTo>
                <a:lnTo>
                  <a:pt x="362409" y="233547"/>
                </a:lnTo>
                <a:lnTo>
                  <a:pt x="368999" y="184499"/>
                </a:lnTo>
                <a:close/>
              </a:path>
            </a:pathLst>
          </a:custGeom>
          <a:ln w="9524">
            <a:solidFill>
              <a:srgbClr val="06060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7E4C353-9E0A-68E6-656A-E58D9D91F0A8}"/>
              </a:ext>
            </a:extLst>
          </p:cNvPr>
          <p:cNvSpPr txBox="1"/>
          <p:nvPr/>
        </p:nvSpPr>
        <p:spPr>
          <a:xfrm>
            <a:off x="8738781" y="4755906"/>
            <a:ext cx="130175" cy="2736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1500" spc="-50" dirty="0">
                <a:solidFill>
                  <a:srgbClr val="060609"/>
                </a:solidFill>
                <a:latin typeface="Microsoft Sans Serif"/>
                <a:cs typeface="Microsoft Sans Serif"/>
              </a:rPr>
              <a:t>&gt;</a:t>
            </a:r>
            <a:endParaRPr sz="1500">
              <a:latin typeface="Microsoft Sans Serif"/>
              <a:cs typeface="Microsoft Sans Serif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EEC5D259-AA5B-AB1A-43DD-94DA60868348}"/>
              </a:ext>
            </a:extLst>
          </p:cNvPr>
          <p:cNvSpPr txBox="1"/>
          <p:nvPr/>
        </p:nvSpPr>
        <p:spPr>
          <a:xfrm>
            <a:off x="290962" y="4780938"/>
            <a:ext cx="113664" cy="22415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125575-F970-39DD-8969-5C12A85D6D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487" y="1581150"/>
            <a:ext cx="1574483" cy="2209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830EEFD-EFCE-FE88-A4F1-348B31EB8FEA}"/>
              </a:ext>
            </a:extLst>
          </p:cNvPr>
          <p:cNvSpPr txBox="1"/>
          <p:nvPr/>
        </p:nvSpPr>
        <p:spPr>
          <a:xfrm>
            <a:off x="2438400" y="1428750"/>
            <a:ext cx="61722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b="1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latin typeface="+mn-lt"/>
              </a:rPr>
              <a:t>Direcții</a:t>
            </a:r>
            <a:r>
              <a:rPr lang="en-US" sz="1400" b="1" dirty="0">
                <a:latin typeface="+mn-lt"/>
              </a:rPr>
              <a:t> </a:t>
            </a:r>
            <a:r>
              <a:rPr lang="en-US" sz="1400" b="1" dirty="0" err="1">
                <a:latin typeface="+mn-lt"/>
              </a:rPr>
              <a:t>viitoare</a:t>
            </a:r>
            <a:r>
              <a:rPr lang="en-US" sz="1400" b="1" dirty="0">
                <a:latin typeface="+mn-lt"/>
              </a:rPr>
              <a:t>:</a:t>
            </a:r>
          </a:p>
          <a:p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Export </a:t>
            </a:r>
            <a:r>
              <a:rPr lang="en-US" sz="1400" dirty="0" err="1">
                <a:latin typeface="+mn-lt"/>
              </a:rPr>
              <a:t>rezultate</a:t>
            </a:r>
            <a:r>
              <a:rPr lang="en-US" sz="1400" dirty="0">
                <a:latin typeface="+mn-lt"/>
              </a:rPr>
              <a:t> (CSV, PDF)  </a:t>
            </a:r>
          </a:p>
          <a:p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Notificări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alerte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prin</a:t>
            </a:r>
            <a:r>
              <a:rPr lang="en-US" sz="1400" dirty="0">
                <a:latin typeface="+mn-lt"/>
              </a:rPr>
              <a:t> email  </a:t>
            </a:r>
          </a:p>
          <a:p>
            <a:r>
              <a:rPr lang="ro-RO" sz="1400" dirty="0">
                <a:latin typeface="+mn-lt"/>
              </a:rPr>
              <a:t>	</a:t>
            </a:r>
            <a:r>
              <a:rPr lang="en-US" sz="1400" dirty="0" err="1">
                <a:latin typeface="+mn-lt"/>
              </a:rPr>
              <a:t>Suport</a:t>
            </a:r>
            <a:r>
              <a:rPr lang="en-US" sz="1400" dirty="0">
                <a:latin typeface="+mn-lt"/>
              </a:rPr>
              <a:t> AI </a:t>
            </a:r>
            <a:r>
              <a:rPr lang="en-US" sz="1400" dirty="0" err="1">
                <a:latin typeface="+mn-lt"/>
              </a:rPr>
              <a:t>pentru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explicații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și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sugestii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personalizate</a:t>
            </a:r>
            <a:r>
              <a:rPr lang="en-US" sz="1400" dirty="0">
                <a:latin typeface="+mn-lt"/>
              </a:rPr>
              <a:t>  </a:t>
            </a:r>
          </a:p>
          <a:p>
            <a:r>
              <a:rPr lang="ro-RO" sz="1400" dirty="0">
                <a:latin typeface="+mn-lt"/>
              </a:rPr>
              <a:t>	</a:t>
            </a:r>
            <a:r>
              <a:rPr lang="en-US" sz="1400" dirty="0">
                <a:latin typeface="+mn-lt"/>
              </a:rPr>
              <a:t>Chat </a:t>
            </a:r>
            <a:r>
              <a:rPr lang="en-US" sz="1400" dirty="0" err="1">
                <a:latin typeface="+mn-lt"/>
              </a:rPr>
              <a:t>colaborativ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în</a:t>
            </a:r>
            <a:r>
              <a:rPr lang="en-US" sz="1400" dirty="0">
                <a:latin typeface="+mn-lt"/>
              </a:rPr>
              <a:t> </a:t>
            </a:r>
            <a:r>
              <a:rPr lang="en-US" sz="1400" dirty="0" err="1">
                <a:latin typeface="+mn-lt"/>
              </a:rPr>
              <a:t>timp</a:t>
            </a:r>
            <a:r>
              <a:rPr lang="en-US" sz="1400" dirty="0">
                <a:latin typeface="+mn-lt"/>
              </a:rPr>
              <a:t> real</a:t>
            </a:r>
            <a:endParaRPr lang="ro-RO" sz="1400" dirty="0">
              <a:latin typeface="+mn-lt"/>
            </a:endParaRPr>
          </a:p>
          <a:p>
            <a:r>
              <a:rPr lang="ro-RO" sz="1400" dirty="0">
                <a:latin typeface="+mn-lt"/>
                <a:ea typeface="Microsoft Sans Serif" panose="020B0604020202020204" pitchFamily="34" charset="0"/>
                <a:cs typeface="Microsoft Sans Serif" panose="020B0604020202020204" pitchFamily="34" charset="0"/>
              </a:rPr>
              <a:t>	Dezvoltarea infrastructurii</a:t>
            </a:r>
            <a:endParaRPr lang="en-US" sz="1200" dirty="0">
              <a:latin typeface="+mn-lt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5766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144249" cy="5143500"/>
            <a:chOff x="0" y="0"/>
            <a:chExt cx="9144249" cy="5143500"/>
          </a:xfrm>
        </p:grpSpPr>
        <p:sp>
          <p:nvSpPr>
            <p:cNvPr id="3" name="object 3"/>
            <p:cNvSpPr/>
            <p:nvPr/>
          </p:nvSpPr>
          <p:spPr>
            <a:xfrm>
              <a:off x="6940799" y="0"/>
              <a:ext cx="2203450" cy="5143500"/>
            </a:xfrm>
            <a:custGeom>
              <a:avLst/>
              <a:gdLst/>
              <a:ahLst/>
              <a:cxnLst/>
              <a:rect l="l" t="t" r="r" b="b"/>
              <a:pathLst>
                <a:path w="2203450" h="5143500">
                  <a:moveTo>
                    <a:pt x="2203199" y="5143499"/>
                  </a:moveTo>
                  <a:lnTo>
                    <a:pt x="0" y="5143499"/>
                  </a:lnTo>
                  <a:lnTo>
                    <a:pt x="0" y="0"/>
                  </a:lnTo>
                  <a:lnTo>
                    <a:pt x="2203199" y="0"/>
                  </a:lnTo>
                  <a:lnTo>
                    <a:pt x="2203199" y="5143499"/>
                  </a:lnTo>
                  <a:close/>
                </a:path>
              </a:pathLst>
            </a:custGeom>
            <a:solidFill>
              <a:srgbClr val="EA5137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538594"/>
              <a:ext cx="9144000" cy="4070350"/>
            </a:xfrm>
            <a:custGeom>
              <a:avLst/>
              <a:gdLst/>
              <a:ahLst/>
              <a:cxnLst/>
              <a:rect l="l" t="t" r="r" b="b"/>
              <a:pathLst>
                <a:path w="9144000" h="4070350">
                  <a:moveTo>
                    <a:pt x="9144000" y="4060647"/>
                  </a:moveTo>
                  <a:lnTo>
                    <a:pt x="0" y="4060647"/>
                  </a:lnTo>
                  <a:lnTo>
                    <a:pt x="0" y="4070172"/>
                  </a:lnTo>
                  <a:lnTo>
                    <a:pt x="9144000" y="4070172"/>
                  </a:lnTo>
                  <a:lnTo>
                    <a:pt x="9144000" y="4060647"/>
                  </a:lnTo>
                  <a:close/>
                </a:path>
                <a:path w="9144000" h="4070350">
                  <a:moveTo>
                    <a:pt x="91440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9144000" y="9525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06060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13224" y="5699"/>
              <a:ext cx="8281670" cy="5132705"/>
            </a:xfrm>
            <a:custGeom>
              <a:avLst/>
              <a:gdLst/>
              <a:ahLst/>
              <a:cxnLst/>
              <a:rect l="l" t="t" r="r" b="b"/>
              <a:pathLst>
                <a:path w="8281670" h="5132705">
                  <a:moveTo>
                    <a:pt x="8281231" y="135612"/>
                  </a:moveTo>
                  <a:lnTo>
                    <a:pt x="7786831" y="135612"/>
                  </a:lnTo>
                </a:path>
                <a:path w="8281670" h="5132705">
                  <a:moveTo>
                    <a:pt x="8281231" y="214237"/>
                  </a:moveTo>
                  <a:lnTo>
                    <a:pt x="7786831" y="214237"/>
                  </a:lnTo>
                </a:path>
                <a:path w="8281670" h="5132705">
                  <a:moveTo>
                    <a:pt x="8281231" y="295237"/>
                  </a:moveTo>
                  <a:lnTo>
                    <a:pt x="7786831" y="295237"/>
                  </a:lnTo>
                </a:path>
                <a:path w="8281670" h="5132705">
                  <a:moveTo>
                    <a:pt x="8281231" y="377912"/>
                  </a:moveTo>
                  <a:lnTo>
                    <a:pt x="7786831" y="377912"/>
                  </a:lnTo>
                </a:path>
                <a:path w="8281670" h="5132705">
                  <a:moveTo>
                    <a:pt x="0" y="0"/>
                  </a:moveTo>
                  <a:lnTo>
                    <a:pt x="0" y="5132099"/>
                  </a:lnTo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61479" y="4704502"/>
              <a:ext cx="369570" cy="369570"/>
            </a:xfrm>
            <a:custGeom>
              <a:avLst/>
              <a:gdLst/>
              <a:ahLst/>
              <a:cxnLst/>
              <a:rect l="l" t="t" r="r" b="b"/>
              <a:pathLst>
                <a:path w="369570" h="369570">
                  <a:moveTo>
                    <a:pt x="0" y="184499"/>
                  </a:moveTo>
                  <a:lnTo>
                    <a:pt x="6590" y="135452"/>
                  </a:lnTo>
                  <a:lnTo>
                    <a:pt x="25189" y="91379"/>
                  </a:lnTo>
                  <a:lnTo>
                    <a:pt x="54038" y="54038"/>
                  </a:lnTo>
                  <a:lnTo>
                    <a:pt x="91379" y="25189"/>
                  </a:lnTo>
                  <a:lnTo>
                    <a:pt x="135452" y="6590"/>
                  </a:lnTo>
                  <a:lnTo>
                    <a:pt x="184499" y="0"/>
                  </a:lnTo>
                  <a:lnTo>
                    <a:pt x="255105" y="14044"/>
                  </a:lnTo>
                  <a:lnTo>
                    <a:pt x="314961" y="54038"/>
                  </a:lnTo>
                  <a:lnTo>
                    <a:pt x="354955" y="113894"/>
                  </a:lnTo>
                  <a:lnTo>
                    <a:pt x="368999" y="184499"/>
                  </a:lnTo>
                  <a:lnTo>
                    <a:pt x="362409" y="233547"/>
                  </a:lnTo>
                  <a:lnTo>
                    <a:pt x="343810" y="277620"/>
                  </a:lnTo>
                  <a:lnTo>
                    <a:pt x="314961" y="314961"/>
                  </a:lnTo>
                  <a:lnTo>
                    <a:pt x="277620" y="343810"/>
                  </a:lnTo>
                  <a:lnTo>
                    <a:pt x="233547" y="362409"/>
                  </a:lnTo>
                  <a:lnTo>
                    <a:pt x="184499" y="368999"/>
                  </a:lnTo>
                  <a:lnTo>
                    <a:pt x="135452" y="362409"/>
                  </a:lnTo>
                  <a:lnTo>
                    <a:pt x="91379" y="343810"/>
                  </a:lnTo>
                  <a:lnTo>
                    <a:pt x="54038" y="314961"/>
                  </a:lnTo>
                  <a:lnTo>
                    <a:pt x="25189" y="277620"/>
                  </a:lnTo>
                  <a:lnTo>
                    <a:pt x="6590" y="233547"/>
                  </a:lnTo>
                  <a:lnTo>
                    <a:pt x="0" y="184499"/>
                  </a:lnTo>
                  <a:close/>
                </a:path>
              </a:pathLst>
            </a:custGeom>
            <a:ln w="9524">
              <a:solidFill>
                <a:srgbClr val="0606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3048000" y="2114550"/>
            <a:ext cx="415174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64769">
              <a:lnSpc>
                <a:spcPct val="100000"/>
              </a:lnSpc>
              <a:spcBef>
                <a:spcPts val="100"/>
              </a:spcBef>
            </a:pPr>
            <a:r>
              <a:rPr lang="ro-RO" sz="4000" b="1" spc="-355" dirty="0">
                <a:latin typeface="+mj-lt"/>
              </a:rPr>
              <a:t>Mulțumesc!</a:t>
            </a:r>
            <a:endParaRPr sz="4000" b="1" dirty="0">
              <a:latin typeface="+mj-l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89159" y="4779718"/>
            <a:ext cx="11366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060609"/>
                </a:solidFill>
                <a:latin typeface="Arial"/>
                <a:cs typeface="Arial"/>
              </a:rPr>
              <a:t>&lt;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60609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547</TotalTime>
  <Words>1132</Words>
  <Application>Microsoft Office PowerPoint</Application>
  <PresentationFormat>On-screen Show (16:9)</PresentationFormat>
  <Paragraphs>181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Arial Black</vt:lpstr>
      <vt:lpstr>Microsoft Sans Serif</vt:lpstr>
      <vt:lpstr>Office Theme</vt:lpstr>
      <vt:lpstr>VisioScience 3D - Platformă Web pentru Învățare prin Vizualizări 3D </vt:lpstr>
      <vt:lpstr>Motivație</vt:lpstr>
      <vt:lpstr>Abordări existente</vt:lpstr>
      <vt:lpstr>Specificarea cerințelor</vt:lpstr>
      <vt:lpstr>Arhitectură backend</vt:lpstr>
      <vt:lpstr>Arhitectură Frontend</vt:lpstr>
      <vt:lpstr>Implementare</vt:lpstr>
      <vt:lpstr>Implementare</vt:lpstr>
      <vt:lpstr>Implementare</vt:lpstr>
      <vt:lpstr>Implementare</vt:lpstr>
      <vt:lpstr>Implementare</vt:lpstr>
      <vt:lpstr>Evaluare</vt:lpstr>
      <vt:lpstr>Evaluare</vt:lpstr>
      <vt:lpstr>Concluzii</vt:lpstr>
      <vt:lpstr>Dezvoltare viitoare</vt:lpstr>
      <vt:lpstr>Mulțumesc!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Prezentare SCSS</dc:title>
  <cp:lastModifiedBy>Dragomir Andrei</cp:lastModifiedBy>
  <cp:revision>26</cp:revision>
  <dcterms:created xsi:type="dcterms:W3CDTF">2025-05-10T19:42:31Z</dcterms:created>
  <dcterms:modified xsi:type="dcterms:W3CDTF">2025-06-26T21:22:21Z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2025-05-10T00:00:00Z</vt:filetime>
  </property>
  <property fmtid="{D5CDD505-2E9C-101B-9397-08002B2CF9AE}" pid="3" name="Creator">
    <vt:lpwstr>Google</vt:lpwstr>
  </property>
  <property fmtid="{D5CDD505-2E9C-101B-9397-08002B2CF9AE}" pid="4" name="LastSaved">
    <vt:filetime>2025-05-10T00:00:00Z</vt:filetime>
  </property>
</Properties>
</file>